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42"/>
  </p:notesMasterIdLst>
  <p:handoutMasterIdLst>
    <p:handoutMasterId r:id="rId43"/>
  </p:handoutMasterIdLst>
  <p:sldIdLst>
    <p:sldId id="454" r:id="rId3"/>
    <p:sldId id="416" r:id="rId4"/>
    <p:sldId id="455" r:id="rId5"/>
    <p:sldId id="456" r:id="rId6"/>
    <p:sldId id="457" r:id="rId7"/>
    <p:sldId id="417" r:id="rId8"/>
    <p:sldId id="418" r:id="rId9"/>
    <p:sldId id="458" r:id="rId10"/>
    <p:sldId id="459" r:id="rId11"/>
    <p:sldId id="460" r:id="rId12"/>
    <p:sldId id="461" r:id="rId13"/>
    <p:sldId id="462" r:id="rId14"/>
    <p:sldId id="463" r:id="rId15"/>
    <p:sldId id="464" r:id="rId16"/>
    <p:sldId id="465" r:id="rId17"/>
    <p:sldId id="466" r:id="rId18"/>
    <p:sldId id="467" r:id="rId19"/>
    <p:sldId id="468" r:id="rId20"/>
    <p:sldId id="469" r:id="rId21"/>
    <p:sldId id="470" r:id="rId22"/>
    <p:sldId id="471" r:id="rId23"/>
    <p:sldId id="472" r:id="rId24"/>
    <p:sldId id="473" r:id="rId25"/>
    <p:sldId id="474" r:id="rId26"/>
    <p:sldId id="475" r:id="rId27"/>
    <p:sldId id="476" r:id="rId28"/>
    <p:sldId id="477" r:id="rId29"/>
    <p:sldId id="478" r:id="rId30"/>
    <p:sldId id="479" r:id="rId31"/>
    <p:sldId id="480" r:id="rId32"/>
    <p:sldId id="481" r:id="rId33"/>
    <p:sldId id="482" r:id="rId34"/>
    <p:sldId id="483" r:id="rId35"/>
    <p:sldId id="484" r:id="rId36"/>
    <p:sldId id="485" r:id="rId37"/>
    <p:sldId id="486" r:id="rId38"/>
    <p:sldId id="487" r:id="rId39"/>
    <p:sldId id="488" r:id="rId40"/>
    <p:sldId id="298" r:id="rId41"/>
  </p:sldIdLst>
  <p:sldSz cx="9144000" cy="6858000" type="screen4x3"/>
  <p:notesSz cx="6858000" cy="9144000"/>
  <p:embeddedFontLst>
    <p:embeddedFont>
      <p:font typeface="ＭＳ Ｐゴシック" panose="020B0600070205080204" pitchFamily="34" charset="-128"/>
      <p:regular r:id="rId44"/>
    </p:embeddedFont>
    <p:embeddedFont>
      <p:font typeface="Noto Sans Symbols" panose="020B0604020202020204" charset="0"/>
      <p:regular r:id="rId45"/>
    </p:embeddedFont>
    <p:embeddedFont>
      <p:font typeface="Verdana" panose="020B060403050404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7" pos="363" userDrawn="1">
          <p15:clr>
            <a:srgbClr val="A4A3A4"/>
          </p15:clr>
        </p15:guide>
        <p15:guide id="8" pos="295" userDrawn="1">
          <p15:clr>
            <a:srgbClr val="A4A3A4"/>
          </p15:clr>
        </p15:guide>
        <p15:guide id="9" pos="5465" userDrawn="1">
          <p15:clr>
            <a:srgbClr val="A4A3A4"/>
          </p15:clr>
        </p15:guide>
        <p15:guide id="10" pos="635" userDrawn="1">
          <p15:clr>
            <a:srgbClr val="A4A3A4"/>
          </p15:clr>
        </p15:guide>
        <p15:guide id="12" orient="horz" pos="958" userDrawn="1">
          <p15:clr>
            <a:srgbClr val="A4A3A4"/>
          </p15:clr>
        </p15:guide>
        <p15:guide id="13" pos="93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Chiranjeevi, Kumar" initials="CK" lastIdx="1" clrIdx="7">
    <p:extLst>
      <p:ext uri="{19B8F6BF-5375-455C-9EA6-DF929625EA0E}">
        <p15:presenceInfo xmlns:p15="http://schemas.microsoft.com/office/powerpoint/2012/main" userId="S-1-5-21-2752970185-40930380-1894245210-1296" providerId="AD"/>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37" autoAdjust="0"/>
    <p:restoredTop sz="95110" autoAdjust="0"/>
  </p:normalViewPr>
  <p:slideViewPr>
    <p:cSldViewPr snapToGrid="0" snapToObjects="1">
      <p:cViewPr varScale="1">
        <p:scale>
          <a:sx n="87" d="100"/>
          <a:sy n="87" d="100"/>
        </p:scale>
        <p:origin x="90" y="2886"/>
      </p:cViewPr>
      <p:guideLst>
        <p:guide orient="horz" pos="3974"/>
        <p:guide orient="horz" pos="4178"/>
        <p:guide orient="horz" pos="119"/>
        <p:guide orient="horz" pos="822"/>
        <p:guide pos="363"/>
        <p:guide pos="295"/>
        <p:guide pos="5465"/>
        <p:guide pos="635"/>
        <p:guide orient="horz" pos="958"/>
        <p:guide pos="930"/>
      </p:guideLst>
    </p:cSldViewPr>
  </p:slideViewPr>
  <p:outlineViewPr>
    <p:cViewPr>
      <p:scale>
        <a:sx n="33" d="100"/>
        <a:sy n="33" d="100"/>
      </p:scale>
      <p:origin x="0" y="-25842"/>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2.fntdata"/><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fntdata"/><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font" Target="fonts/font5.fntdata"/><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8/26/2025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ea typeface="Arial"/>
              <a:cs typeface="Arial"/>
              <a:sym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Physical geography primarily involves the study of natural science, which includes landforms, rocks and minerals, water, weather and climate, plants, animals, and soil. Human geography primarily entails the study of social science, including population, economic activities, languages, religions, political systems, settlements, and food.</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53494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On the map, the most significant temperature anomalies increase four degrees Celsius appear over the North Pole and Europe. Generally, the entire planet has increased in temperature about two degrees Celsius.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86613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2204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spheres appear in overlapping layers, as follows, the hydrosphere is Wonder Lake, the biosphere is a moose, the lithosphere is a hillside, mount McKinley also appears as the hydrosphere or cryosphere, and the atmosphere is the sky.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33105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diagram appears as follows. The primary material inputs are snow, ice, and rock and debris. Glacier ice moves down a slope to where the primary material outputs are deposited. These material outputs are meltwater, water vapor, and rock and debris. The energy input of incoming solar radiation is exchanged for the energy output of latent heat exchanged between ice, liquid water, and water vapor.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20365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highest point on Earth is Mount Everest, located in the Himalayas, and stands at 8,848 meters (29,029 feet) above sea level. The lowest point on Earth is Mariana Trench, located in the Western Pacific Ocean, and is found 11,033 meters (36,198 feet) below sea level. The difference between these two land marks is 19,881 meters (65,227 feet).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78838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In diagram A, a plane is drawn to split the Earth through the North and South Poles. The resulting cross section has a diameter of 12,714 kilometers. In diagram B, a plane is drawn to split the Earth at the equator, an equatorial plane. The resulting cross section has a diameter of 12,756 kilometers.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8958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In the grid system the columns are labeled A through E, and the rows are labeled one through 5. The points X and Y appear on the map located in the squares B2 and D3, respectively.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15792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models show that great circles form when a plane passes through the center of a sphere, whereas small circles form when the plane passes through any other part of the sphere.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95186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In the model an imaginary line is drawn from </a:t>
            </a:r>
            <a:r>
              <a:rPr lang="en-US" sz="1800" dirty="0" err="1">
                <a:effectLst/>
                <a:latin typeface="+mn-lt"/>
                <a:ea typeface="Times New Roman" panose="02020603050405020304" pitchFamily="18" charset="0"/>
                <a:cs typeface="Times New Roman" panose="02020603050405020304" pitchFamily="18" charset="0"/>
              </a:rPr>
              <a:t>Kuji</a:t>
            </a:r>
            <a:r>
              <a:rPr lang="en-US" sz="1800" dirty="0">
                <a:effectLst/>
                <a:latin typeface="+mn-lt"/>
                <a:ea typeface="Times New Roman" panose="02020603050405020304" pitchFamily="18" charset="0"/>
                <a:cs typeface="Times New Roman" panose="02020603050405020304" pitchFamily="18" charset="0"/>
              </a:rPr>
              <a:t>, Japan, to Earth’s center. The line makes an angle of 40 degrees with the equator. Therefore, </a:t>
            </a:r>
            <a:r>
              <a:rPr lang="en-US" sz="1800" dirty="0" err="1">
                <a:effectLst/>
                <a:latin typeface="+mn-lt"/>
                <a:ea typeface="Times New Roman" panose="02020603050405020304" pitchFamily="18" charset="0"/>
                <a:cs typeface="Times New Roman" panose="02020603050405020304" pitchFamily="18" charset="0"/>
              </a:rPr>
              <a:t>Kuji’s</a:t>
            </a:r>
            <a:r>
              <a:rPr lang="en-US" sz="1800" dirty="0">
                <a:effectLst/>
                <a:latin typeface="+mn-lt"/>
                <a:ea typeface="Times New Roman" panose="02020603050405020304" pitchFamily="18" charset="0"/>
                <a:cs typeface="Times New Roman" panose="02020603050405020304" pitchFamily="18" charset="0"/>
              </a:rPr>
              <a:t> latitude is 40 degrees North. Likewise, an imaginary line from Bowen, Australia, to Earth’s center makes an angle of 20 degrees, giving this city a latitude of 20 degrees south.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89410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Bef>
                <a:spcPts val="1500"/>
              </a:spcBef>
              <a:spcAft>
                <a:spcPts val="800"/>
              </a:spcAft>
            </a:pPr>
            <a:r>
              <a:rPr lang="en-US" sz="1800" dirty="0">
                <a:effectLst/>
                <a:latin typeface="+mn-lt"/>
                <a:ea typeface="Times New Roman" panose="02020603050405020304" pitchFamily="18" charset="0"/>
                <a:cs typeface="Times New Roman" panose="02020603050405020304" pitchFamily="18" charset="0"/>
              </a:rPr>
              <a:t>The seven important latitudes appear as follows. </a:t>
            </a:r>
            <a:endParaRPr lang="en-IN" sz="1800" dirty="0">
              <a:effectLst/>
              <a:latin typeface="+mn-lt"/>
              <a:ea typeface="Calibri" panose="020F0502020204030204" pitchFamily="34"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The North Pole at 90 degrees north.</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The arctic circle at 66.5 degrees north</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The Tropic of Cancer at 23.5 degrees north.</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The equator at 0 degrees.</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The Tropic of Capricorn at 23.5 degrees south.</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The Antarctic circle at 66.5 degrees south.</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The South Pole at 90 degrees south.</a:t>
            </a:r>
            <a:endParaRPr lang="en-IN" sz="1800" dirty="0">
              <a:effectLst/>
              <a:latin typeface="+mn-lt"/>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2456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In the model all meridian planes are perpendicular to the plane on the page. The 0 degree prime meridian line continues at the pole and becomes the 180 degree median line. Similarly, the 90 degree west meridian line continues at the pole and becomes the 90 degree East meridian line.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9449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4626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Four locations of interest show how the distance of one degrees longitude becomes greater as it moves further from the pole.</a:t>
            </a:r>
          </a:p>
          <a:p>
            <a:pPr>
              <a:lnSpc>
                <a:spcPct val="107000"/>
              </a:lnSpc>
              <a:spcBef>
                <a:spcPts val="1500"/>
              </a:spcBef>
              <a:spcAft>
                <a:spcPts val="800"/>
              </a:spcAft>
            </a:pPr>
            <a:r>
              <a:rPr lang="en-US" sz="1800" dirty="0">
                <a:effectLst/>
                <a:latin typeface="+mn-lt"/>
                <a:ea typeface="Times New Roman" panose="02020603050405020304" pitchFamily="18" charset="0"/>
                <a:cs typeface="Times New Roman" panose="02020603050405020304" pitchFamily="18" charset="0"/>
              </a:rPr>
              <a:t>The four locations of interest in the model appear as follows. </a:t>
            </a:r>
            <a:endParaRPr lang="en-IN" sz="1800" dirty="0">
              <a:effectLst/>
              <a:latin typeface="+mn-lt"/>
              <a:ea typeface="Calibri" panose="020F0502020204030204" pitchFamily="34"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One degree longitude at the North Pole equals 0 kilometers.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One degree longitude at 60 degrees North latitude equals 56 kilometers.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One degree longitude at 30 degrees North latitude equals about 96 kilometers.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One degree longitude at the equator equals about 111 kilometers. </a:t>
            </a:r>
            <a:endParaRPr lang="en-IN" sz="1800" dirty="0">
              <a:effectLst/>
              <a:latin typeface="+mn-lt"/>
              <a:ea typeface="Times New Roman" panose="02020603050405020304" pitchFamily="18" charset="0"/>
              <a:cs typeface="Times New Roman" panose="02020603050405020304" pitchFamily="18" charset="0"/>
            </a:endParaRPr>
          </a:p>
          <a:p>
            <a:endParaRPr lang="en-IN" dirty="0">
              <a:latin typeface="+mn-lt"/>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194642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Bef>
                <a:spcPts val="1500"/>
              </a:spcBef>
              <a:spcAft>
                <a:spcPts val="800"/>
              </a:spcAft>
            </a:pPr>
            <a:r>
              <a:rPr lang="en-US" sz="1800" dirty="0">
                <a:effectLst/>
                <a:latin typeface="+mn-lt"/>
                <a:ea typeface="Times New Roman" panose="02020603050405020304" pitchFamily="18" charset="0"/>
                <a:cs typeface="Times New Roman" panose="02020603050405020304" pitchFamily="18" charset="0"/>
              </a:rPr>
              <a:t>The speeds appear as follows for the varying latitudes. </a:t>
            </a:r>
            <a:endParaRPr lang="en-IN" sz="1800" dirty="0">
              <a:effectLst/>
              <a:latin typeface="+mn-lt"/>
              <a:ea typeface="Calibri" panose="020F0502020204030204" pitchFamily="34"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At the equator the speed is 1,670 k p h (1,040 m p h).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At 30 degrees north the speed is 1,450 k p h (900 m p h).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At 60 degrees north the speed is 840 k p h (520 m p h).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At the North Pole the speed is effectively 0 k p h slash m p h. </a:t>
            </a:r>
            <a:endParaRPr lang="en-IN" sz="1800" dirty="0">
              <a:effectLst/>
              <a:latin typeface="+mn-lt"/>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86367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Bef>
                <a:spcPts val="1500"/>
              </a:spcBef>
              <a:spcAft>
                <a:spcPts val="800"/>
              </a:spcAft>
            </a:pPr>
            <a:r>
              <a:rPr lang="en-US" sz="1800" dirty="0">
                <a:effectLst/>
                <a:latin typeface="+mn-lt"/>
                <a:ea typeface="Times New Roman" panose="02020603050405020304" pitchFamily="18" charset="0"/>
                <a:cs typeface="Times New Roman" panose="02020603050405020304" pitchFamily="18" charset="0"/>
              </a:rPr>
              <a:t>The speeds appear as follows for the varying latitudes. </a:t>
            </a:r>
            <a:endParaRPr lang="en-IN" sz="1800" dirty="0">
              <a:effectLst/>
              <a:latin typeface="+mn-lt"/>
              <a:ea typeface="Calibri" panose="020F0502020204030204" pitchFamily="34"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At the equator the speed is 1,670 k p h (1,040 m p h).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At 30 degrees north the speed is 1,450 k p h (900 m p h).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Symbol" panose="05050102010706020507" pitchFamily="18" charset="2"/>
              <a:buChar char=""/>
            </a:pPr>
            <a:r>
              <a:rPr lang="en-US" sz="1800" dirty="0">
                <a:effectLst/>
                <a:latin typeface="+mn-lt"/>
                <a:ea typeface="Times New Roman" panose="02020603050405020304" pitchFamily="18" charset="0"/>
                <a:cs typeface="Times New Roman" panose="02020603050405020304" pitchFamily="18" charset="0"/>
              </a:rPr>
              <a:t>At 60 degrees north the speed is 840 k p h (520 m p h). </a:t>
            </a:r>
            <a:endParaRPr lang="en-IN" sz="1800" dirty="0">
              <a:effectLst/>
              <a:latin typeface="+mn-lt"/>
              <a:ea typeface="Times New Roman" panose="02020603050405020304" pitchFamily="18" charset="0"/>
              <a:cs typeface="Times New Roman" panose="02020603050405020304" pitchFamily="18" charset="0"/>
            </a:endParaRPr>
          </a:p>
          <a:p>
            <a:pPr>
              <a:lnSpc>
                <a:spcPct val="115000"/>
              </a:lnSpc>
              <a:spcBef>
                <a:spcPts val="1500"/>
              </a:spcBef>
              <a:spcAft>
                <a:spcPts val="1000"/>
              </a:spcAft>
            </a:pPr>
            <a:r>
              <a:rPr lang="en-US" sz="1800" dirty="0">
                <a:effectLst/>
                <a:latin typeface="+mn-lt"/>
                <a:ea typeface="Times New Roman" panose="02020603050405020304" pitchFamily="18" charset="0"/>
                <a:cs typeface="Times New Roman" panose="02020603050405020304" pitchFamily="18" charset="0"/>
              </a:rPr>
              <a:t>At the North Pole the speed is effectively 0 k p h slash m p h.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71401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schematic shows that at perihelion the Earth is about 147,100,000 kilometers (91,400,000 miles) from the sun. At aphelion the Earth’s distance from the sun is about 152,100,000 kilometers (94,500,000 miles). </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90893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Bef>
                <a:spcPts val="1500"/>
              </a:spcBef>
              <a:spcAft>
                <a:spcPts val="800"/>
              </a:spcAft>
            </a:pPr>
            <a:r>
              <a:rPr lang="en-US" sz="1800" dirty="0">
                <a:effectLst/>
                <a:latin typeface="+mn-lt"/>
                <a:ea typeface="Times New Roman" panose="02020603050405020304" pitchFamily="18" charset="0"/>
                <a:cs typeface="Times New Roman" panose="02020603050405020304" pitchFamily="18" charset="0"/>
              </a:rPr>
              <a:t>The schematic views appear as follows. </a:t>
            </a:r>
            <a:endParaRPr lang="en-IN" sz="1800" dirty="0">
              <a:effectLst/>
              <a:latin typeface="+mn-lt"/>
              <a:ea typeface="Calibri" panose="020F0502020204030204" pitchFamily="34" charset="0"/>
              <a:cs typeface="Times New Roman" panose="02020603050405020304" pitchFamily="18" charset="0"/>
            </a:endParaRPr>
          </a:p>
          <a:p>
            <a:pPr marL="342900" lvl="0" indent="-342900">
              <a:lnSpc>
                <a:spcPct val="115000"/>
              </a:lnSpc>
              <a:spcBef>
                <a:spcPts val="1500"/>
              </a:spcBef>
              <a:spcAft>
                <a:spcPts val="1000"/>
              </a:spcAft>
              <a:buFont typeface="+mj-lt"/>
              <a:buAutoNum type="alphaUcPeriod"/>
            </a:pPr>
            <a:r>
              <a:rPr lang="en-US" sz="1800" dirty="0">
                <a:effectLst/>
                <a:latin typeface="+mn-lt"/>
                <a:ea typeface="Times New Roman" panose="02020603050405020304" pitchFamily="18" charset="0"/>
                <a:cs typeface="Times New Roman" panose="02020603050405020304" pitchFamily="18" charset="0"/>
              </a:rPr>
              <a:t>The oblique view shows the Earth to Sun relations on the June solstice,  September equinox, December solstice, and March equinox. The axis of the Earth is always tilted toward the North Star, so during the June solstice the North Pole is tilted toward the sun, during the December solstice the North Pole is tilted away from the sun, and during the March and September equinoxes the North Pole is tilted not toward or away, but parallel to the sun.</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mj-lt"/>
              <a:buAutoNum type="alphaUcPeriod"/>
            </a:pPr>
            <a:r>
              <a:rPr lang="en-US" sz="1800" dirty="0">
                <a:effectLst/>
                <a:latin typeface="+mn-lt"/>
                <a:ea typeface="Times New Roman" panose="02020603050405020304" pitchFamily="18" charset="0"/>
                <a:cs typeface="Times New Roman" panose="02020603050405020304" pitchFamily="18" charset="0"/>
              </a:rPr>
              <a:t>A side view of the June solstice shows the vertical rays of the noon Sun striking 23.5 degrees North latitude. When looking at North America, the circle of illumination connects the western edge of the arctic circle in a straight line to the eastern edge of the Antarctic circle. The Atlantic Ocean is in daylight, while the Pacific Ocean is in darkness.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mj-lt"/>
              <a:buAutoNum type="alphaUcPeriod"/>
            </a:pPr>
            <a:r>
              <a:rPr lang="en-US" sz="1800" dirty="0">
                <a:effectLst/>
                <a:latin typeface="+mn-lt"/>
                <a:ea typeface="Times New Roman" panose="02020603050405020304" pitchFamily="18" charset="0"/>
                <a:cs typeface="Times New Roman" panose="02020603050405020304" pitchFamily="18" charset="0"/>
              </a:rPr>
              <a:t>A side view of the September equinox shows the vertical rays of the noon Sun strike the equator. The circle of illumination connects the North Pole to the South Pole in a straight line. </a:t>
            </a:r>
            <a:endParaRPr lang="en-IN" sz="1800" dirty="0">
              <a:effectLst/>
              <a:latin typeface="+mn-lt"/>
              <a:ea typeface="Times New Roman" panose="02020603050405020304" pitchFamily="18" charset="0"/>
              <a:cs typeface="Times New Roman" panose="02020603050405020304" pitchFamily="18" charset="0"/>
            </a:endParaRPr>
          </a:p>
          <a:p>
            <a:pPr marL="342900" lvl="0" indent="-342900">
              <a:lnSpc>
                <a:spcPct val="115000"/>
              </a:lnSpc>
              <a:spcBef>
                <a:spcPts val="1500"/>
              </a:spcBef>
              <a:spcAft>
                <a:spcPts val="1000"/>
              </a:spcAft>
              <a:buFont typeface="+mj-lt"/>
              <a:buAutoNum type="alphaUcPeriod"/>
            </a:pPr>
            <a:r>
              <a:rPr lang="en-US" sz="1800" dirty="0">
                <a:effectLst/>
                <a:latin typeface="+mn-lt"/>
                <a:ea typeface="Times New Roman" panose="02020603050405020304" pitchFamily="18" charset="0"/>
                <a:cs typeface="Times New Roman" panose="02020603050405020304" pitchFamily="18" charset="0"/>
              </a:rPr>
              <a:t>A side view of the December solstice shows the vertical rays of the noon Sun strike 23.5 degrees south latitude. When looking at North America, the circle of illumination connects the western edge of the arctic circle in a straight line to the eastern edge of the Antarctic circle. The Pacific Ocean is in daylight, while the Atlantic Ocean is in darkness.</a:t>
            </a:r>
            <a:endParaRPr lang="en-IN" sz="1800" dirty="0">
              <a:effectLst/>
              <a:latin typeface="+mn-lt"/>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32514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An oblique view shows the Earth to Sun relations on the June solstice,  September equinox, December solstice, and March equinox. The axis of the Earth is always tilted toward the North Star, so during the June solstice the North Pole is tilted toward the sun, during the December solstice the North Pole is tilted away from the sun, and during the March and September equinoxes the North Pole is tilted not toward or away, but parallel to the sun.</a:t>
            </a:r>
            <a:endParaRPr lang="en-IN" sz="1800" dirty="0">
              <a:effectLst/>
              <a:latin typeface="+mn-lt"/>
              <a:ea typeface="Calibri" panose="020F0502020204030204" pitchFamily="34" charset="0"/>
              <a:cs typeface="Times New Roman" panose="02020603050405020304" pitchFamily="18" charset="0"/>
            </a:endParaRPr>
          </a:p>
          <a:p>
            <a:endParaRPr lang="en-IN" dirty="0">
              <a:latin typeface="+mn-lt"/>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96862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A side view of the June solstice shows the vertical rays of the noon Sun striking 23.5 degrees North latitude. When looking at North America, the circle of illumination connects the western edge of the arctic circle in a straight line to the eastern edge of the Antarctic circle. The Atlantic Ocean is in daylight, while the Pacific Ocean is in darkness.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dirty="0">
              <a:effectLst/>
              <a:latin typeface="+mn-lt"/>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A side view of the December solstice shows the vertical rays of the noon Sun strike 23.5 degrees south latitude. When looking at North America, the circle of illumination connects the western edge of the arctic circle in a straight line to the eastern edge of the Antarctic circle. The Pacific Ocean is in daylight, while the Atlantic Ocean is in darkness.</a:t>
            </a:r>
            <a:endParaRPr lang="en-IN" sz="1800" dirty="0">
              <a:effectLst/>
              <a:latin typeface="+mn-lt"/>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800" dirty="0">
              <a:effectLst/>
              <a:latin typeface="+mn-lt"/>
              <a:ea typeface="Calibri" panose="020F0502020204030204" pitchFamily="34" charset="0"/>
              <a:cs typeface="Times New Roman" panose="02020603050405020304" pitchFamily="18" charset="0"/>
            </a:endParaRPr>
          </a:p>
          <a:p>
            <a:endParaRPr lang="en-IN" dirty="0">
              <a:latin typeface="+mn-lt"/>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08990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62144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graph presents the month on the X axis, the latitude declination of the sun on the Y axis, and appears as follows. The plot appears as a bell curve from January to December. The increase of the bell curve occurs from January to June, where the vertical rays of the sun is at the Tropic of Cancer, 23.5 degrees south in January, moves closer to the equator until the march equinox, and then moves away from the equator to the Tropic of Cancer, 23.5 degrees north, at the June Solstice. The decrease of the bell curve occurs from June to December, where the vertical rays of the sun is at the Tropic of Cancer, 23.5 degrees south in June, moves closer to the equator until the September equinox, and then moves away from the equator to the Tropic of Capricorn, 23.5 degrees South, at the December Solstice. </a:t>
            </a:r>
            <a:endParaRPr lang="en-IN" sz="1800" dirty="0">
              <a:effectLst/>
              <a:latin typeface="+mn-lt"/>
              <a:ea typeface="Calibri" panose="020F0502020204030204" pitchFamily="34" charset="0"/>
              <a:cs typeface="Times New Roman" panose="02020603050405020304" pitchFamily="18" charset="0"/>
            </a:endParaRPr>
          </a:p>
          <a:p>
            <a:endParaRPr lang="en-IN" dirty="0">
              <a:latin typeface="+mn-lt"/>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948700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Calibri" panose="020F0502020204030204" pitchFamily="34" charset="0"/>
                <a:cs typeface="Times New Roman" panose="02020603050405020304" pitchFamily="18" charset="0"/>
              </a:rPr>
              <a:t>The caption reads as follows. A typical sundial. The edge of the vertical gnomon slants upward from the dial face at an angle equal to the latitude of the sundial, pointing toward the North Pole in the Northern Hemisphere and the South Pole in the Southern Hemisphere. As the Sun appears to move across the sky during the course of a day, the position of the shadow cast by the gnomon changes. The time shown on this sundial is about two p m.</a:t>
            </a: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46060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time zones for North America appear as the number of hours earlier than U T C (G M T), as follows. Hawaii standard time is minus 10. Alaska standard time is minus 9. Pacific standard time is minus 8. Mountain standard time is minus seven. Central standard time is minus six. Eastern standard time is minus five. Atlantic standard time is minus four. Newfoundland standard time is minus three and a half. Greenland is minus three.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dirty="0">
              <a:effectLst/>
              <a:latin typeface="+mn-lt"/>
              <a:ea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mn-lt"/>
                <a:ea typeface="Times New Roman" panose="02020603050405020304" pitchFamily="18" charset="0"/>
                <a:cs typeface="Times New Roman" panose="02020603050405020304" pitchFamily="18" charset="0"/>
              </a:rPr>
              <a:t>The map of the central standard time region shows that locations along the central meridian like Saint Louis and New Orleans experience the sun at its highest point in the sky at noon. Areas east experience the sun highest in the sky slightly before noon, whereas areas west experience the sun highest in the sky slightly after noon.</a:t>
            </a:r>
            <a:endParaRPr lang="en-IN" sz="1800" dirty="0">
              <a:effectLst/>
              <a:latin typeface="+mn-lt"/>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800" dirty="0">
              <a:effectLst/>
              <a:latin typeface="+mn-lt"/>
              <a:ea typeface="Times New Roman" panose="02020603050405020304" pitchFamily="18"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800" dirty="0">
              <a:effectLst/>
              <a:latin typeface="+mn-lt"/>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800" dirty="0">
              <a:effectLst/>
              <a:latin typeface="+mn-lt"/>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9052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000423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Ten Content &amp; Text box">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a:extLst>
              <a:ext uri="{FF2B5EF4-FFF2-40B4-BE49-F238E27FC236}">
                <a16:creationId xmlns:a16="http://schemas.microsoft.com/office/drawing/2014/main" id="{0F978797-84E6-40D3-9DDE-7A8A422D4E3D}"/>
              </a:ext>
            </a:extLst>
          </p:cNvPr>
          <p:cNvSpPr>
            <a:spLocks noGrp="1"/>
          </p:cNvSpPr>
          <p:nvPr>
            <p:ph type="body" sz="quarter" idx="23"/>
          </p:nvPr>
        </p:nvSpPr>
        <p:spPr>
          <a:xfrm>
            <a:off x="4622800" y="3605270"/>
            <a:ext cx="4064000" cy="474662"/>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2" name="Text Placeholder 3">
            <a:extLst>
              <a:ext uri="{FF2B5EF4-FFF2-40B4-BE49-F238E27FC236}">
                <a16:creationId xmlns:a16="http://schemas.microsoft.com/office/drawing/2014/main" id="{D58FCC8D-AC63-444A-8D4B-2463AFDA18AA}"/>
              </a:ext>
            </a:extLst>
          </p:cNvPr>
          <p:cNvSpPr>
            <a:spLocks noGrp="1"/>
          </p:cNvSpPr>
          <p:nvPr>
            <p:ph type="body" sz="quarter" idx="24"/>
          </p:nvPr>
        </p:nvSpPr>
        <p:spPr>
          <a:xfrm>
            <a:off x="4648679" y="4203007"/>
            <a:ext cx="4064000" cy="474662"/>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3">
            <a:extLst>
              <a:ext uri="{FF2B5EF4-FFF2-40B4-BE49-F238E27FC236}">
                <a16:creationId xmlns:a16="http://schemas.microsoft.com/office/drawing/2014/main" id="{01B0F4E7-F7E8-4202-AA69-F46CD6E13830}"/>
              </a:ext>
            </a:extLst>
          </p:cNvPr>
          <p:cNvSpPr>
            <a:spLocks noGrp="1"/>
          </p:cNvSpPr>
          <p:nvPr>
            <p:ph type="body" sz="quarter" idx="25"/>
          </p:nvPr>
        </p:nvSpPr>
        <p:spPr>
          <a:xfrm>
            <a:off x="4648679" y="4795565"/>
            <a:ext cx="4064000" cy="474662"/>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6" name="Text Placeholder 3">
            <a:extLst>
              <a:ext uri="{FF2B5EF4-FFF2-40B4-BE49-F238E27FC236}">
                <a16:creationId xmlns:a16="http://schemas.microsoft.com/office/drawing/2014/main" id="{93833A4F-FFED-4A2F-9C5A-D0CFC1AAD474}"/>
              </a:ext>
            </a:extLst>
          </p:cNvPr>
          <p:cNvSpPr>
            <a:spLocks noGrp="1"/>
          </p:cNvSpPr>
          <p:nvPr>
            <p:ph type="body" sz="quarter" idx="26"/>
          </p:nvPr>
        </p:nvSpPr>
        <p:spPr>
          <a:xfrm>
            <a:off x="4622800" y="5396749"/>
            <a:ext cx="4064000" cy="474662"/>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3">
            <a:extLst>
              <a:ext uri="{FF2B5EF4-FFF2-40B4-BE49-F238E27FC236}">
                <a16:creationId xmlns:a16="http://schemas.microsoft.com/office/drawing/2014/main" id="{0551F860-6BDD-424A-8B6F-48DC34293114}"/>
              </a:ext>
            </a:extLst>
          </p:cNvPr>
          <p:cNvSpPr>
            <a:spLocks noGrp="1"/>
          </p:cNvSpPr>
          <p:nvPr>
            <p:ph type="body" sz="quarter" idx="27"/>
          </p:nvPr>
        </p:nvSpPr>
        <p:spPr>
          <a:xfrm>
            <a:off x="4622801" y="5954591"/>
            <a:ext cx="4064000" cy="474662"/>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57572944"/>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8229600"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8229600"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8229600"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82296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8229600"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8229600"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89762292"/>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5017476" y="1558412"/>
            <a:ext cx="3669323"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457200" y="1558412"/>
            <a:ext cx="4372708"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6" name="Content Placeholder 5"/>
          <p:cNvSpPr>
            <a:spLocks noGrp="1"/>
          </p:cNvSpPr>
          <p:nvPr>
            <p:ph sz="quarter" idx="16"/>
          </p:nvPr>
        </p:nvSpPr>
        <p:spPr>
          <a:xfrm>
            <a:off x="457200" y="5416550"/>
            <a:ext cx="4371975"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7"/>
          </p:nvPr>
        </p:nvSpPr>
        <p:spPr>
          <a:xfrm>
            <a:off x="457200" y="5873750"/>
            <a:ext cx="4371975" cy="492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80515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image" Target="../media/image1.jp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2022, 2014, 2011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8"/>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3" r:id="rId9"/>
    <p:sldLayoutId id="2147483681" r:id="rId10"/>
    <p:sldLayoutId id="2147483671" r:id="rId11"/>
    <p:sldLayoutId id="2147483673" r:id="rId12"/>
    <p:sldLayoutId id="2147483682" r:id="rId13"/>
    <p:sldLayoutId id="2147483670" r:id="rId14"/>
    <p:sldLayoutId id="2147483669" r:id="rId15"/>
    <p:sldLayoutId id="214748365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media.pearsoncmg.com/ph/esm/esm_mcknight_physgeo_13/media/"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6.bin"/><Relationship Id="rId18" Type="http://schemas.openxmlformats.org/officeDocument/2006/relationships/image" Target="../media/image13.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10.wmf"/><Relationship Id="rId17" Type="http://schemas.openxmlformats.org/officeDocument/2006/relationships/oleObject" Target="../embeddings/oleObject8.bin"/><Relationship Id="rId2" Type="http://schemas.openxmlformats.org/officeDocument/2006/relationships/notesSlide" Target="../notesSlides/notesSlide4.xml"/><Relationship Id="rId16" Type="http://schemas.openxmlformats.org/officeDocument/2006/relationships/image" Target="../media/image12.wmf"/><Relationship Id="rId20" Type="http://schemas.openxmlformats.org/officeDocument/2006/relationships/image" Target="../media/image14.wmf"/><Relationship Id="rId1" Type="http://schemas.openxmlformats.org/officeDocument/2006/relationships/slideLayout" Target="../slideLayouts/slideLayout8.xml"/><Relationship Id="rId6" Type="http://schemas.openxmlformats.org/officeDocument/2006/relationships/image" Target="../media/image7.wmf"/><Relationship Id="rId11" Type="http://schemas.openxmlformats.org/officeDocument/2006/relationships/oleObject" Target="../embeddings/oleObject5.bin"/><Relationship Id="rId24" Type="http://schemas.openxmlformats.org/officeDocument/2006/relationships/image" Target="../media/image16.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10" Type="http://schemas.openxmlformats.org/officeDocument/2006/relationships/image" Target="../media/image9.wmf"/><Relationship Id="rId19" Type="http://schemas.openxmlformats.org/officeDocument/2006/relationships/oleObject" Target="../embeddings/oleObject9.bin"/><Relationship Id="rId4" Type="http://schemas.openxmlformats.org/officeDocument/2006/relationships/image" Target="../media/image6.wmf"/><Relationship Id="rId9" Type="http://schemas.openxmlformats.org/officeDocument/2006/relationships/oleObject" Target="../embeddings/oleObject4.bin"/><Relationship Id="rId14" Type="http://schemas.openxmlformats.org/officeDocument/2006/relationships/image" Target="../media/image11.wmf"/><Relationship Id="rId22" Type="http://schemas.openxmlformats.org/officeDocument/2006/relationships/image" Target="../media/image15.wmf"/></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media.pearsoncmg.com/ph/esm/esm_mcknight_physgeo_13/media/" TargetMode="External"/><Relationship Id="rId2" Type="http://schemas.openxmlformats.org/officeDocument/2006/relationships/image" Target="../media/image19.jp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4.jpg"/></Relationships>
</file>

<file path=ppt/slides/_rels/slide1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28.jp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27.wmf"/><Relationship Id="rId5" Type="http://schemas.openxmlformats.org/officeDocument/2006/relationships/oleObject" Target="../embeddings/oleObject13.bin"/><Relationship Id="rId4" Type="http://schemas.openxmlformats.org/officeDocument/2006/relationships/image" Target="../media/image26.wmf"/></Relationships>
</file>

<file path=ppt/slides/_rels/slide2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4.bin"/><Relationship Id="rId1" Type="http://schemas.openxmlformats.org/officeDocument/2006/relationships/slideLayout" Target="../slideLayouts/slideLayout9.xml"/><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34.jp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33.wmf"/><Relationship Id="rId5" Type="http://schemas.openxmlformats.org/officeDocument/2006/relationships/oleObject" Target="../embeddings/oleObject16.bin"/><Relationship Id="rId4" Type="http://schemas.openxmlformats.org/officeDocument/2006/relationships/image" Target="../media/image32.wmf"/></Relationships>
</file>

<file path=ppt/slides/_rels/slide2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hyperlink" Target="https://media.pearsoncmg.com/ph/esm/esm_mcknight_physgeo_13/media/"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17.bin"/><Relationship Id="rId1" Type="http://schemas.openxmlformats.org/officeDocument/2006/relationships/slideLayout" Target="../slideLayouts/slideLayout9.xml"/><Relationship Id="rId4" Type="http://schemas.openxmlformats.org/officeDocument/2006/relationships/image" Target="../media/image39.jpg"/></Relationships>
</file>

<file path=ppt/slides/_rels/slide2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43.jpg"/></Relationships>
</file>

<file path=ppt/slides/_rels/slide3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5.xml"/><Relationship Id="rId1" Type="http://schemas.openxmlformats.org/officeDocument/2006/relationships/slideLayout" Target="../slideLayouts/slideLayout9.xml"/><Relationship Id="rId6" Type="http://schemas.openxmlformats.org/officeDocument/2006/relationships/image" Target="../media/image49.jpg"/><Relationship Id="rId5" Type="http://schemas.openxmlformats.org/officeDocument/2006/relationships/image" Target="../media/image48.jpg"/><Relationship Id="rId4" Type="http://schemas.openxmlformats.org/officeDocument/2006/relationships/image" Target="../media/image47.wmf"/></Relationships>
</file>

<file path=ppt/slides/_rels/slide3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5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229601" cy="987333"/>
          </a:xfrm>
        </p:spPr>
        <p:txBody>
          <a:bodyPr anchor="ctr"/>
          <a:lstStyle/>
          <a:p>
            <a:r>
              <a:rPr lang="en-IN" sz="3000" dirty="0"/>
              <a:t>Physical Geography: A Landscape Appreciation</a:t>
            </a:r>
            <a:endParaRPr lang="en-US" sz="3000" dirty="0"/>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697574"/>
            <a:ext cx="3657600" cy="1394876"/>
          </a:xfrm>
        </p:spPr>
        <p:txBody>
          <a:bodyPr/>
          <a:lstStyle/>
          <a:p>
            <a:pPr marL="0" algn="ctr">
              <a:spcBef>
                <a:spcPts val="600"/>
              </a:spcBef>
            </a:pPr>
            <a:r>
              <a:rPr lang="en-US" b="1" dirty="0">
                <a:latin typeface="+mn-lt"/>
              </a:rPr>
              <a:t>Lecture</a:t>
            </a:r>
          </a:p>
          <a:p>
            <a:pPr marL="0" algn="ctr">
              <a:spcBef>
                <a:spcPts val="600"/>
              </a:spcBef>
            </a:pPr>
            <a:r>
              <a:rPr lang="en-US" b="1" dirty="0">
                <a:latin typeface="+mn-lt"/>
              </a:rPr>
              <a:t>Chapter 1</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201019"/>
          </a:xfrm>
        </p:spPr>
        <p:txBody>
          <a:bodyPr/>
          <a:lstStyle/>
          <a:p>
            <a:pPr algn="ctr" eaLnBrk="1" hangingPunct="1">
              <a:spcBef>
                <a:spcPts val="600"/>
              </a:spcBef>
              <a:spcAft>
                <a:spcPts val="600"/>
              </a:spcAft>
              <a:buFontTx/>
              <a:buNone/>
            </a:pPr>
            <a:r>
              <a:rPr lang="en-US" altLang="en-US" dirty="0">
                <a:ea typeface="ＭＳ Ｐゴシック" pitchFamily="34" charset="-128"/>
                <a:cs typeface="Arial" pitchFamily="34" charset="0"/>
              </a:rPr>
              <a:t>Introduction to Earth</a:t>
            </a:r>
          </a:p>
        </p:txBody>
      </p:sp>
      <p:pic>
        <p:nvPicPr>
          <p:cNvPr id="7" name="Picture 6" descr="Front Cover: Physical Geography: A Landscape Appreciation Thirteenth Edition by Hess and Finch.">
            <a:extLst>
              <a:ext uri="{FF2B5EF4-FFF2-40B4-BE49-F238E27FC236}">
                <a16:creationId xmlns:a16="http://schemas.microsoft.com/office/drawing/2014/main" id="{73D8577F-EF87-413B-B92D-8E9960375A06}"/>
              </a:ext>
            </a:extLst>
          </p:cNvPr>
          <p:cNvPicPr>
            <a:picLocks noChangeAspect="1"/>
          </p:cNvPicPr>
          <p:nvPr/>
        </p:nvPicPr>
        <p:blipFill>
          <a:blip r:embed="rId3"/>
          <a:stretch>
            <a:fillRect/>
          </a:stretch>
        </p:blipFill>
        <p:spPr>
          <a:xfrm>
            <a:off x="633157" y="1697573"/>
            <a:ext cx="3605429" cy="4470730"/>
          </a:xfrm>
          <a:prstGeom prst="rect">
            <a:avLst/>
          </a:prstGeom>
          <a:ln w="9525">
            <a:solidFill>
              <a:schemeClr val="tx1"/>
            </a:solidFill>
          </a:ln>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IN" dirty="0"/>
              <a:t>2022, 2014, 2011</a:t>
            </a:r>
            <a:r>
              <a:rPr lang="en-US" altLang="en-US" sz="1200" b="0" dirty="0">
                <a:latin typeface="Verdana"/>
                <a:ea typeface="Verdana" panose="020B0604030504040204" pitchFamily="34" charset="0"/>
                <a:cs typeface="Verdana" panose="020B0604030504040204" pitchFamily="34" charset="0"/>
              </a:rPr>
              <a:t> Pearson Education, Inc. All Rights Reserved</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Tree>
    <p:extLst>
      <p:ext uri="{BB962C8B-B14F-4D97-AF65-F5344CB8AC3E}">
        <p14:creationId xmlns:p14="http://schemas.microsoft.com/office/powerpoint/2010/main" val="1621083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92018-0FA5-49D5-A005-30D987A48498}"/>
              </a:ext>
            </a:extLst>
          </p:cNvPr>
          <p:cNvSpPr>
            <a:spLocks noGrp="1"/>
          </p:cNvSpPr>
          <p:nvPr>
            <p:ph type="title"/>
          </p:nvPr>
        </p:nvSpPr>
        <p:spPr>
          <a:xfrm>
            <a:off x="457199" y="215371"/>
            <a:ext cx="8385243" cy="1097279"/>
          </a:xfrm>
        </p:spPr>
        <p:txBody>
          <a:bodyPr/>
          <a:lstStyle/>
          <a:p>
            <a:r>
              <a:rPr lang="en-US" altLang="en-US" dirty="0">
                <a:ea typeface="ヒラギノ角ゴ Pro W3" pitchFamily="-84" charset="-128"/>
              </a:rPr>
              <a:t>Outline: Introduction to Earth </a:t>
            </a:r>
            <a:r>
              <a:rPr lang="en-US" altLang="en-US" sz="2000" b="0" dirty="0">
                <a:ea typeface="ヒラギノ角ゴ Pro W3" pitchFamily="-84" charset="-128"/>
              </a:rPr>
              <a:t>(1 of 3)</a:t>
            </a:r>
            <a:endParaRPr lang="en-IN" sz="2000" b="0" dirty="0"/>
          </a:p>
        </p:txBody>
      </p:sp>
      <p:sp>
        <p:nvSpPr>
          <p:cNvPr id="5" name="Content Placeholder 4">
            <a:extLst>
              <a:ext uri="{FF2B5EF4-FFF2-40B4-BE49-F238E27FC236}">
                <a16:creationId xmlns:a16="http://schemas.microsoft.com/office/drawing/2014/main" id="{8A5056E6-D6C5-4510-9599-00DB6351C2C8}"/>
              </a:ext>
            </a:extLst>
          </p:cNvPr>
          <p:cNvSpPr>
            <a:spLocks noGrp="1"/>
          </p:cNvSpPr>
          <p:nvPr>
            <p:ph sz="quarter" idx="13"/>
          </p:nvPr>
        </p:nvSpPr>
        <p:spPr>
          <a:xfrm>
            <a:off x="457200" y="1554921"/>
            <a:ext cx="8232775" cy="4430244"/>
          </a:xfrm>
        </p:spPr>
        <p:txBody>
          <a:bodyPr/>
          <a:lstStyle/>
          <a:p>
            <a:pPr eaLnBrk="1" hangingPunct="1"/>
            <a:r>
              <a:rPr lang="en-US" altLang="en-US" b="1" dirty="0">
                <a:ea typeface="ヒラギノ角ゴ Pro W3" charset="-128"/>
              </a:rPr>
              <a:t>The Study of Geography</a:t>
            </a:r>
          </a:p>
          <a:p>
            <a:pPr lvl="1"/>
            <a:r>
              <a:rPr lang="en-US" altLang="en-US" dirty="0">
                <a:ea typeface="ヒラギノ角ゴ Pro W3" charset="-128"/>
              </a:rPr>
              <a:t>Studying the World Geographically</a:t>
            </a:r>
          </a:p>
          <a:p>
            <a:pPr lvl="1"/>
            <a:r>
              <a:rPr lang="en-US" altLang="en-US" dirty="0">
                <a:ea typeface="ヒラギノ角ゴ Pro W3" charset="-128"/>
              </a:rPr>
              <a:t>Geography in the National Parks</a:t>
            </a:r>
          </a:p>
          <a:p>
            <a:pPr eaLnBrk="1" hangingPunct="1"/>
            <a:r>
              <a:rPr lang="en-US" altLang="en-US" b="1" dirty="0">
                <a:ea typeface="ヒラギノ角ゴ Pro W3" charset="-128"/>
              </a:rPr>
              <a:t>Geography and Science</a:t>
            </a:r>
          </a:p>
          <a:p>
            <a:pPr lvl="1"/>
            <a:r>
              <a:rPr lang="en-US" altLang="en-US" dirty="0">
                <a:ea typeface="ヒラギノ角ゴ Pro W3" charset="-128"/>
              </a:rPr>
              <a:t>The Process of Science</a:t>
            </a:r>
          </a:p>
          <a:p>
            <a:pPr lvl="1"/>
            <a:r>
              <a:rPr lang="en-US" altLang="en-US" dirty="0">
                <a:ea typeface="ヒラギノ角ゴ Pro W3" charset="-128"/>
              </a:rPr>
              <a:t>Numbers and Measurement Systems</a:t>
            </a:r>
          </a:p>
          <a:p>
            <a:pPr eaLnBrk="1" hangingPunct="1"/>
            <a:r>
              <a:rPr lang="en-US" altLang="en-US" b="1" dirty="0">
                <a:ea typeface="ヒラギノ角ゴ Pro W3" charset="-128"/>
              </a:rPr>
              <a:t>Environmental Spheres and Earth Systems</a:t>
            </a:r>
          </a:p>
          <a:p>
            <a:pPr lvl="1"/>
            <a:r>
              <a:rPr lang="en-US" altLang="en-US" dirty="0">
                <a:ea typeface="ヒラギノ角ゴ Pro W3" charset="-128"/>
              </a:rPr>
              <a:t>Earth’s Environmental Spheres</a:t>
            </a:r>
          </a:p>
          <a:p>
            <a:pPr lvl="1"/>
            <a:r>
              <a:rPr lang="en-US" altLang="en-US" dirty="0">
                <a:ea typeface="ヒラギノ角ゴ Pro W3" charset="-128"/>
              </a:rPr>
              <a:t>Earth Systems</a:t>
            </a:r>
          </a:p>
        </p:txBody>
      </p:sp>
    </p:spTree>
    <p:extLst>
      <p:ext uri="{BB962C8B-B14F-4D97-AF65-F5344CB8AC3E}">
        <p14:creationId xmlns:p14="http://schemas.microsoft.com/office/powerpoint/2010/main" val="2232895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92018-0FA5-49D5-A005-30D987A48498}"/>
              </a:ext>
            </a:extLst>
          </p:cNvPr>
          <p:cNvSpPr>
            <a:spLocks noGrp="1"/>
          </p:cNvSpPr>
          <p:nvPr>
            <p:ph type="title"/>
          </p:nvPr>
        </p:nvSpPr>
        <p:spPr>
          <a:xfrm>
            <a:off x="457199" y="215371"/>
            <a:ext cx="8385243" cy="1097279"/>
          </a:xfrm>
        </p:spPr>
        <p:txBody>
          <a:bodyPr/>
          <a:lstStyle/>
          <a:p>
            <a:r>
              <a:rPr lang="en-US" altLang="en-US" dirty="0">
                <a:ea typeface="ヒラギノ角ゴ Pro W3" pitchFamily="-84" charset="-128"/>
              </a:rPr>
              <a:t>Outline: Introduction to Earth </a:t>
            </a:r>
            <a:r>
              <a:rPr lang="en-US" altLang="en-US" sz="2000" b="0" dirty="0">
                <a:ea typeface="ヒラギノ角ゴ Pro W3" pitchFamily="-84" charset="-128"/>
              </a:rPr>
              <a:t>(2 of 3)</a:t>
            </a:r>
            <a:endParaRPr lang="en-IN" b="0" dirty="0"/>
          </a:p>
        </p:txBody>
      </p:sp>
      <p:sp>
        <p:nvSpPr>
          <p:cNvPr id="5" name="Content Placeholder 4">
            <a:extLst>
              <a:ext uri="{FF2B5EF4-FFF2-40B4-BE49-F238E27FC236}">
                <a16:creationId xmlns:a16="http://schemas.microsoft.com/office/drawing/2014/main" id="{8A5056E6-D6C5-4510-9599-00DB6351C2C8}"/>
              </a:ext>
            </a:extLst>
          </p:cNvPr>
          <p:cNvSpPr>
            <a:spLocks noGrp="1"/>
          </p:cNvSpPr>
          <p:nvPr>
            <p:ph sz="quarter" idx="13"/>
          </p:nvPr>
        </p:nvSpPr>
        <p:spPr>
          <a:xfrm>
            <a:off x="457200" y="1554921"/>
            <a:ext cx="8232775" cy="4430244"/>
          </a:xfrm>
        </p:spPr>
        <p:txBody>
          <a:bodyPr/>
          <a:lstStyle/>
          <a:p>
            <a:pPr eaLnBrk="1" hangingPunct="1"/>
            <a:r>
              <a:rPr lang="en-US" altLang="en-US" b="1" dirty="0">
                <a:ea typeface="ヒラギノ角ゴ Pro W3" charset="-128"/>
              </a:rPr>
              <a:t>Earth and the Solar System</a:t>
            </a:r>
          </a:p>
          <a:p>
            <a:pPr lvl="1"/>
            <a:r>
              <a:rPr lang="en-US" altLang="en-US" dirty="0">
                <a:ea typeface="ヒラギノ角ゴ Pro W3" charset="-128"/>
              </a:rPr>
              <a:t>The Solar System</a:t>
            </a:r>
          </a:p>
          <a:p>
            <a:pPr lvl="1"/>
            <a:r>
              <a:rPr lang="en-US" altLang="en-US" dirty="0">
                <a:ea typeface="ヒラギノ角ゴ Pro W3" charset="-128"/>
              </a:rPr>
              <a:t>The Size and Shape of Earth</a:t>
            </a:r>
          </a:p>
          <a:p>
            <a:pPr eaLnBrk="1" hangingPunct="1"/>
            <a:r>
              <a:rPr lang="en-US" altLang="en-US" b="1" dirty="0">
                <a:ea typeface="ヒラギノ角ゴ Pro W3" charset="-128"/>
              </a:rPr>
              <a:t>The Geographic Grid―Latitude and Longitude</a:t>
            </a:r>
          </a:p>
          <a:p>
            <a:pPr lvl="1"/>
            <a:r>
              <a:rPr lang="en-US" altLang="en-US" dirty="0">
                <a:ea typeface="ヒラギノ角ゴ Pro W3" charset="-128"/>
              </a:rPr>
              <a:t>Latitude</a:t>
            </a:r>
          </a:p>
          <a:p>
            <a:pPr lvl="1"/>
            <a:r>
              <a:rPr lang="en-US" altLang="en-US" dirty="0">
                <a:ea typeface="ヒラギノ角ゴ Pro W3" charset="-128"/>
              </a:rPr>
              <a:t>Longitude</a:t>
            </a:r>
          </a:p>
          <a:p>
            <a:pPr lvl="1"/>
            <a:r>
              <a:rPr lang="en-US" altLang="en-US" dirty="0">
                <a:ea typeface="ヒラギノ角ゴ Pro W3" charset="-128"/>
              </a:rPr>
              <a:t>Locating Points on the Geographic Grid</a:t>
            </a:r>
          </a:p>
        </p:txBody>
      </p:sp>
    </p:spTree>
    <p:extLst>
      <p:ext uri="{BB962C8B-B14F-4D97-AF65-F5344CB8AC3E}">
        <p14:creationId xmlns:p14="http://schemas.microsoft.com/office/powerpoint/2010/main" val="48011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92018-0FA5-49D5-A005-30D987A48498}"/>
              </a:ext>
            </a:extLst>
          </p:cNvPr>
          <p:cNvSpPr>
            <a:spLocks noGrp="1"/>
          </p:cNvSpPr>
          <p:nvPr>
            <p:ph type="title"/>
          </p:nvPr>
        </p:nvSpPr>
        <p:spPr>
          <a:xfrm>
            <a:off x="457199" y="215371"/>
            <a:ext cx="8385243" cy="1097279"/>
          </a:xfrm>
        </p:spPr>
        <p:txBody>
          <a:bodyPr/>
          <a:lstStyle/>
          <a:p>
            <a:r>
              <a:rPr lang="en-US" altLang="en-US" dirty="0">
                <a:ea typeface="ヒラギノ角ゴ Pro W3" pitchFamily="-84" charset="-128"/>
              </a:rPr>
              <a:t>Outline: Introduction to Earth </a:t>
            </a:r>
            <a:r>
              <a:rPr lang="en-US" altLang="en-US" sz="2000" b="0" dirty="0">
                <a:ea typeface="ヒラギノ角ゴ Pro W3" pitchFamily="-84" charset="-128"/>
              </a:rPr>
              <a:t>(3 of 3)</a:t>
            </a:r>
            <a:endParaRPr lang="en-IN" b="0" dirty="0"/>
          </a:p>
        </p:txBody>
      </p:sp>
      <p:sp>
        <p:nvSpPr>
          <p:cNvPr id="5" name="Content Placeholder 4">
            <a:extLst>
              <a:ext uri="{FF2B5EF4-FFF2-40B4-BE49-F238E27FC236}">
                <a16:creationId xmlns:a16="http://schemas.microsoft.com/office/drawing/2014/main" id="{8A5056E6-D6C5-4510-9599-00DB6351C2C8}"/>
              </a:ext>
            </a:extLst>
          </p:cNvPr>
          <p:cNvSpPr>
            <a:spLocks noGrp="1"/>
          </p:cNvSpPr>
          <p:nvPr>
            <p:ph sz="quarter" idx="13"/>
          </p:nvPr>
        </p:nvSpPr>
        <p:spPr>
          <a:xfrm>
            <a:off x="457200" y="1554921"/>
            <a:ext cx="8232775" cy="4430244"/>
          </a:xfrm>
        </p:spPr>
        <p:txBody>
          <a:bodyPr/>
          <a:lstStyle/>
          <a:p>
            <a:pPr eaLnBrk="1" hangingPunct="1"/>
            <a:r>
              <a:rPr lang="en-US" altLang="en-US" b="1" dirty="0">
                <a:ea typeface="ヒラギノ角ゴ Pro W3" charset="-128"/>
              </a:rPr>
              <a:t>Earth–Sun Relations and the Seasons</a:t>
            </a:r>
          </a:p>
          <a:p>
            <a:pPr lvl="1"/>
            <a:r>
              <a:rPr lang="en-US" altLang="en-US" dirty="0">
                <a:ea typeface="ヒラギノ角ゴ Pro W3" charset="-128"/>
              </a:rPr>
              <a:t>Earth Movements</a:t>
            </a:r>
          </a:p>
          <a:p>
            <a:pPr lvl="1"/>
            <a:r>
              <a:rPr lang="en-US" altLang="en-US" dirty="0">
                <a:ea typeface="ヒラギノ角ゴ Pro W3" charset="-128"/>
              </a:rPr>
              <a:t>The Annual March of the Seasons</a:t>
            </a:r>
          </a:p>
          <a:p>
            <a:pPr lvl="1"/>
            <a:r>
              <a:rPr lang="en-US" altLang="en-US" dirty="0">
                <a:ea typeface="ヒラギノ角ゴ Pro W3" charset="-128"/>
              </a:rPr>
              <a:t>Seasonal Transitions</a:t>
            </a:r>
          </a:p>
          <a:p>
            <a:pPr lvl="1"/>
            <a:r>
              <a:rPr lang="en-US" altLang="en-US" dirty="0">
                <a:ea typeface="ヒラギノ角ゴ Pro W3" charset="-128"/>
              </a:rPr>
              <a:t>Significance of Seasonal Patterns</a:t>
            </a:r>
          </a:p>
          <a:p>
            <a:pPr eaLnBrk="1" hangingPunct="1"/>
            <a:r>
              <a:rPr lang="en-US" altLang="en-US" b="1" dirty="0">
                <a:ea typeface="ヒラギノ角ゴ Pro W3" charset="-128"/>
              </a:rPr>
              <a:t>Telling Time</a:t>
            </a:r>
          </a:p>
          <a:p>
            <a:pPr lvl="1"/>
            <a:r>
              <a:rPr lang="en-US" altLang="en-US" dirty="0">
                <a:ea typeface="ヒラギノ角ゴ Pro W3" charset="-128"/>
              </a:rPr>
              <a:t>Standard Time</a:t>
            </a:r>
          </a:p>
          <a:p>
            <a:pPr lvl="1"/>
            <a:r>
              <a:rPr lang="en-US" altLang="en-US" dirty="0">
                <a:ea typeface="ヒラギノ角ゴ Pro W3" charset="-128"/>
              </a:rPr>
              <a:t>International Date Line</a:t>
            </a:r>
          </a:p>
          <a:p>
            <a:pPr lvl="1"/>
            <a:r>
              <a:rPr lang="en-US" altLang="en-US" dirty="0">
                <a:ea typeface="ヒラギノ角ゴ Pro W3" charset="-128"/>
              </a:rPr>
              <a:t>Daylight-Saving Time</a:t>
            </a:r>
          </a:p>
        </p:txBody>
      </p:sp>
    </p:spTree>
    <p:extLst>
      <p:ext uri="{BB962C8B-B14F-4D97-AF65-F5344CB8AC3E}">
        <p14:creationId xmlns:p14="http://schemas.microsoft.com/office/powerpoint/2010/main" val="105016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48ECC-AF2A-40DB-BDF4-10BDE926C931}"/>
              </a:ext>
            </a:extLst>
          </p:cNvPr>
          <p:cNvSpPr>
            <a:spLocks noGrp="1"/>
          </p:cNvSpPr>
          <p:nvPr>
            <p:ph type="title"/>
          </p:nvPr>
        </p:nvSpPr>
        <p:spPr/>
        <p:txBody>
          <a:bodyPr/>
          <a:lstStyle/>
          <a:p>
            <a:r>
              <a:rPr lang="en-US" altLang="en-US" sz="3200" dirty="0">
                <a:ea typeface="ヒラギノ角ゴ Pro W3" pitchFamily="-84" charset="-128"/>
              </a:rPr>
              <a:t>Key Questions: Introduction to Earth</a:t>
            </a:r>
            <a:endParaRPr lang="en-IN" sz="3200" dirty="0"/>
          </a:p>
        </p:txBody>
      </p:sp>
      <p:sp>
        <p:nvSpPr>
          <p:cNvPr id="3" name="Content Placeholder 2">
            <a:extLst>
              <a:ext uri="{FF2B5EF4-FFF2-40B4-BE49-F238E27FC236}">
                <a16:creationId xmlns:a16="http://schemas.microsoft.com/office/drawing/2014/main" id="{107D4AFC-6EDA-44BF-846E-68342A6936A9}"/>
              </a:ext>
            </a:extLst>
          </p:cNvPr>
          <p:cNvSpPr>
            <a:spLocks noGrp="1"/>
          </p:cNvSpPr>
          <p:nvPr>
            <p:ph sz="quarter" idx="13"/>
          </p:nvPr>
        </p:nvSpPr>
        <p:spPr/>
        <p:txBody>
          <a:bodyPr/>
          <a:lstStyle/>
          <a:p>
            <a:r>
              <a:rPr lang="en-US" dirty="0"/>
              <a:t>How do geographers study the world?</a:t>
            </a:r>
          </a:p>
          <a:p>
            <a:r>
              <a:rPr lang="en-US" dirty="0"/>
              <a:t>How do we make sense of different environments on Earth?</a:t>
            </a:r>
          </a:p>
          <a:p>
            <a:r>
              <a:rPr lang="en-US" dirty="0"/>
              <a:t>How do we describe location on Earth?</a:t>
            </a:r>
          </a:p>
          <a:p>
            <a:r>
              <a:rPr lang="en-US" dirty="0"/>
              <a:t>Why do the seasons change?</a:t>
            </a:r>
          </a:p>
          <a:p>
            <a:r>
              <a:rPr lang="en-US" dirty="0"/>
              <a:t>How do global time zones work?</a:t>
            </a:r>
          </a:p>
        </p:txBody>
      </p:sp>
    </p:spTree>
    <p:extLst>
      <p:ext uri="{BB962C8B-B14F-4D97-AF65-F5344CB8AC3E}">
        <p14:creationId xmlns:p14="http://schemas.microsoft.com/office/powerpoint/2010/main" val="1302565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72A63-C0B3-402D-BCCB-D9FF0C572416}"/>
              </a:ext>
            </a:extLst>
          </p:cNvPr>
          <p:cNvSpPr>
            <a:spLocks noGrp="1"/>
          </p:cNvSpPr>
          <p:nvPr>
            <p:ph type="title"/>
          </p:nvPr>
        </p:nvSpPr>
        <p:spPr/>
        <p:txBody>
          <a:bodyPr/>
          <a:lstStyle/>
          <a:p>
            <a:r>
              <a:rPr lang="en-US" altLang="en-US" dirty="0">
                <a:ea typeface="ヒラギノ角ゴ Pro W3" pitchFamily="-84" charset="-128"/>
              </a:rPr>
              <a:t>The Study of Geography </a:t>
            </a:r>
            <a:r>
              <a:rPr lang="en-US" altLang="en-US" sz="2000" b="0" dirty="0">
                <a:ea typeface="ヒラギノ角ゴ Pro W3" pitchFamily="-84" charset="-128"/>
              </a:rPr>
              <a:t>(1 of 2)</a:t>
            </a:r>
            <a:endParaRPr lang="en-IN" sz="2000" b="0" dirty="0"/>
          </a:p>
        </p:txBody>
      </p:sp>
      <p:sp>
        <p:nvSpPr>
          <p:cNvPr id="4" name="Content Placeholder 3">
            <a:extLst>
              <a:ext uri="{FF2B5EF4-FFF2-40B4-BE49-F238E27FC236}">
                <a16:creationId xmlns:a16="http://schemas.microsoft.com/office/drawing/2014/main" id="{A0DA6B75-054B-4187-BF3A-D1F2C854C9B2}"/>
              </a:ext>
            </a:extLst>
          </p:cNvPr>
          <p:cNvSpPr>
            <a:spLocks noGrp="1"/>
          </p:cNvSpPr>
          <p:nvPr>
            <p:ph sz="quarter" idx="13"/>
          </p:nvPr>
        </p:nvSpPr>
        <p:spPr>
          <a:xfrm>
            <a:off x="457200" y="1552575"/>
            <a:ext cx="4011769" cy="1315316"/>
          </a:xfrm>
        </p:spPr>
        <p:txBody>
          <a:bodyPr/>
          <a:lstStyle/>
          <a:p>
            <a:pPr eaLnBrk="1" hangingPunct="1"/>
            <a:r>
              <a:rPr lang="en-US" altLang="en-US" sz="1800" b="1" dirty="0">
                <a:ea typeface="ヒラギノ角ゴ Pro W3" charset="-128"/>
              </a:rPr>
              <a:t>Geography </a:t>
            </a:r>
            <a:r>
              <a:rPr lang="en-US" altLang="en-US" sz="1800" dirty="0">
                <a:ea typeface="ヒラギノ角ゴ Pro W3" charset="-128"/>
              </a:rPr>
              <a:t>or “Earth description”</a:t>
            </a:r>
          </a:p>
          <a:p>
            <a:pPr lvl="1" indent="-284400"/>
            <a:r>
              <a:rPr lang="en-US" altLang="en-US" sz="1800" dirty="0">
                <a:ea typeface="ヒラギノ角ゴ Pro W3" charset="-128"/>
              </a:rPr>
              <a:t>from place to place, how things differ and how they are interrelated</a:t>
            </a:r>
          </a:p>
        </p:txBody>
      </p:sp>
      <p:sp>
        <p:nvSpPr>
          <p:cNvPr id="6" name="Content Placeholder 5">
            <a:extLst>
              <a:ext uri="{FF2B5EF4-FFF2-40B4-BE49-F238E27FC236}">
                <a16:creationId xmlns:a16="http://schemas.microsoft.com/office/drawing/2014/main" id="{7BEF43F1-0603-4B6F-8330-C68FE8706E39}"/>
              </a:ext>
            </a:extLst>
          </p:cNvPr>
          <p:cNvSpPr>
            <a:spLocks noGrp="1"/>
          </p:cNvSpPr>
          <p:nvPr>
            <p:ph sz="quarter" idx="15"/>
          </p:nvPr>
        </p:nvSpPr>
        <p:spPr>
          <a:xfrm>
            <a:off x="473227" y="3107816"/>
            <a:ext cx="4217526" cy="2891203"/>
          </a:xfrm>
        </p:spPr>
        <p:txBody>
          <a:bodyPr lIns="90000" tIns="90000" rIns="90000" bIns="90000"/>
          <a:lstStyle/>
          <a:p>
            <a:pPr marL="432" indent="0" eaLnBrk="1" hangingPunct="1">
              <a:buNone/>
            </a:pPr>
            <a:r>
              <a:rPr lang="en-US" altLang="en-US" sz="1800" b="1" dirty="0">
                <a:ea typeface="ヒラギノ角ゴ Pro W3" charset="-128"/>
              </a:rPr>
              <a:t>Studying the World Geographically</a:t>
            </a:r>
          </a:p>
          <a:p>
            <a:pPr eaLnBrk="1" hangingPunct="1"/>
            <a:r>
              <a:rPr lang="en-US" altLang="en-US" sz="1800" b="1" dirty="0">
                <a:ea typeface="ヒラギノ角ゴ Pro W3" charset="-128"/>
              </a:rPr>
              <a:t>Physical geography </a:t>
            </a:r>
            <a:r>
              <a:rPr lang="en-US" altLang="en-US" sz="1800" dirty="0">
                <a:ea typeface="ヒラギノ角ゴ Pro W3" charset="-128"/>
              </a:rPr>
              <a:t>or </a:t>
            </a:r>
            <a:r>
              <a:rPr lang="en-US" altLang="en-US" sz="1800" b="1" dirty="0">
                <a:ea typeface="ヒラギノ角ゴ Pro W3" charset="-128"/>
              </a:rPr>
              <a:t>environmental geography</a:t>
            </a:r>
          </a:p>
          <a:p>
            <a:pPr eaLnBrk="1" hangingPunct="1"/>
            <a:r>
              <a:rPr lang="en-US" altLang="en-US" sz="1800" b="1" dirty="0">
                <a:ea typeface="ヒラギノ角ゴ Pro W3" charset="-128"/>
              </a:rPr>
              <a:t>Human Geography </a:t>
            </a:r>
            <a:r>
              <a:rPr lang="en-US" altLang="en-US" sz="1800" dirty="0">
                <a:ea typeface="ヒラギノ角ゴ Pro W3" charset="-128"/>
              </a:rPr>
              <a:t>and subfields</a:t>
            </a:r>
          </a:p>
          <a:p>
            <a:pPr eaLnBrk="1" hangingPunct="1"/>
            <a:r>
              <a:rPr lang="en-US" altLang="en-US" sz="1800" b="1" dirty="0">
                <a:ea typeface="ヒラギノ角ゴ Pro W3" charset="-128"/>
              </a:rPr>
              <a:t>Interrelationships</a:t>
            </a:r>
          </a:p>
          <a:p>
            <a:pPr lvl="1" indent="-284400"/>
            <a:r>
              <a:rPr lang="en-US" altLang="en-US" sz="1800" dirty="0">
                <a:ea typeface="ヒラギノ角ゴ Pro W3" charset="-128"/>
              </a:rPr>
              <a:t>Natural processes and human alterations</a:t>
            </a:r>
          </a:p>
        </p:txBody>
      </p:sp>
      <p:sp>
        <p:nvSpPr>
          <p:cNvPr id="10" name="Content Placeholder 9">
            <a:extLst>
              <a:ext uri="{FF2B5EF4-FFF2-40B4-BE49-F238E27FC236}">
                <a16:creationId xmlns:a16="http://schemas.microsoft.com/office/drawing/2014/main" id="{49A50CE7-F3CC-4C9E-A4E7-E974139537E7}"/>
              </a:ext>
            </a:extLst>
          </p:cNvPr>
          <p:cNvSpPr>
            <a:spLocks noGrp="1"/>
          </p:cNvSpPr>
          <p:nvPr>
            <p:ph sz="quarter" idx="20"/>
          </p:nvPr>
        </p:nvSpPr>
        <p:spPr>
          <a:xfrm>
            <a:off x="4890841" y="1557337"/>
            <a:ext cx="2818059" cy="520845"/>
          </a:xfrm>
        </p:spPr>
        <p:txBody>
          <a:bodyPr lIns="0" tIns="0" rIns="0" bIns="0"/>
          <a:lstStyle/>
          <a:p>
            <a:pPr marL="432" indent="0">
              <a:spcBef>
                <a:spcPts val="600"/>
              </a:spcBef>
              <a:buNone/>
            </a:pPr>
            <a:r>
              <a:rPr lang="en-IN" sz="1200" b="1" dirty="0">
                <a:solidFill>
                  <a:schemeClr val="tx1"/>
                </a:solidFill>
              </a:rPr>
              <a:t>Mobile Field Trip</a:t>
            </a:r>
          </a:p>
          <a:p>
            <a:pPr marL="432" indent="0">
              <a:spcBef>
                <a:spcPts val="600"/>
              </a:spcBef>
              <a:buNone/>
            </a:pPr>
            <a:r>
              <a:rPr lang="en-IN" sz="1200" b="1" dirty="0">
                <a:solidFill>
                  <a:schemeClr val="tx1"/>
                </a:solidFill>
              </a:rPr>
              <a:t>Introduction to Physical Geography</a:t>
            </a:r>
          </a:p>
        </p:txBody>
      </p:sp>
      <p:sp>
        <p:nvSpPr>
          <p:cNvPr id="14" name="Text Placeholder 13">
            <a:extLst>
              <a:ext uri="{FF2B5EF4-FFF2-40B4-BE49-F238E27FC236}">
                <a16:creationId xmlns:a16="http://schemas.microsoft.com/office/drawing/2014/main" id="{BBADE5C4-C96F-4500-8402-2514D19659FD}"/>
              </a:ext>
            </a:extLst>
          </p:cNvPr>
          <p:cNvSpPr>
            <a:spLocks noGrp="1"/>
          </p:cNvSpPr>
          <p:nvPr>
            <p:ph type="body" sz="quarter" idx="23"/>
          </p:nvPr>
        </p:nvSpPr>
        <p:spPr>
          <a:xfrm>
            <a:off x="4890841" y="2203009"/>
            <a:ext cx="3703783" cy="474662"/>
          </a:xfrm>
        </p:spPr>
        <p:txBody>
          <a:bodyPr lIns="0" tIns="0" rIns="0" bIns="0"/>
          <a:lstStyle/>
          <a:p>
            <a:pPr marL="432" indent="0" algn="l">
              <a:buNone/>
            </a:pPr>
            <a:r>
              <a:rPr lang="en-IN" sz="1200" b="0" i="0" u="none" strike="noStrike" baseline="0" dirty="0">
                <a:solidFill>
                  <a:schemeClr val="tx1"/>
                </a:solidFill>
                <a:hlinkClick r:id="rId3" tooltip="https://media.pearsoncmg.com/ph/esm/esm_mcknight_physgeo_13/media/"/>
              </a:rPr>
              <a:t>https://media.pearsoncmg.com/ph/esm/</a:t>
            </a:r>
            <a:r>
              <a:rPr lang="en-US" sz="1200" b="0" i="0" u="none" strike="noStrike" baseline="0" dirty="0">
                <a:solidFill>
                  <a:schemeClr val="tx1"/>
                </a:solidFill>
                <a:hlinkClick r:id="rId3" tooltip="https://media.pearsoncmg.com/ph/esm/esm_mcknight_physgeo_13/media/"/>
              </a:rPr>
              <a:t>esm_mcknight_physgeo_13/media/</a:t>
            </a:r>
            <a:endParaRPr lang="en-IN" sz="1200" dirty="0">
              <a:solidFill>
                <a:schemeClr val="tx1"/>
              </a:solidFill>
            </a:endParaRPr>
          </a:p>
        </p:txBody>
      </p:sp>
      <p:pic>
        <p:nvPicPr>
          <p:cNvPr id="22" name="Content Placeholder 21" descr="A schematic illustration showing the elements of geography grouped into two broad categories, physical and human geography. For long description in Notes pane, press F6.">
            <a:extLst>
              <a:ext uri="{FF2B5EF4-FFF2-40B4-BE49-F238E27FC236}">
                <a16:creationId xmlns:a16="http://schemas.microsoft.com/office/drawing/2014/main" id="{634FF6D3-B5EB-4C15-8D34-7125EE74390D}"/>
              </a:ext>
            </a:extLst>
          </p:cNvPr>
          <p:cNvPicPr>
            <a:picLocks noGrp="1" noChangeAspect="1"/>
          </p:cNvPicPr>
          <p:nvPr>
            <p:ph sz="quarter" idx="14"/>
          </p:nvPr>
        </p:nvPicPr>
        <p:blipFill rotWithShape="1">
          <a:blip r:embed="rId4"/>
          <a:srcRect b="1898"/>
          <a:stretch/>
        </p:blipFill>
        <p:spPr>
          <a:xfrm>
            <a:off x="4890841" y="2977809"/>
            <a:ext cx="3878102" cy="3021210"/>
          </a:xfrm>
        </p:spPr>
      </p:pic>
    </p:spTree>
    <p:extLst>
      <p:ext uri="{BB962C8B-B14F-4D97-AF65-F5344CB8AC3E}">
        <p14:creationId xmlns:p14="http://schemas.microsoft.com/office/powerpoint/2010/main" val="4040346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0983-6FB7-4E01-ABAB-78BFEA67ECBC}"/>
              </a:ext>
            </a:extLst>
          </p:cNvPr>
          <p:cNvSpPr>
            <a:spLocks noGrp="1"/>
          </p:cNvSpPr>
          <p:nvPr>
            <p:ph type="title"/>
          </p:nvPr>
        </p:nvSpPr>
        <p:spPr/>
        <p:txBody>
          <a:bodyPr/>
          <a:lstStyle/>
          <a:p>
            <a:r>
              <a:rPr lang="en-US" altLang="en-US" dirty="0">
                <a:ea typeface="ヒラギノ角ゴ Pro W3" pitchFamily="-84" charset="-128"/>
              </a:rPr>
              <a:t>The Study of Geography </a:t>
            </a:r>
            <a:r>
              <a:rPr lang="en-US" altLang="en-US" sz="2000" b="0" dirty="0">
                <a:ea typeface="ヒラギノ角ゴ Pro W3" pitchFamily="-84" charset="-128"/>
              </a:rPr>
              <a:t>(2 of 2)</a:t>
            </a:r>
            <a:endParaRPr lang="en-IN" dirty="0"/>
          </a:p>
        </p:txBody>
      </p:sp>
      <p:sp>
        <p:nvSpPr>
          <p:cNvPr id="10" name="Content Placeholder 9">
            <a:extLst>
              <a:ext uri="{FF2B5EF4-FFF2-40B4-BE49-F238E27FC236}">
                <a16:creationId xmlns:a16="http://schemas.microsoft.com/office/drawing/2014/main" id="{6372D658-F17A-4537-8795-963F8A051951}"/>
              </a:ext>
            </a:extLst>
          </p:cNvPr>
          <p:cNvSpPr>
            <a:spLocks noGrp="1"/>
          </p:cNvSpPr>
          <p:nvPr>
            <p:ph sz="quarter" idx="15"/>
          </p:nvPr>
        </p:nvSpPr>
        <p:spPr>
          <a:xfrm>
            <a:off x="457199" y="1558413"/>
            <a:ext cx="5034975" cy="4626488"/>
          </a:xfrm>
        </p:spPr>
        <p:txBody>
          <a:bodyPr/>
          <a:lstStyle/>
          <a:p>
            <a:pPr marL="255600"/>
            <a:r>
              <a:rPr lang="en-US" altLang="en-US" sz="2000" b="1" dirty="0">
                <a:ea typeface="ヒラギノ角ゴ Pro W3" charset="-128"/>
              </a:rPr>
              <a:t>Global Environmental Change</a:t>
            </a:r>
          </a:p>
          <a:p>
            <a:pPr marL="741600" lvl="1"/>
            <a:r>
              <a:rPr lang="en-US" altLang="en-US" sz="2000" dirty="0">
                <a:ea typeface="ヒラギノ角ゴ Pro W3" charset="-128"/>
              </a:rPr>
              <a:t>human-caused and natural processes currently altering landscapes of the world</a:t>
            </a:r>
          </a:p>
          <a:p>
            <a:pPr marL="741600" lvl="1"/>
            <a:r>
              <a:rPr lang="en-US" altLang="en-US" sz="2000" dirty="0">
                <a:ea typeface="ヒラギノ角ゴ Pro W3" charset="-128"/>
              </a:rPr>
              <a:t>special attention to the accelerating impact of human activities on the global environment</a:t>
            </a:r>
          </a:p>
          <a:p>
            <a:pPr marL="255600"/>
            <a:r>
              <a:rPr lang="en-US" altLang="en-US" sz="2000" b="1" dirty="0">
                <a:ea typeface="ヒラギノ角ゴ Pro W3" charset="-128"/>
              </a:rPr>
              <a:t>Globalization</a:t>
            </a:r>
          </a:p>
          <a:p>
            <a:pPr marL="741600" lvl="1"/>
            <a:r>
              <a:rPr lang="en-US" altLang="en-US" sz="2000" dirty="0">
                <a:ea typeface="ヒラギノ角ゴ Pro W3" charset="-128"/>
              </a:rPr>
              <a:t>processes and consequences of an increasingly interconnected world</a:t>
            </a:r>
          </a:p>
          <a:p>
            <a:pPr marL="741600" lvl="1"/>
            <a:r>
              <a:rPr lang="en-US" altLang="en-US" sz="2000" dirty="0">
                <a:ea typeface="ヒラギノ角ゴ Pro W3" charset="-128"/>
              </a:rPr>
              <a:t>environmental components of global economy</a:t>
            </a:r>
          </a:p>
        </p:txBody>
      </p:sp>
      <p:pic>
        <p:nvPicPr>
          <p:cNvPr id="5" name="Content Placeholder 4" descr="A world map showing the temperature anomaly of Earth’s climate during the year 20 19 compared with the average temperatures from 19 51 to 19 80. For long description in Notes pane, press F6.">
            <a:extLst>
              <a:ext uri="{FF2B5EF4-FFF2-40B4-BE49-F238E27FC236}">
                <a16:creationId xmlns:a16="http://schemas.microsoft.com/office/drawing/2014/main" id="{4F1A78D1-482D-44B2-B303-90BF6C4684F1}"/>
              </a:ext>
            </a:extLst>
          </p:cNvPr>
          <p:cNvPicPr>
            <a:picLocks noGrp="1" noChangeAspect="1"/>
          </p:cNvPicPr>
          <p:nvPr>
            <p:ph sz="quarter" idx="13"/>
          </p:nvPr>
        </p:nvPicPr>
        <p:blipFill rotWithShape="1">
          <a:blip r:embed="rId3"/>
          <a:srcRect b="2649"/>
          <a:stretch/>
        </p:blipFill>
        <p:spPr>
          <a:xfrm>
            <a:off x="5755414" y="1596134"/>
            <a:ext cx="2622580" cy="1478976"/>
          </a:xfrm>
        </p:spPr>
      </p:pic>
      <p:pic>
        <p:nvPicPr>
          <p:cNvPr id="7" name="Content Placeholder 6" descr="A photograph of a logging operation in parts of the tropics of Sarawak, Borneo, Malaysia showing the rows of deforestation.">
            <a:extLst>
              <a:ext uri="{FF2B5EF4-FFF2-40B4-BE49-F238E27FC236}">
                <a16:creationId xmlns:a16="http://schemas.microsoft.com/office/drawing/2014/main" id="{12EE0A0F-6D93-4F77-9D07-EBEA625DFAFA}"/>
              </a:ext>
            </a:extLst>
          </p:cNvPr>
          <p:cNvPicPr>
            <a:picLocks noGrp="1" noChangeAspect="1"/>
          </p:cNvPicPr>
          <p:nvPr>
            <p:ph sz="quarter" idx="16"/>
          </p:nvPr>
        </p:nvPicPr>
        <p:blipFill rotWithShape="1">
          <a:blip r:embed="rId4"/>
          <a:srcRect b="2600"/>
          <a:stretch/>
        </p:blipFill>
        <p:spPr>
          <a:xfrm>
            <a:off x="5850833" y="3160698"/>
            <a:ext cx="2426819" cy="3159438"/>
          </a:xfrm>
        </p:spPr>
      </p:pic>
    </p:spTree>
    <p:extLst>
      <p:ext uri="{BB962C8B-B14F-4D97-AF65-F5344CB8AC3E}">
        <p14:creationId xmlns:p14="http://schemas.microsoft.com/office/powerpoint/2010/main" val="2583362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8836A7-D463-4753-99B6-D5136FB382AA}"/>
              </a:ext>
            </a:extLst>
          </p:cNvPr>
          <p:cNvSpPr>
            <a:spLocks noGrp="1"/>
          </p:cNvSpPr>
          <p:nvPr>
            <p:ph type="title"/>
          </p:nvPr>
        </p:nvSpPr>
        <p:spPr/>
        <p:txBody>
          <a:bodyPr/>
          <a:lstStyle/>
          <a:p>
            <a:r>
              <a:rPr lang="en-US" altLang="en-US" dirty="0">
                <a:ea typeface="ヒラギノ角ゴ Pro W3" pitchFamily="-84" charset="-128"/>
              </a:rPr>
              <a:t>Geography and Science </a:t>
            </a:r>
            <a:r>
              <a:rPr lang="en-US" altLang="en-US" sz="2000" b="0" dirty="0">
                <a:ea typeface="ヒラギノ角ゴ Pro W3" pitchFamily="-84" charset="-128"/>
              </a:rPr>
              <a:t>(1 of 2)</a:t>
            </a:r>
            <a:endParaRPr lang="en-IN" sz="2000" b="0" dirty="0"/>
          </a:p>
        </p:txBody>
      </p:sp>
      <p:sp>
        <p:nvSpPr>
          <p:cNvPr id="22" name="Content Placeholder 21">
            <a:extLst>
              <a:ext uri="{FF2B5EF4-FFF2-40B4-BE49-F238E27FC236}">
                <a16:creationId xmlns:a16="http://schemas.microsoft.com/office/drawing/2014/main" id="{E0AE7A59-0961-43A4-827E-ADBD7201CA1F}"/>
              </a:ext>
            </a:extLst>
          </p:cNvPr>
          <p:cNvSpPr>
            <a:spLocks noGrp="1"/>
          </p:cNvSpPr>
          <p:nvPr>
            <p:ph sz="quarter" idx="13"/>
          </p:nvPr>
        </p:nvSpPr>
        <p:spPr>
          <a:xfrm>
            <a:off x="457200" y="1556327"/>
            <a:ext cx="8229600" cy="2493159"/>
          </a:xfrm>
        </p:spPr>
        <p:txBody>
          <a:bodyPr/>
          <a:lstStyle/>
          <a:p>
            <a:pPr marL="432" indent="0">
              <a:spcBef>
                <a:spcPts val="400"/>
              </a:spcBef>
              <a:buNone/>
            </a:pPr>
            <a:r>
              <a:rPr lang="en-US" sz="1600" b="1" dirty="0"/>
              <a:t>The Process of Science</a:t>
            </a:r>
          </a:p>
          <a:p>
            <a:pPr>
              <a:spcBef>
                <a:spcPts val="400"/>
              </a:spcBef>
            </a:pPr>
            <a:r>
              <a:rPr lang="en-US" sz="1600" b="1" dirty="0"/>
              <a:t>Scientific method</a:t>
            </a:r>
          </a:p>
          <a:p>
            <a:pPr marL="741600" lvl="1" indent="-428400">
              <a:spcBef>
                <a:spcPts val="400"/>
              </a:spcBef>
              <a:buFont typeface="+mj-lt"/>
              <a:buAutoNum type="arabicPeriod"/>
            </a:pPr>
            <a:r>
              <a:rPr lang="en-US" sz="1600" dirty="0"/>
              <a:t>observe phenomena</a:t>
            </a:r>
          </a:p>
          <a:p>
            <a:pPr marL="741600" lvl="1" indent="-428400">
              <a:spcBef>
                <a:spcPts val="400"/>
              </a:spcBef>
              <a:buFont typeface="+mj-lt"/>
              <a:buAutoNum type="arabicPeriod"/>
            </a:pPr>
            <a:r>
              <a:rPr lang="en-US" sz="1600" dirty="0"/>
              <a:t>formulate a </a:t>
            </a:r>
            <a:r>
              <a:rPr lang="en-US" sz="1600" b="1" dirty="0"/>
              <a:t>hypothesis</a:t>
            </a:r>
          </a:p>
          <a:p>
            <a:pPr marL="741600" lvl="1" indent="-428400">
              <a:spcBef>
                <a:spcPts val="400"/>
              </a:spcBef>
              <a:buFont typeface="+mj-lt"/>
              <a:buAutoNum type="arabicPeriod"/>
            </a:pPr>
            <a:r>
              <a:rPr lang="en-US" sz="1600" dirty="0"/>
              <a:t>design an experiment to test the hypothesis</a:t>
            </a:r>
          </a:p>
          <a:p>
            <a:pPr marL="741600" lvl="1" indent="-428400">
              <a:spcBef>
                <a:spcPts val="400"/>
              </a:spcBef>
              <a:buFont typeface="+mj-lt"/>
              <a:buAutoNum type="arabicPeriod"/>
            </a:pPr>
            <a:r>
              <a:rPr lang="en-US" sz="1600" dirty="0"/>
              <a:t>predict the outcome of the experiment</a:t>
            </a:r>
          </a:p>
          <a:p>
            <a:pPr marL="741600" lvl="1" indent="-428400">
              <a:spcBef>
                <a:spcPts val="400"/>
              </a:spcBef>
              <a:buFont typeface="+mj-lt"/>
              <a:buAutoNum type="arabicPeriod"/>
            </a:pPr>
            <a:r>
              <a:rPr lang="en-US" sz="1600" dirty="0"/>
              <a:t>conduct the experiment</a:t>
            </a:r>
          </a:p>
          <a:p>
            <a:pPr marL="741600" lvl="1" indent="-428400">
              <a:spcBef>
                <a:spcPts val="400"/>
              </a:spcBef>
              <a:buFont typeface="+mj-lt"/>
              <a:buAutoNum type="arabicPeriod"/>
            </a:pPr>
            <a:r>
              <a:rPr lang="en-US" sz="1600" dirty="0"/>
              <a:t>draw conclusions</a:t>
            </a:r>
          </a:p>
        </p:txBody>
      </p:sp>
      <p:sp>
        <p:nvSpPr>
          <p:cNvPr id="23" name="Content Placeholder 22">
            <a:extLst>
              <a:ext uri="{FF2B5EF4-FFF2-40B4-BE49-F238E27FC236}">
                <a16:creationId xmlns:a16="http://schemas.microsoft.com/office/drawing/2014/main" id="{72291F27-7E99-493A-BC3C-28B29F5AAF5E}"/>
              </a:ext>
            </a:extLst>
          </p:cNvPr>
          <p:cNvSpPr>
            <a:spLocks noGrp="1"/>
          </p:cNvSpPr>
          <p:nvPr>
            <p:ph sz="quarter" idx="14"/>
          </p:nvPr>
        </p:nvSpPr>
        <p:spPr>
          <a:xfrm>
            <a:off x="457200" y="4120738"/>
            <a:ext cx="8229600" cy="2187987"/>
          </a:xfrm>
        </p:spPr>
        <p:txBody>
          <a:bodyPr/>
          <a:lstStyle/>
          <a:p>
            <a:pPr>
              <a:spcBef>
                <a:spcPts val="400"/>
              </a:spcBef>
            </a:pPr>
            <a:r>
              <a:rPr lang="en-US" sz="1600" dirty="0"/>
              <a:t>A process or an attitude for gaining knowledge</a:t>
            </a:r>
          </a:p>
          <a:p>
            <a:pPr lvl="1">
              <a:spcBef>
                <a:spcPts val="400"/>
              </a:spcBef>
            </a:pPr>
            <a:r>
              <a:rPr lang="en-US" sz="1600" dirty="0"/>
              <a:t>data collection through observation of phenomena is the basis of knowledge</a:t>
            </a:r>
          </a:p>
          <a:p>
            <a:pPr lvl="1">
              <a:spcBef>
                <a:spcPts val="400"/>
              </a:spcBef>
            </a:pPr>
            <a:r>
              <a:rPr lang="en-US" sz="1600" dirty="0"/>
              <a:t>based on logical reasoning, skepticism of unsupported conclusions, and willingness to modify or reject long-held ideas in the face of new contradicting evidence</a:t>
            </a:r>
          </a:p>
          <a:p>
            <a:pPr lvl="1">
              <a:spcBef>
                <a:spcPts val="400"/>
              </a:spcBef>
            </a:pPr>
            <a:r>
              <a:rPr lang="en-US" sz="1600" dirty="0"/>
              <a:t>works by eliminating alternative explanations that are not supported by evidence</a:t>
            </a:r>
          </a:p>
          <a:p>
            <a:pPr lvl="1">
              <a:spcBef>
                <a:spcPts val="400"/>
              </a:spcBef>
            </a:pPr>
            <a:r>
              <a:rPr lang="en-US" sz="1600" dirty="0"/>
              <a:t>a true “theory” is developed through method, review, and uncertainty</a:t>
            </a:r>
          </a:p>
        </p:txBody>
      </p:sp>
    </p:spTree>
    <p:extLst>
      <p:ext uri="{BB962C8B-B14F-4D97-AF65-F5344CB8AC3E}">
        <p14:creationId xmlns:p14="http://schemas.microsoft.com/office/powerpoint/2010/main" val="307905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36197-36C9-4274-8F2D-4D8C2DBB89ED}"/>
              </a:ext>
            </a:extLst>
          </p:cNvPr>
          <p:cNvSpPr>
            <a:spLocks noGrp="1"/>
          </p:cNvSpPr>
          <p:nvPr>
            <p:ph type="title"/>
          </p:nvPr>
        </p:nvSpPr>
        <p:spPr/>
        <p:txBody>
          <a:bodyPr/>
          <a:lstStyle/>
          <a:p>
            <a:r>
              <a:rPr lang="en-US" altLang="en-US" dirty="0">
                <a:ea typeface="ヒラギノ角ゴ Pro W3" pitchFamily="-84" charset="-128"/>
              </a:rPr>
              <a:t>Geography and Science </a:t>
            </a:r>
            <a:r>
              <a:rPr lang="en-US" altLang="en-US" sz="2000" b="0" dirty="0">
                <a:ea typeface="ヒラギノ角ゴ Pro W3" pitchFamily="-84" charset="-128"/>
              </a:rPr>
              <a:t>(2 of 2)</a:t>
            </a:r>
            <a:endParaRPr lang="en-IN" dirty="0"/>
          </a:p>
        </p:txBody>
      </p:sp>
      <p:sp>
        <p:nvSpPr>
          <p:cNvPr id="5" name="Content Placeholder 4">
            <a:extLst>
              <a:ext uri="{FF2B5EF4-FFF2-40B4-BE49-F238E27FC236}">
                <a16:creationId xmlns:a16="http://schemas.microsoft.com/office/drawing/2014/main" id="{A6555A5B-C505-4CEA-9465-1DEB8C676D12}"/>
              </a:ext>
            </a:extLst>
          </p:cNvPr>
          <p:cNvSpPr>
            <a:spLocks noGrp="1"/>
          </p:cNvSpPr>
          <p:nvPr>
            <p:ph sz="quarter" idx="13"/>
          </p:nvPr>
        </p:nvSpPr>
        <p:spPr>
          <a:xfrm>
            <a:off x="457200" y="1552576"/>
            <a:ext cx="8218488" cy="1329169"/>
          </a:xfrm>
        </p:spPr>
        <p:txBody>
          <a:bodyPr/>
          <a:lstStyle/>
          <a:p>
            <a:pPr marL="432" indent="0">
              <a:spcBef>
                <a:spcPts val="600"/>
              </a:spcBef>
              <a:buNone/>
            </a:pPr>
            <a:r>
              <a:rPr lang="en-US" sz="1600" b="1" dirty="0"/>
              <a:t>Numbers and Measurement Systems</a:t>
            </a:r>
          </a:p>
          <a:p>
            <a:pPr>
              <a:spcBef>
                <a:spcPts val="600"/>
              </a:spcBef>
            </a:pPr>
            <a:r>
              <a:rPr lang="en-US" sz="1600" dirty="0"/>
              <a:t>Necessary to quantify and compare scientific processes</a:t>
            </a:r>
          </a:p>
          <a:p>
            <a:pPr>
              <a:spcBef>
                <a:spcPts val="600"/>
              </a:spcBef>
            </a:pPr>
            <a:r>
              <a:rPr lang="en-US" sz="1600" b="1" dirty="0"/>
              <a:t>International System (S</a:t>
            </a:r>
            <a:r>
              <a:rPr lang="en-US" sz="100" b="1" dirty="0"/>
              <a:t> </a:t>
            </a:r>
            <a:r>
              <a:rPr lang="en-US" sz="1600" b="1" dirty="0"/>
              <a:t>I)</a:t>
            </a:r>
            <a:r>
              <a:rPr lang="en-US" sz="1600" dirty="0"/>
              <a:t> versus </a:t>
            </a:r>
            <a:r>
              <a:rPr lang="en-US" sz="1600" b="1" dirty="0"/>
              <a:t>English System</a:t>
            </a:r>
          </a:p>
          <a:p>
            <a:pPr lvl="1" indent="-284400"/>
            <a:r>
              <a:rPr lang="en-US" sz="1600" dirty="0"/>
              <a:t>units can be converted between systems</a:t>
            </a:r>
          </a:p>
        </p:txBody>
      </p:sp>
      <p:sp>
        <p:nvSpPr>
          <p:cNvPr id="6" name="Content Placeholder 5">
            <a:extLst>
              <a:ext uri="{FF2B5EF4-FFF2-40B4-BE49-F238E27FC236}">
                <a16:creationId xmlns:a16="http://schemas.microsoft.com/office/drawing/2014/main" id="{E74AB8F9-6A12-4E75-B2ED-B683500727A6}"/>
              </a:ext>
            </a:extLst>
          </p:cNvPr>
          <p:cNvSpPr>
            <a:spLocks noGrp="1"/>
          </p:cNvSpPr>
          <p:nvPr>
            <p:ph sz="quarter" idx="14"/>
          </p:nvPr>
        </p:nvSpPr>
        <p:spPr>
          <a:xfrm>
            <a:off x="457200" y="2933764"/>
            <a:ext cx="5088793" cy="301271"/>
          </a:xfrm>
        </p:spPr>
        <p:txBody>
          <a:bodyPr tIns="0"/>
          <a:lstStyle/>
          <a:p>
            <a:pPr marL="432" indent="0">
              <a:buNone/>
            </a:pPr>
            <a:r>
              <a:rPr lang="fr-FR" sz="1600" b="1" i="0" u="none" strike="noStrike" baseline="0" dirty="0">
                <a:solidFill>
                  <a:schemeClr val="tx1"/>
                </a:solidFill>
              </a:rPr>
              <a:t>Table 1-1</a:t>
            </a:r>
            <a:r>
              <a:rPr lang="fr-FR" sz="1600" i="0" u="none" strike="noStrike" baseline="0" dirty="0">
                <a:solidFill>
                  <a:schemeClr val="tx1"/>
                </a:solidFill>
              </a:rPr>
              <a:t> Unit Conversions—Quick Approximations</a:t>
            </a:r>
            <a:endParaRPr lang="en-IN" sz="1600" dirty="0">
              <a:solidFill>
                <a:schemeClr val="tx1"/>
              </a:solidFill>
            </a:endParaRPr>
          </a:p>
        </p:txBody>
      </p:sp>
      <p:graphicFrame>
        <p:nvGraphicFramePr>
          <p:cNvPr id="3" name="Table 3">
            <a:extLst>
              <a:ext uri="{FF2B5EF4-FFF2-40B4-BE49-F238E27FC236}">
                <a16:creationId xmlns:a16="http://schemas.microsoft.com/office/drawing/2014/main" id="{FCA05EA4-1DF8-47E8-BD4E-00E89076A573}"/>
              </a:ext>
            </a:extLst>
          </p:cNvPr>
          <p:cNvGraphicFramePr>
            <a:graphicFrameLocks noGrp="1"/>
          </p:cNvGraphicFramePr>
          <p:nvPr>
            <p:ph sz="quarter" idx="15"/>
            <p:extLst>
              <p:ext uri="{D42A27DB-BD31-4B8C-83A1-F6EECF244321}">
                <p14:modId xmlns:p14="http://schemas.microsoft.com/office/powerpoint/2010/main" val="1152299584"/>
              </p:ext>
            </p:extLst>
          </p:nvPr>
        </p:nvGraphicFramePr>
        <p:xfrm>
          <a:off x="457200" y="3287020"/>
          <a:ext cx="8229600" cy="2773680"/>
        </p:xfrm>
        <a:graphic>
          <a:graphicData uri="http://schemas.openxmlformats.org/drawingml/2006/table">
            <a:tbl>
              <a:tblPr firstRow="1" bandRow="1">
                <a:tableStyleId>{40F9630F-82C1-40B7-BC3A-925EFCFF5E92}</a:tableStyleId>
              </a:tblPr>
              <a:tblGrid>
                <a:gridCol w="1856509">
                  <a:extLst>
                    <a:ext uri="{9D8B030D-6E8A-4147-A177-3AD203B41FA5}">
                      <a16:colId xmlns:a16="http://schemas.microsoft.com/office/drawing/2014/main" val="706164765"/>
                    </a:ext>
                  </a:extLst>
                </a:gridCol>
                <a:gridCol w="2923309">
                  <a:extLst>
                    <a:ext uri="{9D8B030D-6E8A-4147-A177-3AD203B41FA5}">
                      <a16:colId xmlns:a16="http://schemas.microsoft.com/office/drawing/2014/main" val="1425864485"/>
                    </a:ext>
                  </a:extLst>
                </a:gridCol>
                <a:gridCol w="3449782">
                  <a:extLst>
                    <a:ext uri="{9D8B030D-6E8A-4147-A177-3AD203B41FA5}">
                      <a16:colId xmlns:a16="http://schemas.microsoft.com/office/drawing/2014/main" val="1310207612"/>
                    </a:ext>
                  </a:extLst>
                </a:gridCol>
              </a:tblGrid>
              <a:tr h="148157">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1" i="0" u="none" strike="noStrike" cap="none" baseline="0" dirty="0">
                          <a:solidFill>
                            <a:schemeClr val="tx1"/>
                          </a:solidFill>
                          <a:latin typeface="+mn-lt"/>
                          <a:ea typeface="Arial"/>
                          <a:cs typeface="Arial"/>
                          <a:sym typeface="Arial"/>
                        </a:rPr>
                        <a:t>S.I. to English Units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1" i="0" u="none" strike="noStrike" cap="none" baseline="0" dirty="0">
                          <a:solidFill>
                            <a:schemeClr val="tx1"/>
                          </a:solidFill>
                          <a:latin typeface="+mn-lt"/>
                          <a:ea typeface="Arial"/>
                          <a:cs typeface="Arial"/>
                          <a:sym typeface="Arial"/>
                        </a:rPr>
                        <a:t>English to S.I. Units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1523761"/>
                  </a:ext>
                </a:extLst>
              </a:tr>
              <a:tr h="148157">
                <a:tc>
                  <a:txBody>
                    <a:bodyPr/>
                    <a:lstStyle/>
                    <a:p>
                      <a:r>
                        <a:rPr lang="en-IN" sz="1200" b="1" i="0" u="none" strike="noStrike" cap="none" baseline="0" dirty="0">
                          <a:solidFill>
                            <a:schemeClr val="tx1"/>
                          </a:solidFill>
                          <a:latin typeface="+mn-lt"/>
                          <a:ea typeface="Arial"/>
                          <a:cs typeface="Arial"/>
                          <a:sym typeface="Arial"/>
                        </a:rPr>
                        <a:t>Distance:</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i="0" u="none" strike="noStrike" cap="none" baseline="0" dirty="0">
                          <a:solidFill>
                            <a:schemeClr val="tx1"/>
                          </a:solidFill>
                          <a:latin typeface="+mn-lt"/>
                          <a:ea typeface="Arial"/>
                          <a:cs typeface="Arial"/>
                          <a:sym typeface="Arial"/>
                        </a:rPr>
                        <a:t>1 centimeter = a little less than </a:t>
                      </a:r>
                      <a:r>
                        <a:rPr lang="en-US" sz="100" b="0" i="0" u="none" strike="noStrike" cap="none" dirty="0">
                          <a:solidFill>
                            <a:schemeClr val="dk1"/>
                          </a:solidFill>
                          <a:effectLst/>
                          <a:latin typeface="+mn-lt"/>
                          <a:ea typeface="Arial"/>
                          <a:cs typeface="Arial"/>
                          <a:sym typeface="Arial"/>
                        </a:rPr>
                        <a:t>half</a:t>
                      </a:r>
                      <a:r>
                        <a:rPr lang="en-US" sz="1200" b="0" i="0" u="none" strike="noStrike" cap="none" baseline="0" dirty="0">
                          <a:solidFill>
                            <a:schemeClr val="tx1"/>
                          </a:solidFill>
                          <a:latin typeface="+mn-lt"/>
                          <a:ea typeface="Arial"/>
                          <a:cs typeface="Arial"/>
                          <a:sym typeface="Arial"/>
                        </a:rPr>
                        <a:t>    inch</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i="0" u="none" strike="noStrike" cap="none" baseline="0" dirty="0">
                          <a:solidFill>
                            <a:schemeClr val="tx1"/>
                          </a:solidFill>
                          <a:latin typeface="+mn-lt"/>
                          <a:ea typeface="Arial"/>
                          <a:cs typeface="Arial"/>
                          <a:sym typeface="Arial"/>
                        </a:rPr>
                        <a:t>1 inch = about </a:t>
                      </a:r>
                      <a:r>
                        <a:rPr lang="en-US" sz="100" b="0" i="0" u="none" strike="noStrike" cap="none" dirty="0">
                          <a:solidFill>
                            <a:schemeClr val="dk1"/>
                          </a:solidFill>
                          <a:effectLst/>
                          <a:latin typeface="+mn-lt"/>
                          <a:ea typeface="Arial"/>
                          <a:cs typeface="Arial"/>
                          <a:sym typeface="Arial"/>
                        </a:rPr>
                        <a:t>2 and a half</a:t>
                      </a:r>
                      <a:r>
                        <a:rPr lang="en-IN" sz="1200" b="0" i="0" u="none" strike="noStrike" cap="none" baseline="0" dirty="0">
                          <a:solidFill>
                            <a:schemeClr val="tx1"/>
                          </a:solidFill>
                          <a:latin typeface="+mn-lt"/>
                          <a:ea typeface="Arial"/>
                          <a:cs typeface="Arial"/>
                          <a:sym typeface="Arial"/>
                        </a:rPr>
                        <a:t>     centimeters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5238746"/>
                  </a:ext>
                </a:extLst>
              </a:tr>
              <a:tr h="148157">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i="0" u="none" strike="noStrike" cap="none" baseline="0" dirty="0">
                          <a:solidFill>
                            <a:schemeClr val="tx1"/>
                          </a:solidFill>
                          <a:latin typeface="+mn-lt"/>
                          <a:ea typeface="Arial"/>
                          <a:cs typeface="Arial"/>
                          <a:sym typeface="Arial"/>
                        </a:rPr>
                        <a:t>1 meter = a little more than 3 feet</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i="0" u="none" strike="noStrike" cap="none" baseline="0" dirty="0">
                          <a:solidFill>
                            <a:schemeClr val="tx1"/>
                          </a:solidFill>
                          <a:latin typeface="+mn-lt"/>
                          <a:ea typeface="Arial"/>
                          <a:cs typeface="Arial"/>
                          <a:sym typeface="Arial"/>
                        </a:rPr>
                        <a:t>1 foot = about  </a:t>
                      </a:r>
                      <a:r>
                        <a:rPr lang="en-IN" sz="100" b="0" i="0" u="none" strike="noStrike" cap="none" baseline="0" dirty="0">
                          <a:solidFill>
                            <a:schemeClr val="tx1"/>
                          </a:solidFill>
                          <a:latin typeface="+mn-lt"/>
                          <a:ea typeface="Arial"/>
                          <a:cs typeface="Arial"/>
                          <a:sym typeface="Arial"/>
                        </a:rPr>
                        <a:t>one third</a:t>
                      </a:r>
                      <a:r>
                        <a:rPr lang="en-IN" sz="1200" b="0" i="0" u="none" strike="noStrike" cap="none" baseline="0" dirty="0">
                          <a:solidFill>
                            <a:schemeClr val="tx1"/>
                          </a:solidFill>
                          <a:latin typeface="+mn-lt"/>
                          <a:ea typeface="Arial"/>
                          <a:cs typeface="Arial"/>
                          <a:sym typeface="Arial"/>
                        </a:rPr>
                        <a:t>   meters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666387"/>
                  </a:ext>
                </a:extLst>
              </a:tr>
              <a:tr h="233659">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i="0" u="none" strike="noStrike" cap="none" baseline="0" dirty="0">
                          <a:solidFill>
                            <a:schemeClr val="tx1"/>
                          </a:solidFill>
                          <a:latin typeface="+mn-lt"/>
                          <a:ea typeface="Arial"/>
                          <a:cs typeface="Arial"/>
                          <a:sym typeface="Arial"/>
                        </a:rPr>
                        <a:t>1 kilometer = about </a:t>
                      </a:r>
                      <a:r>
                        <a:rPr lang="en-US" sz="100" b="0" i="0" u="none" strike="noStrike" cap="none" dirty="0">
                          <a:solidFill>
                            <a:schemeClr val="dk1"/>
                          </a:solidFill>
                          <a:effectLst/>
                          <a:latin typeface="+mn-lt"/>
                          <a:ea typeface="Arial"/>
                          <a:cs typeface="Arial"/>
                          <a:sym typeface="Arial"/>
                        </a:rPr>
                        <a:t>2 thirds</a:t>
                      </a:r>
                      <a:r>
                        <a:rPr lang="en-US" sz="1400" b="0" i="0" u="none" strike="noStrike" cap="none" dirty="0">
                          <a:solidFill>
                            <a:schemeClr val="dk1"/>
                          </a:solidFill>
                          <a:effectLst/>
                          <a:latin typeface="+mn-lt"/>
                          <a:ea typeface="Arial"/>
                          <a:cs typeface="Arial"/>
                          <a:sym typeface="Arial"/>
                        </a:rPr>
                        <a:t>   </a:t>
                      </a:r>
                      <a:r>
                        <a:rPr lang="en-IN" sz="1200" b="0" i="0" u="none" strike="noStrike" cap="none" baseline="0" dirty="0">
                          <a:solidFill>
                            <a:schemeClr val="tx1"/>
                          </a:solidFill>
                          <a:latin typeface="+mn-lt"/>
                          <a:ea typeface="Arial"/>
                          <a:cs typeface="Arial"/>
                          <a:sym typeface="Arial"/>
                        </a:rPr>
                        <a:t>mile</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i="0" u="none" strike="noStrike" cap="none" baseline="0" dirty="0">
                          <a:solidFill>
                            <a:schemeClr val="tx1"/>
                          </a:solidFill>
                          <a:latin typeface="+mn-lt"/>
                          <a:ea typeface="Arial"/>
                          <a:cs typeface="Arial"/>
                          <a:sym typeface="Arial"/>
                        </a:rPr>
                        <a:t>1 yard = about 1 meter</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552682"/>
                  </a:ext>
                </a:extLst>
              </a:tr>
              <a:tr h="148157">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i="0" u="none" strike="noStrike" cap="none" baseline="0" dirty="0">
                          <a:solidFill>
                            <a:schemeClr val="tx1"/>
                          </a:solidFill>
                          <a:latin typeface="+mn-lt"/>
                          <a:ea typeface="Arial"/>
                          <a:cs typeface="Arial"/>
                          <a:sym typeface="Arial"/>
                        </a:rPr>
                        <a:t>1 mile = about  </a:t>
                      </a:r>
                      <a:r>
                        <a:rPr lang="en-US" sz="100" b="0" i="0" u="none" strike="noStrike" cap="none" dirty="0">
                          <a:solidFill>
                            <a:schemeClr val="dk1"/>
                          </a:solidFill>
                          <a:effectLst/>
                          <a:latin typeface="+mn-lt"/>
                          <a:ea typeface="Arial"/>
                          <a:cs typeface="Arial"/>
                          <a:sym typeface="Arial"/>
                        </a:rPr>
                        <a:t>1 and a half </a:t>
                      </a:r>
                      <a:r>
                        <a:rPr lang="en-IN" sz="1200" b="0" i="0" u="none" strike="noStrike" cap="none" baseline="0" dirty="0">
                          <a:solidFill>
                            <a:schemeClr val="tx1"/>
                          </a:solidFill>
                          <a:latin typeface="+mn-lt"/>
                          <a:ea typeface="Arial"/>
                          <a:cs typeface="Arial"/>
                          <a:sym typeface="Arial"/>
                        </a:rPr>
                        <a:t>   kilometers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4989710"/>
                  </a:ext>
                </a:extLst>
              </a:tr>
              <a:tr h="148157">
                <a:tc>
                  <a:txBody>
                    <a:bodyPr/>
                    <a:lstStyle/>
                    <a:p>
                      <a:r>
                        <a:rPr lang="en-IN" sz="1200" b="1" i="0" u="none" strike="noStrike" cap="none" baseline="0" dirty="0">
                          <a:solidFill>
                            <a:schemeClr val="tx1"/>
                          </a:solidFill>
                          <a:latin typeface="+mn-lt"/>
                          <a:ea typeface="Arial"/>
                          <a:cs typeface="Arial"/>
                          <a:sym typeface="Arial"/>
                        </a:rPr>
                        <a:t>Volume:</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i="0" u="none" strike="noStrike" cap="none" baseline="0" dirty="0">
                          <a:solidFill>
                            <a:schemeClr val="tx1"/>
                          </a:solidFill>
                          <a:latin typeface="+mn-lt"/>
                          <a:ea typeface="Arial"/>
                          <a:cs typeface="Arial"/>
                          <a:sym typeface="Arial"/>
                        </a:rPr>
                        <a:t>1 liter = about 1 quart</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i="0" u="none" strike="noStrike" cap="none" baseline="0" dirty="0">
                          <a:solidFill>
                            <a:schemeClr val="tx1"/>
                          </a:solidFill>
                          <a:latin typeface="+mn-lt"/>
                          <a:ea typeface="Arial"/>
                          <a:cs typeface="Arial"/>
                          <a:sym typeface="Arial"/>
                        </a:rPr>
                        <a:t>1 quart = about 1 liter</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8019293"/>
                  </a:ext>
                </a:extLst>
              </a:tr>
              <a:tr h="148157">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i="0" u="none" strike="noStrike" cap="none" baseline="0" dirty="0">
                          <a:solidFill>
                            <a:schemeClr val="tx1"/>
                          </a:solidFill>
                          <a:latin typeface="+mn-lt"/>
                          <a:ea typeface="Arial"/>
                          <a:cs typeface="Arial"/>
                          <a:sym typeface="Arial"/>
                        </a:rPr>
                        <a:t>1 gallon = about 4 liters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4703719"/>
                  </a:ext>
                </a:extLst>
              </a:tr>
              <a:tr h="148157">
                <a:tc>
                  <a:txBody>
                    <a:bodyPr/>
                    <a:lstStyle/>
                    <a:p>
                      <a:r>
                        <a:rPr lang="en-IN" sz="1200" b="1" i="0" u="none" strike="noStrike" cap="none" baseline="0" dirty="0">
                          <a:solidFill>
                            <a:schemeClr val="tx1"/>
                          </a:solidFill>
                          <a:latin typeface="+mn-lt"/>
                          <a:ea typeface="Arial"/>
                          <a:cs typeface="Arial"/>
                          <a:sym typeface="Arial"/>
                        </a:rPr>
                        <a:t>Mass: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i="0" u="none" strike="noStrike" cap="none" baseline="0" dirty="0">
                          <a:solidFill>
                            <a:schemeClr val="tx1"/>
                          </a:solidFill>
                          <a:latin typeface="+mn-lt"/>
                          <a:ea typeface="Arial"/>
                          <a:cs typeface="Arial"/>
                          <a:sym typeface="Arial"/>
                        </a:rPr>
                        <a:t>gram = about </a:t>
                      </a:r>
                      <a:r>
                        <a:rPr lang="en-US" sz="100" b="0" i="0" u="none" strike="noStrike" cap="none" dirty="0">
                          <a:solidFill>
                            <a:schemeClr val="dk1"/>
                          </a:solidFill>
                          <a:effectLst/>
                          <a:latin typeface="+mn-lt"/>
                          <a:ea typeface="Arial"/>
                          <a:cs typeface="Arial"/>
                          <a:sym typeface="Arial"/>
                        </a:rPr>
                        <a:t>1 thirtieth</a:t>
                      </a:r>
                      <a:r>
                        <a:rPr lang="en-IN" sz="1200" b="0" i="0" u="none" strike="noStrike" cap="none" baseline="0" dirty="0">
                          <a:solidFill>
                            <a:schemeClr val="tx1"/>
                          </a:solidFill>
                          <a:latin typeface="+mn-lt"/>
                          <a:ea typeface="Arial"/>
                          <a:cs typeface="Arial"/>
                          <a:sym typeface="Arial"/>
                        </a:rPr>
                        <a:t>     ounce</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i="0" u="none" strike="noStrike" cap="none" baseline="0" dirty="0">
                          <a:solidFill>
                            <a:schemeClr val="tx1"/>
                          </a:solidFill>
                          <a:latin typeface="+mn-lt"/>
                          <a:ea typeface="Arial"/>
                          <a:cs typeface="Arial"/>
                          <a:sym typeface="Arial"/>
                        </a:rPr>
                        <a:t>1 ounce = about 30 grams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490412"/>
                  </a:ext>
                </a:extLst>
              </a:tr>
              <a:tr h="148157">
                <a:tc>
                  <a:txBody>
                    <a:bodyPr/>
                    <a:lstStyle/>
                    <a:p>
                      <a:r>
                        <a:rPr lang="en-US" sz="100" dirty="0">
                          <a:solidFill>
                            <a:schemeClr val="tx1"/>
                          </a:solidFill>
                          <a:latin typeface="+mn-lt"/>
                        </a:rPr>
                        <a:t>Blank</a:t>
                      </a:r>
                      <a:endParaRPr lang="en-IN" sz="1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i="0" u="none" strike="noStrike" cap="none" baseline="0" dirty="0">
                          <a:solidFill>
                            <a:schemeClr val="tx1"/>
                          </a:solidFill>
                          <a:latin typeface="+mn-lt"/>
                          <a:ea typeface="Arial"/>
                          <a:cs typeface="Arial"/>
                          <a:sym typeface="Arial"/>
                        </a:rPr>
                        <a:t>1 kilogram 5 about 2 pounds</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0" i="0" u="none" strike="noStrike" cap="none" baseline="0" dirty="0">
                          <a:solidFill>
                            <a:schemeClr val="tx1"/>
                          </a:solidFill>
                          <a:latin typeface="+mn-lt"/>
                          <a:ea typeface="Arial"/>
                          <a:cs typeface="Arial"/>
                          <a:sym typeface="Arial"/>
                        </a:rPr>
                        <a:t>1 pound = about </a:t>
                      </a:r>
                      <a:r>
                        <a:rPr lang="en-US" sz="100" b="0" i="0" u="none" strike="noStrike" cap="none" dirty="0">
                          <a:solidFill>
                            <a:schemeClr val="dk1"/>
                          </a:solidFill>
                          <a:effectLst/>
                          <a:latin typeface="+mn-lt"/>
                          <a:ea typeface="Arial"/>
                          <a:cs typeface="Arial"/>
                          <a:sym typeface="Arial"/>
                        </a:rPr>
                        <a:t>half</a:t>
                      </a:r>
                      <a:r>
                        <a:rPr lang="en-IN" sz="1200" b="0" i="0" u="none" strike="noStrike" cap="none" baseline="0" dirty="0">
                          <a:solidFill>
                            <a:schemeClr val="tx1"/>
                          </a:solidFill>
                          <a:latin typeface="+mn-lt"/>
                          <a:ea typeface="Arial"/>
                          <a:cs typeface="Arial"/>
                          <a:sym typeface="Arial"/>
                        </a:rPr>
                        <a:t>    kilogram</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0415648"/>
                  </a:ext>
                </a:extLst>
              </a:tr>
              <a:tr h="0">
                <a:tc>
                  <a:txBody>
                    <a:bodyPr/>
                    <a:lstStyle/>
                    <a:p>
                      <a:r>
                        <a:rPr lang="en-IN" sz="1200" b="1" i="0" u="none" strike="noStrike" cap="none" baseline="0" dirty="0">
                          <a:solidFill>
                            <a:schemeClr val="tx1"/>
                          </a:solidFill>
                          <a:latin typeface="+mn-lt"/>
                          <a:ea typeface="Arial"/>
                          <a:cs typeface="Arial"/>
                          <a:sym typeface="Arial"/>
                        </a:rPr>
                        <a:t>Temperature:</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 b="0" i="0" u="none" strike="noStrike" cap="none" dirty="0">
                          <a:solidFill>
                            <a:schemeClr val="dk1"/>
                          </a:solidFill>
                          <a:effectLst/>
                          <a:latin typeface="+mn-lt"/>
                          <a:ea typeface="Arial"/>
                          <a:cs typeface="Arial"/>
                          <a:sym typeface="Arial"/>
                        </a:rPr>
                        <a:t>1 degree Celsius</a:t>
                      </a:r>
                      <a:r>
                        <a:rPr lang="en-IN" sz="1200" b="0" i="0" u="none" strike="noStrike" cap="none" baseline="0" dirty="0">
                          <a:solidFill>
                            <a:schemeClr val="tx1"/>
                          </a:solidFill>
                          <a:latin typeface="+mn-lt"/>
                          <a:ea typeface="Arial"/>
                          <a:cs typeface="Arial"/>
                          <a:sym typeface="Arial"/>
                        </a:rPr>
                        <a:t>     change =  </a:t>
                      </a:r>
                      <a:r>
                        <a:rPr lang="en-US" sz="100" b="0" i="0" u="none" strike="noStrike" cap="none" dirty="0">
                          <a:solidFill>
                            <a:schemeClr val="dk1"/>
                          </a:solidFill>
                          <a:effectLst/>
                          <a:latin typeface="+mn-lt"/>
                          <a:ea typeface="Arial"/>
                          <a:cs typeface="Arial"/>
                          <a:sym typeface="Arial"/>
                        </a:rPr>
                        <a:t>1.8 degrees Fahrenheit </a:t>
                      </a:r>
                      <a:r>
                        <a:rPr lang="en-IN" sz="1200" b="0" i="0" u="none" strike="noStrike" cap="none" baseline="0" dirty="0">
                          <a:solidFill>
                            <a:schemeClr val="tx1"/>
                          </a:solidFill>
                          <a:latin typeface="+mn-lt"/>
                          <a:ea typeface="Arial"/>
                          <a:cs typeface="Arial"/>
                          <a:sym typeface="Arial"/>
                        </a:rPr>
                        <a:t>     change</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 b="0" i="0" u="none" strike="noStrike" cap="none" dirty="0">
                          <a:solidFill>
                            <a:schemeClr val="dk1"/>
                          </a:solidFill>
                          <a:effectLst/>
                          <a:latin typeface="+mn-lt"/>
                          <a:ea typeface="Arial"/>
                          <a:cs typeface="Arial"/>
                          <a:sym typeface="Arial"/>
                        </a:rPr>
                        <a:t>1 degrees Fahrenheit </a:t>
                      </a:r>
                      <a:r>
                        <a:rPr lang="en-US" sz="1200" b="0" i="0" u="none" strike="noStrike" cap="none" baseline="0" dirty="0">
                          <a:solidFill>
                            <a:schemeClr val="tx1"/>
                          </a:solidFill>
                          <a:latin typeface="+mn-lt"/>
                          <a:ea typeface="Arial"/>
                          <a:cs typeface="Arial"/>
                          <a:sym typeface="Arial"/>
                        </a:rPr>
                        <a:t>    change 5 about </a:t>
                      </a:r>
                      <a:r>
                        <a:rPr lang="en-US" sz="100" b="0" i="0" u="none" strike="noStrike" cap="none" dirty="0">
                          <a:solidFill>
                            <a:schemeClr val="dk1"/>
                          </a:solidFill>
                          <a:effectLst/>
                          <a:latin typeface="+mn-lt"/>
                          <a:ea typeface="Arial"/>
                          <a:cs typeface="Arial"/>
                          <a:sym typeface="Arial"/>
                        </a:rPr>
                        <a:t>0.6 degrees </a:t>
                      </a:r>
                      <a:r>
                        <a:rPr lang="en-US" sz="1200" b="0" i="0" u="none" strike="noStrike" cap="none" baseline="0" dirty="0">
                          <a:solidFill>
                            <a:schemeClr val="tx1"/>
                          </a:solidFill>
                          <a:latin typeface="+mn-lt"/>
                          <a:ea typeface="Arial"/>
                          <a:cs typeface="Arial"/>
                          <a:sym typeface="Arial"/>
                        </a:rPr>
                        <a:t>        change</a:t>
                      </a:r>
                      <a:endParaRPr lang="en-IN" sz="1200" dirty="0">
                        <a:solidFill>
                          <a:schemeClr val="tx1"/>
                        </a:solidFill>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7793"/>
                  </a:ext>
                </a:extLst>
              </a:tr>
            </a:tbl>
          </a:graphicData>
        </a:graphic>
      </p:graphicFrame>
      <p:graphicFrame>
        <p:nvGraphicFramePr>
          <p:cNvPr id="4" name="Object 3">
            <a:extLst>
              <a:ext uri="{FF2B5EF4-FFF2-40B4-BE49-F238E27FC236}">
                <a16:creationId xmlns:a16="http://schemas.microsoft.com/office/drawing/2014/main" id="{912C6B2B-7BDF-4DD9-9528-643401D31CDA}"/>
              </a:ext>
            </a:extLst>
          </p:cNvPr>
          <p:cNvGraphicFramePr>
            <a:graphicFrameLocks noChangeAspect="1"/>
          </p:cNvGraphicFramePr>
          <p:nvPr>
            <p:extLst>
              <p:ext uri="{D42A27DB-BD31-4B8C-83A1-F6EECF244321}">
                <p14:modId xmlns:p14="http://schemas.microsoft.com/office/powerpoint/2010/main" val="4016791869"/>
              </p:ext>
            </p:extLst>
          </p:nvPr>
        </p:nvGraphicFramePr>
        <p:xfrm>
          <a:off x="4489893" y="3595512"/>
          <a:ext cx="152667" cy="200376"/>
        </p:xfrm>
        <a:graphic>
          <a:graphicData uri="http://schemas.openxmlformats.org/presentationml/2006/ole">
            <mc:AlternateContent xmlns:mc="http://schemas.openxmlformats.org/markup-compatibility/2006">
              <mc:Choice xmlns:v="urn:schemas-microsoft-com:vml" Requires="v">
                <p:oleObj name="Equation" r:id="rId3" imgW="203040" imgH="266400" progId="Equation.DSMT4">
                  <p:embed/>
                </p:oleObj>
              </mc:Choice>
              <mc:Fallback>
                <p:oleObj name="Equation" r:id="rId3" imgW="203040" imgH="266400" progId="Equation.DSMT4">
                  <p:embed/>
                  <p:pic>
                    <p:nvPicPr>
                      <p:cNvPr id="0" name=""/>
                      <p:cNvPicPr/>
                      <p:nvPr/>
                    </p:nvPicPr>
                    <p:blipFill>
                      <a:blip r:embed="rId4"/>
                      <a:stretch>
                        <a:fillRect/>
                      </a:stretch>
                    </p:blipFill>
                    <p:spPr>
                      <a:xfrm>
                        <a:off x="4489893" y="3595512"/>
                        <a:ext cx="152667" cy="200376"/>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33E397ED-1DE2-471A-9549-2121F4276317}"/>
              </a:ext>
            </a:extLst>
          </p:cNvPr>
          <p:cNvGraphicFramePr>
            <a:graphicFrameLocks noChangeAspect="1"/>
          </p:cNvGraphicFramePr>
          <p:nvPr>
            <p:extLst>
              <p:ext uri="{D42A27DB-BD31-4B8C-83A1-F6EECF244321}">
                <p14:modId xmlns:p14="http://schemas.microsoft.com/office/powerpoint/2010/main" val="3316606114"/>
              </p:ext>
            </p:extLst>
          </p:nvPr>
        </p:nvGraphicFramePr>
        <p:xfrm>
          <a:off x="6341696" y="3624005"/>
          <a:ext cx="216477" cy="181841"/>
        </p:xfrm>
        <a:graphic>
          <a:graphicData uri="http://schemas.openxmlformats.org/presentationml/2006/ole">
            <mc:AlternateContent xmlns:mc="http://schemas.openxmlformats.org/markup-compatibility/2006">
              <mc:Choice xmlns:v="urn:schemas-microsoft-com:vml" Requires="v">
                <p:oleObj name="Equation" r:id="rId5" imgW="317160" imgH="266400" progId="Equation.DSMT4">
                  <p:embed/>
                </p:oleObj>
              </mc:Choice>
              <mc:Fallback>
                <p:oleObj name="Equation" r:id="rId5" imgW="317160" imgH="266400" progId="Equation.DSMT4">
                  <p:embed/>
                  <p:pic>
                    <p:nvPicPr>
                      <p:cNvPr id="4" name="Object 3">
                        <a:extLst>
                          <a:ext uri="{FF2B5EF4-FFF2-40B4-BE49-F238E27FC236}">
                            <a16:creationId xmlns:a16="http://schemas.microsoft.com/office/drawing/2014/main" id="{912C6B2B-7BDF-4DD9-9528-643401D31CDA}"/>
                          </a:ext>
                        </a:extLst>
                      </p:cNvPr>
                      <p:cNvPicPr/>
                      <p:nvPr/>
                    </p:nvPicPr>
                    <p:blipFill>
                      <a:blip r:embed="rId6"/>
                      <a:stretch>
                        <a:fillRect/>
                      </a:stretch>
                    </p:blipFill>
                    <p:spPr>
                      <a:xfrm>
                        <a:off x="6341696" y="3624005"/>
                        <a:ext cx="216477" cy="181841"/>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1B53B625-BBBF-4D9B-908D-EFD6E32CF937}"/>
              </a:ext>
            </a:extLst>
          </p:cNvPr>
          <p:cNvGraphicFramePr>
            <a:graphicFrameLocks noChangeAspect="1"/>
          </p:cNvGraphicFramePr>
          <p:nvPr>
            <p:extLst>
              <p:ext uri="{D42A27DB-BD31-4B8C-83A1-F6EECF244321}">
                <p14:modId xmlns:p14="http://schemas.microsoft.com/office/powerpoint/2010/main" val="3262626447"/>
              </p:ext>
            </p:extLst>
          </p:nvPr>
        </p:nvGraphicFramePr>
        <p:xfrm>
          <a:off x="6338258" y="3838781"/>
          <a:ext cx="167934" cy="220414"/>
        </p:xfrm>
        <a:graphic>
          <a:graphicData uri="http://schemas.openxmlformats.org/presentationml/2006/ole">
            <mc:AlternateContent xmlns:mc="http://schemas.openxmlformats.org/markup-compatibility/2006">
              <mc:Choice xmlns:v="urn:schemas-microsoft-com:vml" Requires="v">
                <p:oleObj name="Equation" r:id="rId7" imgW="203040" imgH="266400" progId="Equation.DSMT4">
                  <p:embed/>
                </p:oleObj>
              </mc:Choice>
              <mc:Fallback>
                <p:oleObj name="Equation" r:id="rId7" imgW="203040" imgH="266400" progId="Equation.DSMT4">
                  <p:embed/>
                  <p:pic>
                    <p:nvPicPr>
                      <p:cNvPr id="10" name="Object 9">
                        <a:extLst>
                          <a:ext uri="{FF2B5EF4-FFF2-40B4-BE49-F238E27FC236}">
                            <a16:creationId xmlns:a16="http://schemas.microsoft.com/office/drawing/2014/main" id="{33EAF063-1EFC-486A-9285-0398C0C470A8}"/>
                          </a:ext>
                        </a:extLst>
                      </p:cNvPr>
                      <p:cNvPicPr/>
                      <p:nvPr/>
                    </p:nvPicPr>
                    <p:blipFill>
                      <a:blip r:embed="rId8"/>
                      <a:stretch>
                        <a:fillRect/>
                      </a:stretch>
                    </p:blipFill>
                    <p:spPr>
                      <a:xfrm>
                        <a:off x="6338258" y="3838781"/>
                        <a:ext cx="167934" cy="220414"/>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33EAF063-1EFC-486A-9285-0398C0C470A8}"/>
              </a:ext>
            </a:extLst>
          </p:cNvPr>
          <p:cNvGraphicFramePr>
            <a:graphicFrameLocks noChangeAspect="1"/>
          </p:cNvGraphicFramePr>
          <p:nvPr>
            <p:extLst>
              <p:ext uri="{D42A27DB-BD31-4B8C-83A1-F6EECF244321}">
                <p14:modId xmlns:p14="http://schemas.microsoft.com/office/powerpoint/2010/main" val="1742526459"/>
              </p:ext>
            </p:extLst>
          </p:nvPr>
        </p:nvGraphicFramePr>
        <p:xfrm>
          <a:off x="3734692" y="4159590"/>
          <a:ext cx="167934" cy="220414"/>
        </p:xfrm>
        <a:graphic>
          <a:graphicData uri="http://schemas.openxmlformats.org/presentationml/2006/ole">
            <mc:AlternateContent xmlns:mc="http://schemas.openxmlformats.org/markup-compatibility/2006">
              <mc:Choice xmlns:v="urn:schemas-microsoft-com:vml" Requires="v">
                <p:oleObj name="Equation" r:id="rId9" imgW="203040" imgH="266400" progId="Equation.DSMT4">
                  <p:embed/>
                </p:oleObj>
              </mc:Choice>
              <mc:Fallback>
                <p:oleObj name="Equation" r:id="rId9" imgW="203040" imgH="266400" progId="Equation.DSMT4">
                  <p:embed/>
                  <p:pic>
                    <p:nvPicPr>
                      <p:cNvPr id="0" name=""/>
                      <p:cNvPicPr/>
                      <p:nvPr/>
                    </p:nvPicPr>
                    <p:blipFill>
                      <a:blip r:embed="rId10"/>
                      <a:stretch>
                        <a:fillRect/>
                      </a:stretch>
                    </p:blipFill>
                    <p:spPr>
                      <a:xfrm>
                        <a:off x="3734692" y="4159590"/>
                        <a:ext cx="167934" cy="220414"/>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9A292DA3-1553-4355-99AC-AC387CC85129}"/>
              </a:ext>
            </a:extLst>
          </p:cNvPr>
          <p:cNvGraphicFramePr>
            <a:graphicFrameLocks noChangeAspect="1"/>
          </p:cNvGraphicFramePr>
          <p:nvPr>
            <p:extLst>
              <p:ext uri="{D42A27DB-BD31-4B8C-83A1-F6EECF244321}">
                <p14:modId xmlns:p14="http://schemas.microsoft.com/office/powerpoint/2010/main" val="3846960652"/>
              </p:ext>
            </p:extLst>
          </p:nvPr>
        </p:nvGraphicFramePr>
        <p:xfrm>
          <a:off x="6347783" y="4464470"/>
          <a:ext cx="188913" cy="180975"/>
        </p:xfrm>
        <a:graphic>
          <a:graphicData uri="http://schemas.openxmlformats.org/presentationml/2006/ole">
            <mc:AlternateContent xmlns:mc="http://schemas.openxmlformats.org/markup-compatibility/2006">
              <mc:Choice xmlns:v="urn:schemas-microsoft-com:vml" Requires="v">
                <p:oleObj name="Equation" r:id="rId11" imgW="279360" imgH="266400" progId="Equation.DSMT4">
                  <p:embed/>
                </p:oleObj>
              </mc:Choice>
              <mc:Fallback>
                <p:oleObj name="Equation" r:id="rId11" imgW="279360" imgH="266400" progId="Equation.DSMT4">
                  <p:embed/>
                  <p:pic>
                    <p:nvPicPr>
                      <p:cNvPr id="9" name="Object 8">
                        <a:extLst>
                          <a:ext uri="{FF2B5EF4-FFF2-40B4-BE49-F238E27FC236}">
                            <a16:creationId xmlns:a16="http://schemas.microsoft.com/office/drawing/2014/main" id="{33E397ED-1DE2-471A-9549-2121F4276317}"/>
                          </a:ext>
                        </a:extLst>
                      </p:cNvPr>
                      <p:cNvPicPr/>
                      <p:nvPr/>
                    </p:nvPicPr>
                    <p:blipFill>
                      <a:blip r:embed="rId12"/>
                      <a:stretch>
                        <a:fillRect/>
                      </a:stretch>
                    </p:blipFill>
                    <p:spPr>
                      <a:xfrm>
                        <a:off x="6347783" y="4464470"/>
                        <a:ext cx="188913" cy="180975"/>
                      </a:xfrm>
                      <a:prstGeom prst="rect">
                        <a:avLst/>
                      </a:prstGeom>
                      <a:solidFill>
                        <a:schemeClr val="bg1"/>
                      </a:solidFill>
                    </p:spPr>
                  </p:pic>
                </p:oleObj>
              </mc:Fallback>
            </mc:AlternateContent>
          </a:graphicData>
        </a:graphic>
      </p:graphicFrame>
      <p:graphicFrame>
        <p:nvGraphicFramePr>
          <p:cNvPr id="14" name="Object 13">
            <a:extLst>
              <a:ext uri="{FF2B5EF4-FFF2-40B4-BE49-F238E27FC236}">
                <a16:creationId xmlns:a16="http://schemas.microsoft.com/office/drawing/2014/main" id="{E79AF1D1-2903-4E60-9E43-FA40EFE73875}"/>
              </a:ext>
            </a:extLst>
          </p:cNvPr>
          <p:cNvGraphicFramePr>
            <a:graphicFrameLocks noChangeAspect="1"/>
          </p:cNvGraphicFramePr>
          <p:nvPr>
            <p:extLst>
              <p:ext uri="{D42A27DB-BD31-4B8C-83A1-F6EECF244321}">
                <p14:modId xmlns:p14="http://schemas.microsoft.com/office/powerpoint/2010/main" val="266904227"/>
              </p:ext>
            </p:extLst>
          </p:nvPr>
        </p:nvGraphicFramePr>
        <p:xfrm>
          <a:off x="3357707" y="5266026"/>
          <a:ext cx="209550" cy="200025"/>
        </p:xfrm>
        <a:graphic>
          <a:graphicData uri="http://schemas.openxmlformats.org/presentationml/2006/ole">
            <mc:AlternateContent xmlns:mc="http://schemas.openxmlformats.org/markup-compatibility/2006">
              <mc:Choice xmlns:v="urn:schemas-microsoft-com:vml" Requires="v">
                <p:oleObj name="Equation" r:id="rId13" imgW="279360" imgH="266400" progId="Equation.DSMT4">
                  <p:embed/>
                </p:oleObj>
              </mc:Choice>
              <mc:Fallback>
                <p:oleObj name="Equation" r:id="rId13" imgW="279360" imgH="266400" progId="Equation.DSMT4">
                  <p:embed/>
                  <p:pic>
                    <p:nvPicPr>
                      <p:cNvPr id="4" name="Object 3">
                        <a:extLst>
                          <a:ext uri="{FF2B5EF4-FFF2-40B4-BE49-F238E27FC236}">
                            <a16:creationId xmlns:a16="http://schemas.microsoft.com/office/drawing/2014/main" id="{912C6B2B-7BDF-4DD9-9528-643401D31CDA}"/>
                          </a:ext>
                        </a:extLst>
                      </p:cNvPr>
                      <p:cNvPicPr/>
                      <p:nvPr/>
                    </p:nvPicPr>
                    <p:blipFill>
                      <a:blip r:embed="rId14"/>
                      <a:stretch>
                        <a:fillRect/>
                      </a:stretch>
                    </p:blipFill>
                    <p:spPr>
                      <a:xfrm>
                        <a:off x="3357707" y="5266026"/>
                        <a:ext cx="209550" cy="200025"/>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26CA5CA9-D488-4BBE-B3BB-7A86EEA080FF}"/>
              </a:ext>
            </a:extLst>
          </p:cNvPr>
          <p:cNvGraphicFramePr>
            <a:graphicFrameLocks noChangeAspect="1"/>
          </p:cNvGraphicFramePr>
          <p:nvPr>
            <p:extLst>
              <p:ext uri="{D42A27DB-BD31-4B8C-83A1-F6EECF244321}">
                <p14:modId xmlns:p14="http://schemas.microsoft.com/office/powerpoint/2010/main" val="1659838430"/>
              </p:ext>
            </p:extLst>
          </p:nvPr>
        </p:nvGraphicFramePr>
        <p:xfrm>
          <a:off x="6468119" y="5521294"/>
          <a:ext cx="152667" cy="200376"/>
        </p:xfrm>
        <a:graphic>
          <a:graphicData uri="http://schemas.openxmlformats.org/presentationml/2006/ole">
            <mc:AlternateContent xmlns:mc="http://schemas.openxmlformats.org/markup-compatibility/2006">
              <mc:Choice xmlns:v="urn:schemas-microsoft-com:vml" Requires="v">
                <p:oleObj name="Equation" r:id="rId3" imgW="203040" imgH="266400" progId="Equation.DSMT4">
                  <p:embed/>
                </p:oleObj>
              </mc:Choice>
              <mc:Fallback>
                <p:oleObj name="Equation" r:id="rId3" imgW="203040" imgH="266400" progId="Equation.DSMT4">
                  <p:embed/>
                  <p:pic>
                    <p:nvPicPr>
                      <p:cNvPr id="4" name="Object 3">
                        <a:extLst>
                          <a:ext uri="{FF2B5EF4-FFF2-40B4-BE49-F238E27FC236}">
                            <a16:creationId xmlns:a16="http://schemas.microsoft.com/office/drawing/2014/main" id="{912C6B2B-7BDF-4DD9-9528-643401D31CDA}"/>
                          </a:ext>
                        </a:extLst>
                      </p:cNvPr>
                      <p:cNvPicPr/>
                      <p:nvPr/>
                    </p:nvPicPr>
                    <p:blipFill>
                      <a:blip r:embed="rId4"/>
                      <a:stretch>
                        <a:fillRect/>
                      </a:stretch>
                    </p:blipFill>
                    <p:spPr>
                      <a:xfrm>
                        <a:off x="6468119" y="5521294"/>
                        <a:ext cx="152667" cy="200376"/>
                      </a:xfrm>
                      <a:prstGeom prst="rect">
                        <a:avLst/>
                      </a:prstGeom>
                      <a:solidFill>
                        <a:schemeClr val="bg1"/>
                      </a:solidFill>
                    </p:spPr>
                  </p:pic>
                </p:oleObj>
              </mc:Fallback>
            </mc:AlternateContent>
          </a:graphicData>
        </a:graphic>
      </p:graphicFrame>
      <p:graphicFrame>
        <p:nvGraphicFramePr>
          <p:cNvPr id="17" name="Object 16">
            <a:extLst>
              <a:ext uri="{FF2B5EF4-FFF2-40B4-BE49-F238E27FC236}">
                <a16:creationId xmlns:a16="http://schemas.microsoft.com/office/drawing/2014/main" id="{B59024EA-00D1-4055-BDC9-68DC8A51E821}"/>
              </a:ext>
            </a:extLst>
          </p:cNvPr>
          <p:cNvGraphicFramePr>
            <a:graphicFrameLocks noChangeAspect="1"/>
          </p:cNvGraphicFramePr>
          <p:nvPr>
            <p:extLst>
              <p:ext uri="{D42A27DB-BD31-4B8C-83A1-F6EECF244321}">
                <p14:modId xmlns:p14="http://schemas.microsoft.com/office/powerpoint/2010/main" val="1622235995"/>
              </p:ext>
            </p:extLst>
          </p:nvPr>
        </p:nvGraphicFramePr>
        <p:xfrm>
          <a:off x="2385178" y="5834643"/>
          <a:ext cx="275622" cy="169613"/>
        </p:xfrm>
        <a:graphic>
          <a:graphicData uri="http://schemas.openxmlformats.org/presentationml/2006/ole">
            <mc:AlternateContent xmlns:mc="http://schemas.openxmlformats.org/markup-compatibility/2006">
              <mc:Choice xmlns:v="urn:schemas-microsoft-com:vml" Requires="v">
                <p:oleObj name="Equation" r:id="rId15" imgW="330120" imgH="203040" progId="Equation.DSMT4">
                  <p:embed/>
                </p:oleObj>
              </mc:Choice>
              <mc:Fallback>
                <p:oleObj name="Equation" r:id="rId15" imgW="330120" imgH="203040" progId="Equation.DSMT4">
                  <p:embed/>
                  <p:pic>
                    <p:nvPicPr>
                      <p:cNvPr id="0" name=""/>
                      <p:cNvPicPr/>
                      <p:nvPr/>
                    </p:nvPicPr>
                    <p:blipFill>
                      <a:blip r:embed="rId16"/>
                      <a:stretch>
                        <a:fillRect/>
                      </a:stretch>
                    </p:blipFill>
                    <p:spPr>
                      <a:xfrm>
                        <a:off x="2385178" y="5834643"/>
                        <a:ext cx="275622" cy="169613"/>
                      </a:xfrm>
                      <a:prstGeom prst="rect">
                        <a:avLst/>
                      </a:prstGeom>
                      <a:solidFill>
                        <a:schemeClr val="bg1"/>
                      </a:solidFill>
                    </p:spPr>
                  </p:pic>
                </p:oleObj>
              </mc:Fallback>
            </mc:AlternateContent>
          </a:graphicData>
        </a:graphic>
      </p:graphicFrame>
      <p:graphicFrame>
        <p:nvGraphicFramePr>
          <p:cNvPr id="18" name="Object 17">
            <a:extLst>
              <a:ext uri="{FF2B5EF4-FFF2-40B4-BE49-F238E27FC236}">
                <a16:creationId xmlns:a16="http://schemas.microsoft.com/office/drawing/2014/main" id="{AC7B7A1D-7C16-48C8-8857-95E13454869A}"/>
              </a:ext>
            </a:extLst>
          </p:cNvPr>
          <p:cNvGraphicFramePr>
            <a:graphicFrameLocks noChangeAspect="1"/>
          </p:cNvGraphicFramePr>
          <p:nvPr>
            <p:extLst>
              <p:ext uri="{D42A27DB-BD31-4B8C-83A1-F6EECF244321}">
                <p14:modId xmlns:p14="http://schemas.microsoft.com/office/powerpoint/2010/main" val="501267214"/>
              </p:ext>
            </p:extLst>
          </p:nvPr>
        </p:nvGraphicFramePr>
        <p:xfrm>
          <a:off x="3361483" y="5840677"/>
          <a:ext cx="377851" cy="167934"/>
        </p:xfrm>
        <a:graphic>
          <a:graphicData uri="http://schemas.openxmlformats.org/presentationml/2006/ole">
            <mc:AlternateContent xmlns:mc="http://schemas.openxmlformats.org/markup-compatibility/2006">
              <mc:Choice xmlns:v="urn:schemas-microsoft-com:vml" Requires="v">
                <p:oleObj name="Equation" r:id="rId17" imgW="457200" imgH="203040" progId="Equation.DSMT4">
                  <p:embed/>
                </p:oleObj>
              </mc:Choice>
              <mc:Fallback>
                <p:oleObj name="Equation" r:id="rId17" imgW="457200" imgH="203040" progId="Equation.DSMT4">
                  <p:embed/>
                  <p:pic>
                    <p:nvPicPr>
                      <p:cNvPr id="0" name=""/>
                      <p:cNvPicPr/>
                      <p:nvPr/>
                    </p:nvPicPr>
                    <p:blipFill>
                      <a:blip r:embed="rId18"/>
                      <a:stretch>
                        <a:fillRect/>
                      </a:stretch>
                    </p:blipFill>
                    <p:spPr>
                      <a:xfrm>
                        <a:off x="3361483" y="5840677"/>
                        <a:ext cx="377851" cy="167934"/>
                      </a:xfrm>
                      <a:prstGeom prst="rect">
                        <a:avLst/>
                      </a:prstGeom>
                      <a:solidFill>
                        <a:schemeClr val="bg1"/>
                      </a:solidFill>
                    </p:spPr>
                  </p:pic>
                </p:oleObj>
              </mc:Fallback>
            </mc:AlternateContent>
          </a:graphicData>
        </a:graphic>
      </p:graphicFrame>
      <p:graphicFrame>
        <p:nvGraphicFramePr>
          <p:cNvPr id="15" name="Object 14">
            <a:extLst>
              <a:ext uri="{FF2B5EF4-FFF2-40B4-BE49-F238E27FC236}">
                <a16:creationId xmlns:a16="http://schemas.microsoft.com/office/drawing/2014/main" id="{0994892F-F9E2-426E-AE0F-D62B00972BCD}"/>
              </a:ext>
            </a:extLst>
          </p:cNvPr>
          <p:cNvGraphicFramePr>
            <a:graphicFrameLocks noChangeAspect="1"/>
          </p:cNvGraphicFramePr>
          <p:nvPr>
            <p:extLst>
              <p:ext uri="{D42A27DB-BD31-4B8C-83A1-F6EECF244321}">
                <p14:modId xmlns:p14="http://schemas.microsoft.com/office/powerpoint/2010/main" val="141828123"/>
              </p:ext>
            </p:extLst>
          </p:nvPr>
        </p:nvGraphicFramePr>
        <p:xfrm>
          <a:off x="5316992" y="5850794"/>
          <a:ext cx="229001" cy="143125"/>
        </p:xfrm>
        <a:graphic>
          <a:graphicData uri="http://schemas.openxmlformats.org/presentationml/2006/ole">
            <mc:AlternateContent xmlns:mc="http://schemas.openxmlformats.org/markup-compatibility/2006">
              <mc:Choice xmlns:v="urn:schemas-microsoft-com:vml" Requires="v">
                <p:oleObj name="Equation" r:id="rId19" imgW="304560" imgH="190440" progId="Equation.DSMT4">
                  <p:embed/>
                </p:oleObj>
              </mc:Choice>
              <mc:Fallback>
                <p:oleObj name="Equation" r:id="rId19" imgW="304560" imgH="190440" progId="Equation.DSMT4">
                  <p:embed/>
                  <p:pic>
                    <p:nvPicPr>
                      <p:cNvPr id="0" name=""/>
                      <p:cNvPicPr/>
                      <p:nvPr/>
                    </p:nvPicPr>
                    <p:blipFill>
                      <a:blip r:embed="rId20"/>
                      <a:stretch>
                        <a:fillRect/>
                      </a:stretch>
                    </p:blipFill>
                    <p:spPr>
                      <a:xfrm>
                        <a:off x="5316992" y="5850794"/>
                        <a:ext cx="229001" cy="143125"/>
                      </a:xfrm>
                      <a:prstGeom prst="rect">
                        <a:avLst/>
                      </a:prstGeom>
                      <a:solidFill>
                        <a:schemeClr val="bg1"/>
                      </a:solidFill>
                    </p:spPr>
                  </p:pic>
                </p:oleObj>
              </mc:Fallback>
            </mc:AlternateContent>
          </a:graphicData>
        </a:graphic>
      </p:graphicFrame>
      <p:graphicFrame>
        <p:nvGraphicFramePr>
          <p:cNvPr id="16" name="Object 15">
            <a:extLst>
              <a:ext uri="{FF2B5EF4-FFF2-40B4-BE49-F238E27FC236}">
                <a16:creationId xmlns:a16="http://schemas.microsoft.com/office/drawing/2014/main" id="{8C009E5A-0DB7-4C13-A89F-4E0CE287E34A}"/>
              </a:ext>
            </a:extLst>
          </p:cNvPr>
          <p:cNvGraphicFramePr>
            <a:graphicFrameLocks noChangeAspect="1"/>
          </p:cNvGraphicFramePr>
          <p:nvPr>
            <p:extLst>
              <p:ext uri="{D42A27DB-BD31-4B8C-83A1-F6EECF244321}">
                <p14:modId xmlns:p14="http://schemas.microsoft.com/office/powerpoint/2010/main" val="1421154459"/>
              </p:ext>
            </p:extLst>
          </p:nvPr>
        </p:nvGraphicFramePr>
        <p:xfrm>
          <a:off x="6719386" y="5856154"/>
          <a:ext cx="379605" cy="155736"/>
        </p:xfrm>
        <a:graphic>
          <a:graphicData uri="http://schemas.openxmlformats.org/presentationml/2006/ole">
            <mc:AlternateContent xmlns:mc="http://schemas.openxmlformats.org/markup-compatibility/2006">
              <mc:Choice xmlns:v="urn:schemas-microsoft-com:vml" Requires="v">
                <p:oleObj name="Equation" r:id="rId21" imgW="495000" imgH="203040" progId="Equation.DSMT4">
                  <p:embed/>
                </p:oleObj>
              </mc:Choice>
              <mc:Fallback>
                <p:oleObj name="Equation" r:id="rId21" imgW="495000" imgH="203040" progId="Equation.DSMT4">
                  <p:embed/>
                  <p:pic>
                    <p:nvPicPr>
                      <p:cNvPr id="0" name=""/>
                      <p:cNvPicPr/>
                      <p:nvPr/>
                    </p:nvPicPr>
                    <p:blipFill>
                      <a:blip r:embed="rId22"/>
                      <a:stretch>
                        <a:fillRect/>
                      </a:stretch>
                    </p:blipFill>
                    <p:spPr>
                      <a:xfrm>
                        <a:off x="6719386" y="5856154"/>
                        <a:ext cx="379605" cy="155736"/>
                      </a:xfrm>
                      <a:prstGeom prst="rect">
                        <a:avLst/>
                      </a:prstGeom>
                      <a:solidFill>
                        <a:schemeClr val="bg1"/>
                      </a:solidFill>
                    </p:spPr>
                  </p:pic>
                </p:oleObj>
              </mc:Fallback>
            </mc:AlternateContent>
          </a:graphicData>
        </a:graphic>
      </p:graphicFrame>
      <p:sp>
        <p:nvSpPr>
          <p:cNvPr id="8" name="Content Placeholder 7">
            <a:extLst>
              <a:ext uri="{FF2B5EF4-FFF2-40B4-BE49-F238E27FC236}">
                <a16:creationId xmlns:a16="http://schemas.microsoft.com/office/drawing/2014/main" id="{D8C3597F-6BA6-42DF-AC93-CEB6F77D8652}"/>
              </a:ext>
            </a:extLst>
          </p:cNvPr>
          <p:cNvSpPr>
            <a:spLocks noGrp="1"/>
          </p:cNvSpPr>
          <p:nvPr>
            <p:ph sz="quarter" idx="16"/>
          </p:nvPr>
        </p:nvSpPr>
        <p:spPr>
          <a:xfrm>
            <a:off x="471055" y="6152199"/>
            <a:ext cx="3362758" cy="233656"/>
          </a:xfrm>
        </p:spPr>
        <p:txBody>
          <a:bodyPr lIns="0" tIns="0" rIns="0" bIns="0"/>
          <a:lstStyle/>
          <a:p>
            <a:pPr marL="432" indent="0">
              <a:buNone/>
            </a:pPr>
            <a:r>
              <a:rPr lang="en-US" sz="1200" b="1" u="none" strike="noStrike" baseline="0" dirty="0"/>
              <a:t>For exact conversion formulas, see Appendix</a:t>
            </a:r>
            <a:endParaRPr lang="en-IN" sz="1200" b="1" dirty="0"/>
          </a:p>
        </p:txBody>
      </p:sp>
      <p:graphicFrame>
        <p:nvGraphicFramePr>
          <p:cNvPr id="21" name="Object 20" descr="one">
            <a:extLst>
              <a:ext uri="{FF2B5EF4-FFF2-40B4-BE49-F238E27FC236}">
                <a16:creationId xmlns:a16="http://schemas.microsoft.com/office/drawing/2014/main" id="{59074922-C669-4767-A88A-4F3CDD1689C3}"/>
              </a:ext>
            </a:extLst>
          </p:cNvPr>
          <p:cNvGraphicFramePr>
            <a:graphicFrameLocks noChangeAspect="1"/>
          </p:cNvGraphicFramePr>
          <p:nvPr>
            <p:extLst>
              <p:ext uri="{D42A27DB-BD31-4B8C-83A1-F6EECF244321}">
                <p14:modId xmlns:p14="http://schemas.microsoft.com/office/powerpoint/2010/main" val="2592297127"/>
              </p:ext>
            </p:extLst>
          </p:nvPr>
        </p:nvGraphicFramePr>
        <p:xfrm>
          <a:off x="3892057" y="6156505"/>
          <a:ext cx="104959" cy="157438"/>
        </p:xfrm>
        <a:graphic>
          <a:graphicData uri="http://schemas.openxmlformats.org/presentationml/2006/ole">
            <mc:AlternateContent xmlns:mc="http://schemas.openxmlformats.org/markup-compatibility/2006">
              <mc:Choice xmlns:v="urn:schemas-microsoft-com:vml" Requires="v">
                <p:oleObj name="Equation" r:id="rId23" imgW="126720" imgH="190440" progId="Equation.DSMT4">
                  <p:embed/>
                </p:oleObj>
              </mc:Choice>
              <mc:Fallback>
                <p:oleObj name="Equation" r:id="rId23" imgW="126720" imgH="190440" progId="Equation.DSMT4">
                  <p:embed/>
                  <p:pic>
                    <p:nvPicPr>
                      <p:cNvPr id="0" name=""/>
                      <p:cNvPicPr/>
                      <p:nvPr/>
                    </p:nvPicPr>
                    <p:blipFill>
                      <a:blip r:embed="rId24"/>
                      <a:stretch>
                        <a:fillRect/>
                      </a:stretch>
                    </p:blipFill>
                    <p:spPr>
                      <a:xfrm>
                        <a:off x="3892057" y="6156505"/>
                        <a:ext cx="104959" cy="157438"/>
                      </a:xfrm>
                      <a:prstGeom prst="rect">
                        <a:avLst/>
                      </a:prstGeom>
                    </p:spPr>
                  </p:pic>
                </p:oleObj>
              </mc:Fallback>
            </mc:AlternateContent>
          </a:graphicData>
        </a:graphic>
      </p:graphicFrame>
    </p:spTree>
    <p:extLst>
      <p:ext uri="{BB962C8B-B14F-4D97-AF65-F5344CB8AC3E}">
        <p14:creationId xmlns:p14="http://schemas.microsoft.com/office/powerpoint/2010/main" val="2766873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99B35-06CF-4A8F-BD7B-08EACFC47557}"/>
              </a:ext>
            </a:extLst>
          </p:cNvPr>
          <p:cNvSpPr>
            <a:spLocks noGrp="1"/>
          </p:cNvSpPr>
          <p:nvPr>
            <p:ph type="title"/>
          </p:nvPr>
        </p:nvSpPr>
        <p:spPr/>
        <p:txBody>
          <a:bodyPr/>
          <a:lstStyle/>
          <a:p>
            <a:r>
              <a:rPr lang="en-US" altLang="en-US" sz="3200" dirty="0">
                <a:ea typeface="ヒラギノ角ゴ Pro W3" pitchFamily="-84" charset="-128"/>
              </a:rPr>
              <a:t>Environmental Spheres and Earth Systems </a:t>
            </a:r>
            <a:r>
              <a:rPr lang="en-US" altLang="en-US" sz="2000" b="0" dirty="0">
                <a:ea typeface="ヒラギノ角ゴ Pro W3" pitchFamily="-84" charset="-128"/>
              </a:rPr>
              <a:t>(1 of 3)</a:t>
            </a:r>
            <a:endParaRPr lang="en-IN" sz="3200" dirty="0"/>
          </a:p>
        </p:txBody>
      </p:sp>
      <p:sp>
        <p:nvSpPr>
          <p:cNvPr id="3" name="Content Placeholder 2">
            <a:extLst>
              <a:ext uri="{FF2B5EF4-FFF2-40B4-BE49-F238E27FC236}">
                <a16:creationId xmlns:a16="http://schemas.microsoft.com/office/drawing/2014/main" id="{B8D6C0B3-D4E3-4E98-BBEC-63FABC0C183B}"/>
              </a:ext>
            </a:extLst>
          </p:cNvPr>
          <p:cNvSpPr>
            <a:spLocks noGrp="1"/>
          </p:cNvSpPr>
          <p:nvPr>
            <p:ph sz="quarter" idx="13"/>
          </p:nvPr>
        </p:nvSpPr>
        <p:spPr>
          <a:xfrm>
            <a:off x="457200" y="1552575"/>
            <a:ext cx="8091055" cy="1121352"/>
          </a:xfrm>
        </p:spPr>
        <p:txBody>
          <a:bodyPr/>
          <a:lstStyle/>
          <a:p>
            <a:r>
              <a:rPr lang="en-US" sz="2000" dirty="0"/>
              <a:t>Earth’s surface a complex interface</a:t>
            </a:r>
          </a:p>
          <a:p>
            <a:pPr lvl="1" indent="-284400"/>
            <a:r>
              <a:rPr lang="en-US" sz="2000" dirty="0"/>
              <a:t>four principal components of environment meet, overlap, interact, and interconnected</a:t>
            </a:r>
          </a:p>
        </p:txBody>
      </p:sp>
      <p:sp>
        <p:nvSpPr>
          <p:cNvPr id="4" name="Content Placeholder 3">
            <a:extLst>
              <a:ext uri="{FF2B5EF4-FFF2-40B4-BE49-F238E27FC236}">
                <a16:creationId xmlns:a16="http://schemas.microsoft.com/office/drawing/2014/main" id="{FEE0C902-BE2C-49C3-972B-D4DFF74079E7}"/>
              </a:ext>
            </a:extLst>
          </p:cNvPr>
          <p:cNvSpPr>
            <a:spLocks noGrp="1"/>
          </p:cNvSpPr>
          <p:nvPr>
            <p:ph sz="quarter" idx="14"/>
          </p:nvPr>
        </p:nvSpPr>
        <p:spPr>
          <a:xfrm>
            <a:off x="457199" y="2805301"/>
            <a:ext cx="4336474" cy="3371815"/>
          </a:xfrm>
        </p:spPr>
        <p:txBody>
          <a:bodyPr/>
          <a:lstStyle/>
          <a:p>
            <a:pPr marL="432" indent="0">
              <a:spcBef>
                <a:spcPts val="600"/>
              </a:spcBef>
              <a:buNone/>
            </a:pPr>
            <a:r>
              <a:rPr lang="en-US" sz="2000" b="1" dirty="0"/>
              <a:t>Earth’s Environmental Spheres</a:t>
            </a:r>
          </a:p>
          <a:p>
            <a:pPr>
              <a:spcBef>
                <a:spcPts val="600"/>
              </a:spcBef>
            </a:pPr>
            <a:r>
              <a:rPr lang="en-US" sz="2000" b="1" dirty="0"/>
              <a:t>Lithosphere</a:t>
            </a:r>
            <a:r>
              <a:rPr lang="en-US" sz="2000" dirty="0"/>
              <a:t> is made up of rocks and mineral matter</a:t>
            </a:r>
          </a:p>
          <a:p>
            <a:pPr>
              <a:spcBef>
                <a:spcPts val="600"/>
              </a:spcBef>
            </a:pPr>
            <a:r>
              <a:rPr lang="en-US" sz="2000" b="1" dirty="0"/>
              <a:t>Atmosphere</a:t>
            </a:r>
            <a:r>
              <a:rPr lang="en-US" sz="2000" dirty="0"/>
              <a:t> is a mix of gases</a:t>
            </a:r>
          </a:p>
          <a:p>
            <a:pPr>
              <a:spcBef>
                <a:spcPts val="600"/>
              </a:spcBef>
            </a:pPr>
            <a:r>
              <a:rPr lang="en-US" sz="2000" b="1" dirty="0"/>
              <a:t>Hydrosphere</a:t>
            </a:r>
            <a:r>
              <a:rPr lang="en-US" sz="2000" dirty="0"/>
              <a:t> comprises water in all its forms, frozen water exists in cryosphere</a:t>
            </a:r>
          </a:p>
          <a:p>
            <a:pPr>
              <a:spcBef>
                <a:spcPts val="600"/>
              </a:spcBef>
            </a:pPr>
            <a:r>
              <a:rPr lang="en-US" sz="2000" b="1" dirty="0"/>
              <a:t>Biosphere</a:t>
            </a:r>
            <a:r>
              <a:rPr lang="en-US" sz="2000" dirty="0"/>
              <a:t> encompasses all the parts where living organisms exist</a:t>
            </a:r>
          </a:p>
        </p:txBody>
      </p:sp>
      <p:pic>
        <p:nvPicPr>
          <p:cNvPr id="8" name="Content Placeholder 7" descr="A photograph and locator map showing the earth’s four interacting spheres in Denali National Park, Alaska. For long description in Notes pane, press F6.">
            <a:extLst>
              <a:ext uri="{FF2B5EF4-FFF2-40B4-BE49-F238E27FC236}">
                <a16:creationId xmlns:a16="http://schemas.microsoft.com/office/drawing/2014/main" id="{CA1AE63A-E6B5-4485-BDAD-7EBF4BD6DB77}"/>
              </a:ext>
            </a:extLst>
          </p:cNvPr>
          <p:cNvPicPr>
            <a:picLocks noGrp="1" noChangeAspect="1"/>
          </p:cNvPicPr>
          <p:nvPr>
            <p:ph sz="quarter" idx="15"/>
          </p:nvPr>
        </p:nvPicPr>
        <p:blipFill rotWithShape="1">
          <a:blip r:embed="rId3"/>
          <a:srcRect t="1" b="2470"/>
          <a:stretch/>
        </p:blipFill>
        <p:spPr>
          <a:xfrm>
            <a:off x="5364335" y="2762252"/>
            <a:ext cx="3278935" cy="3564261"/>
          </a:xfrm>
        </p:spPr>
      </p:pic>
    </p:spTree>
    <p:extLst>
      <p:ext uri="{BB962C8B-B14F-4D97-AF65-F5344CB8AC3E}">
        <p14:creationId xmlns:p14="http://schemas.microsoft.com/office/powerpoint/2010/main" val="2852061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5B77-26CB-4EA3-9A43-1CFB11A729C4}"/>
              </a:ext>
            </a:extLst>
          </p:cNvPr>
          <p:cNvSpPr>
            <a:spLocks noGrp="1"/>
          </p:cNvSpPr>
          <p:nvPr>
            <p:ph type="title"/>
          </p:nvPr>
        </p:nvSpPr>
        <p:spPr/>
        <p:txBody>
          <a:bodyPr/>
          <a:lstStyle/>
          <a:p>
            <a:r>
              <a:rPr lang="en-US" altLang="en-US" sz="3200" dirty="0">
                <a:ea typeface="ヒラギノ角ゴ Pro W3" pitchFamily="-84" charset="-128"/>
              </a:rPr>
              <a:t>Environmental Spheres and Earth Systems </a:t>
            </a:r>
            <a:r>
              <a:rPr lang="en-US" altLang="en-US" sz="2000" b="0" dirty="0">
                <a:ea typeface="ヒラギノ角ゴ Pro W3" pitchFamily="-84" charset="-128"/>
              </a:rPr>
              <a:t>(2 of 3)</a:t>
            </a:r>
            <a:r>
              <a:rPr lang="en-US" altLang="en-US" sz="3200" dirty="0">
                <a:ea typeface="ヒラギノ角ゴ Pro W3" pitchFamily="-84" charset="-128"/>
              </a:rPr>
              <a:t> </a:t>
            </a:r>
            <a:endParaRPr lang="en-IN" sz="3200" dirty="0"/>
          </a:p>
        </p:txBody>
      </p:sp>
      <p:sp>
        <p:nvSpPr>
          <p:cNvPr id="7" name="Content Placeholder 6">
            <a:extLst>
              <a:ext uri="{FF2B5EF4-FFF2-40B4-BE49-F238E27FC236}">
                <a16:creationId xmlns:a16="http://schemas.microsoft.com/office/drawing/2014/main" id="{A029A7C0-4A2B-4C82-BD7C-7C29AF3678D9}"/>
              </a:ext>
            </a:extLst>
          </p:cNvPr>
          <p:cNvSpPr>
            <a:spLocks noGrp="1"/>
          </p:cNvSpPr>
          <p:nvPr>
            <p:ph sz="quarter" idx="13"/>
          </p:nvPr>
        </p:nvSpPr>
        <p:spPr>
          <a:xfrm>
            <a:off x="457200" y="1554920"/>
            <a:ext cx="8232775" cy="4753805"/>
          </a:xfrm>
        </p:spPr>
        <p:txBody>
          <a:bodyPr/>
          <a:lstStyle/>
          <a:p>
            <a:pPr marL="432" indent="0">
              <a:spcBef>
                <a:spcPts val="200"/>
              </a:spcBef>
              <a:buNone/>
            </a:pPr>
            <a:r>
              <a:rPr lang="en-US" sz="1600" b="1" dirty="0"/>
              <a:t>Earth Systems</a:t>
            </a:r>
          </a:p>
          <a:p>
            <a:pPr>
              <a:spcBef>
                <a:spcPts val="200"/>
              </a:spcBef>
            </a:pPr>
            <a:r>
              <a:rPr lang="en-US" sz="1600" dirty="0"/>
              <a:t>Environmental spheres operate, interact as complex </a:t>
            </a:r>
            <a:r>
              <a:rPr lang="en-US" sz="1600" b="1" dirty="0"/>
              <a:t>Earth systems</a:t>
            </a:r>
          </a:p>
          <a:p>
            <a:pPr lvl="1">
              <a:spcBef>
                <a:spcPts val="200"/>
              </a:spcBef>
            </a:pPr>
            <a:r>
              <a:rPr lang="en-US" sz="1600" dirty="0"/>
              <a:t>“system” is a collection of things and processes that operate as a whole</a:t>
            </a:r>
          </a:p>
          <a:p>
            <a:pPr>
              <a:spcBef>
                <a:spcPts val="200"/>
              </a:spcBef>
            </a:pPr>
            <a:r>
              <a:rPr lang="en-US" sz="1600" b="1" dirty="0"/>
              <a:t>Closed Systems</a:t>
            </a:r>
          </a:p>
          <a:p>
            <a:pPr lvl="1">
              <a:spcBef>
                <a:spcPts val="200"/>
              </a:spcBef>
            </a:pPr>
            <a:r>
              <a:rPr lang="en-US" sz="1600" dirty="0"/>
              <a:t>self-contained systems, which are therefore isolated from outside influences and rarely found in nature</a:t>
            </a:r>
          </a:p>
          <a:p>
            <a:pPr>
              <a:spcBef>
                <a:spcPts val="200"/>
              </a:spcBef>
            </a:pPr>
            <a:r>
              <a:rPr lang="en-US" sz="1600" b="1" dirty="0"/>
              <a:t>Open Systems</a:t>
            </a:r>
          </a:p>
          <a:p>
            <a:pPr lvl="1">
              <a:spcBef>
                <a:spcPts val="200"/>
              </a:spcBef>
            </a:pPr>
            <a:r>
              <a:rPr lang="en-US" sz="1600" dirty="0"/>
              <a:t>energy can be exchanged across systems, as </a:t>
            </a:r>
            <a:r>
              <a:rPr lang="en-US" sz="1600" b="1" dirty="0"/>
              <a:t>inputs</a:t>
            </a:r>
            <a:r>
              <a:rPr lang="en-US" sz="1600" dirty="0"/>
              <a:t> and </a:t>
            </a:r>
            <a:r>
              <a:rPr lang="en-US" sz="1600" b="1" dirty="0"/>
              <a:t>outputs</a:t>
            </a:r>
          </a:p>
          <a:p>
            <a:pPr>
              <a:spcBef>
                <a:spcPts val="200"/>
              </a:spcBef>
            </a:pPr>
            <a:r>
              <a:rPr lang="en-US" sz="1600" b="1" dirty="0"/>
              <a:t>Equilibrium</a:t>
            </a:r>
          </a:p>
          <a:p>
            <a:pPr lvl="1">
              <a:spcBef>
                <a:spcPts val="200"/>
              </a:spcBef>
            </a:pPr>
            <a:r>
              <a:rPr lang="en-US" sz="1600" dirty="0"/>
              <a:t>when inputs and outputs are in balance, conditions within system remain the same</a:t>
            </a:r>
          </a:p>
          <a:p>
            <a:pPr>
              <a:spcBef>
                <a:spcPts val="200"/>
              </a:spcBef>
            </a:pPr>
            <a:r>
              <a:rPr lang="en-US" sz="1600" b="1" dirty="0"/>
              <a:t>Interconnected Systems</a:t>
            </a:r>
          </a:p>
          <a:p>
            <a:pPr lvl="1">
              <a:spcBef>
                <a:spcPts val="200"/>
              </a:spcBef>
            </a:pPr>
            <a:r>
              <a:rPr lang="en-US" sz="1600" dirty="0"/>
              <a:t>change in one system affects another</a:t>
            </a:r>
          </a:p>
          <a:p>
            <a:pPr>
              <a:spcBef>
                <a:spcPts val="200"/>
              </a:spcBef>
            </a:pPr>
            <a:r>
              <a:rPr lang="en-US" sz="1600" b="1" dirty="0"/>
              <a:t>Feedback Loops</a:t>
            </a:r>
          </a:p>
          <a:p>
            <a:pPr lvl="1">
              <a:spcBef>
                <a:spcPts val="200"/>
              </a:spcBef>
            </a:pPr>
            <a:r>
              <a:rPr lang="en-US" sz="1600" dirty="0"/>
              <a:t>outputs that “feed back” into that system, reinforcing change</a:t>
            </a:r>
          </a:p>
          <a:p>
            <a:pPr lvl="1">
              <a:spcBef>
                <a:spcPts val="200"/>
              </a:spcBef>
            </a:pPr>
            <a:r>
              <a:rPr lang="en-US" sz="1600" b="1" dirty="0"/>
              <a:t>positive feedback loops </a:t>
            </a:r>
            <a:r>
              <a:rPr lang="en-US" sz="1600" dirty="0"/>
              <a:t>versus </a:t>
            </a:r>
            <a:r>
              <a:rPr lang="en-US" sz="1600" b="1" dirty="0"/>
              <a:t>negative feedback loops</a:t>
            </a:r>
          </a:p>
          <a:p>
            <a:pPr lvl="1">
              <a:spcBef>
                <a:spcPts val="200"/>
              </a:spcBef>
            </a:pPr>
            <a:r>
              <a:rPr lang="en-US" sz="1600" b="1" dirty="0"/>
              <a:t>tipping point</a:t>
            </a:r>
            <a:r>
              <a:rPr lang="en-US" sz="1600" dirty="0"/>
              <a:t> or threshold is point of instability and changes abruptly</a:t>
            </a:r>
          </a:p>
        </p:txBody>
      </p:sp>
    </p:spTree>
    <p:extLst>
      <p:ext uri="{BB962C8B-B14F-4D97-AF65-F5344CB8AC3E}">
        <p14:creationId xmlns:p14="http://schemas.microsoft.com/office/powerpoint/2010/main" val="3778955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FC91-EA91-4077-88B1-B0017B8A13AA}"/>
              </a:ext>
            </a:extLst>
          </p:cNvPr>
          <p:cNvSpPr>
            <a:spLocks noGrp="1"/>
          </p:cNvSpPr>
          <p:nvPr>
            <p:ph type="title"/>
          </p:nvPr>
        </p:nvSpPr>
        <p:spPr/>
        <p:txBody>
          <a:bodyPr/>
          <a:lstStyle/>
          <a:p>
            <a:r>
              <a:rPr lang="en-US" altLang="en-US" sz="3200" dirty="0">
                <a:ea typeface="ヒラギノ角ゴ Pro W3" pitchFamily="-84" charset="-128"/>
              </a:rPr>
              <a:t>Environmental Spheres and Earth Systems </a:t>
            </a:r>
            <a:r>
              <a:rPr lang="en-US" altLang="en-US" sz="2000" b="0" dirty="0">
                <a:ea typeface="ヒラギノ角ゴ Pro W3" pitchFamily="-84" charset="-128"/>
              </a:rPr>
              <a:t>(3 of 3)</a:t>
            </a:r>
            <a:r>
              <a:rPr lang="en-US" altLang="en-US" sz="3200" dirty="0">
                <a:ea typeface="ヒラギノ角ゴ Pro W3" pitchFamily="-84" charset="-128"/>
              </a:rPr>
              <a:t> </a:t>
            </a:r>
            <a:endParaRPr lang="en-IN" sz="3200" dirty="0"/>
          </a:p>
        </p:txBody>
      </p:sp>
      <p:sp>
        <p:nvSpPr>
          <p:cNvPr id="3" name="Content Placeholder 2">
            <a:extLst>
              <a:ext uri="{FF2B5EF4-FFF2-40B4-BE49-F238E27FC236}">
                <a16:creationId xmlns:a16="http://schemas.microsoft.com/office/drawing/2014/main" id="{7BCBAD4A-1EE2-42F9-8042-E1A6269B85B5}"/>
              </a:ext>
            </a:extLst>
          </p:cNvPr>
          <p:cNvSpPr>
            <a:spLocks noGrp="1"/>
          </p:cNvSpPr>
          <p:nvPr>
            <p:ph sz="quarter" idx="13"/>
          </p:nvPr>
        </p:nvSpPr>
        <p:spPr>
          <a:xfrm>
            <a:off x="457200" y="1556328"/>
            <a:ext cx="4628367" cy="508000"/>
          </a:xfrm>
        </p:spPr>
        <p:txBody>
          <a:bodyPr/>
          <a:lstStyle/>
          <a:p>
            <a:pPr>
              <a:defRPr/>
            </a:pPr>
            <a:r>
              <a:rPr lang="en-US" dirty="0"/>
              <a:t>Glacier as an </a:t>
            </a:r>
            <a:r>
              <a:rPr lang="en-US" b="1" dirty="0"/>
              <a:t>open system</a:t>
            </a:r>
          </a:p>
        </p:txBody>
      </p:sp>
      <p:pic>
        <p:nvPicPr>
          <p:cNvPr id="6" name="Content Placeholder 5" descr="A diagram showing a simplified view of a glacier as an open system. For long description in Notes pane, press F6.">
            <a:extLst>
              <a:ext uri="{FF2B5EF4-FFF2-40B4-BE49-F238E27FC236}">
                <a16:creationId xmlns:a16="http://schemas.microsoft.com/office/drawing/2014/main" id="{A73DCB9E-C61E-419A-82D8-86BD6C0306E4}"/>
              </a:ext>
            </a:extLst>
          </p:cNvPr>
          <p:cNvPicPr>
            <a:picLocks noGrp="1" noChangeAspect="1"/>
          </p:cNvPicPr>
          <p:nvPr>
            <p:ph sz="quarter" idx="14"/>
          </p:nvPr>
        </p:nvPicPr>
        <p:blipFill rotWithShape="1">
          <a:blip r:embed="rId3"/>
          <a:srcRect b="3556"/>
          <a:stretch/>
        </p:blipFill>
        <p:spPr>
          <a:xfrm>
            <a:off x="1629392" y="2308006"/>
            <a:ext cx="5940636" cy="3801849"/>
          </a:xfrm>
        </p:spPr>
      </p:pic>
    </p:spTree>
    <p:extLst>
      <p:ext uri="{BB962C8B-B14F-4D97-AF65-F5344CB8AC3E}">
        <p14:creationId xmlns:p14="http://schemas.microsoft.com/office/powerpoint/2010/main" val="181083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E33BEA-A888-432A-8950-37F89AD2DEDC}"/>
              </a:ext>
            </a:extLst>
          </p:cNvPr>
          <p:cNvSpPr>
            <a:spLocks noGrp="1"/>
          </p:cNvSpPr>
          <p:nvPr>
            <p:ph type="title"/>
          </p:nvPr>
        </p:nvSpPr>
        <p:spPr/>
        <p:txBody>
          <a:bodyPr/>
          <a:lstStyle/>
          <a:p>
            <a:r>
              <a:rPr lang="en-US" altLang="en-US" dirty="0">
                <a:ea typeface="ヒラギノ角ゴ Pro W3" pitchFamily="-84" charset="-128"/>
              </a:rPr>
              <a:t>Earth and the Solar System </a:t>
            </a:r>
            <a:r>
              <a:rPr lang="en-US" altLang="en-US" sz="2000" b="0" dirty="0">
                <a:ea typeface="ヒラギノ角ゴ Pro W3" pitchFamily="-84" charset="-128"/>
              </a:rPr>
              <a:t>(1 of 4)</a:t>
            </a:r>
            <a:endParaRPr lang="en-IN" sz="2000" b="0" dirty="0"/>
          </a:p>
        </p:txBody>
      </p:sp>
      <p:sp>
        <p:nvSpPr>
          <p:cNvPr id="20" name="Content Placeholder 19">
            <a:extLst>
              <a:ext uri="{FF2B5EF4-FFF2-40B4-BE49-F238E27FC236}">
                <a16:creationId xmlns:a16="http://schemas.microsoft.com/office/drawing/2014/main" id="{1BCC9994-F835-41D3-A65B-8EB2B2E99B96}"/>
              </a:ext>
            </a:extLst>
          </p:cNvPr>
          <p:cNvSpPr>
            <a:spLocks noGrp="1"/>
          </p:cNvSpPr>
          <p:nvPr>
            <p:ph sz="quarter" idx="13"/>
          </p:nvPr>
        </p:nvSpPr>
        <p:spPr>
          <a:xfrm>
            <a:off x="457199" y="1552574"/>
            <a:ext cx="4862945" cy="4576704"/>
          </a:xfrm>
        </p:spPr>
        <p:txBody>
          <a:bodyPr/>
          <a:lstStyle/>
          <a:p>
            <a:pPr marL="432" indent="0">
              <a:buNone/>
            </a:pPr>
            <a:r>
              <a:rPr lang="en-US" sz="2000" b="1" dirty="0"/>
              <a:t>The Solar System</a:t>
            </a:r>
          </a:p>
          <a:p>
            <a:r>
              <a:rPr lang="en-US" sz="2000" dirty="0"/>
              <a:t>Open system, Earth interacts with</a:t>
            </a:r>
          </a:p>
          <a:p>
            <a:pPr lvl="1" indent="-284400"/>
            <a:r>
              <a:rPr lang="en-US" sz="2000" dirty="0"/>
              <a:t>planets, “moons,” </a:t>
            </a:r>
            <a:r>
              <a:rPr lang="en-US" sz="2000" b="1" dirty="0"/>
              <a:t>dwarf planets</a:t>
            </a:r>
            <a:r>
              <a:rPr lang="en-US" sz="2000" dirty="0"/>
              <a:t>, comets, asteroids, and meteoroids</a:t>
            </a:r>
          </a:p>
          <a:p>
            <a:r>
              <a:rPr lang="en-US" sz="2000" b="1" dirty="0"/>
              <a:t>Origins</a:t>
            </a:r>
          </a:p>
          <a:p>
            <a:pPr lvl="1" indent="-284400"/>
            <a:r>
              <a:rPr lang="en-US" sz="2000" dirty="0"/>
              <a:t>incompletely understood</a:t>
            </a:r>
          </a:p>
          <a:p>
            <a:pPr lvl="1" indent="-284400"/>
            <a:r>
              <a:rPr lang="en-US" sz="2000" dirty="0"/>
              <a:t>scientific consensus, </a:t>
            </a:r>
            <a:r>
              <a:rPr lang="en-US" sz="2000" b="1" dirty="0"/>
              <a:t>big bang </a:t>
            </a:r>
            <a:r>
              <a:rPr lang="en-US" sz="2000" dirty="0"/>
              <a:t>took place 13.7 billion years ago</a:t>
            </a:r>
          </a:p>
          <a:p>
            <a:pPr lvl="1" indent="-284400"/>
            <a:r>
              <a:rPr lang="en-US" sz="2000" dirty="0"/>
              <a:t>our system originated between 4.5 and 5 billion years ago when a </a:t>
            </a:r>
            <a:r>
              <a:rPr lang="en-US" sz="2000" b="1" dirty="0"/>
              <a:t>nebula</a:t>
            </a:r>
            <a:r>
              <a:rPr lang="en-US" sz="2000" dirty="0"/>
              <a:t> contracted into </a:t>
            </a:r>
            <a:r>
              <a:rPr lang="en-US" sz="2000" b="1" dirty="0"/>
              <a:t>protostar</a:t>
            </a:r>
            <a:r>
              <a:rPr lang="en-US" sz="2000" dirty="0"/>
              <a:t> and then into our Sun</a:t>
            </a:r>
          </a:p>
        </p:txBody>
      </p:sp>
      <p:pic>
        <p:nvPicPr>
          <p:cNvPr id="38" name="Content Placeholder 37" descr="A diagram shows the formation of the solar system, starting with the big bang, then forming as a nebula, contracting into a protostar, then into the Sun with its orbiting bodies.">
            <a:extLst>
              <a:ext uri="{FF2B5EF4-FFF2-40B4-BE49-F238E27FC236}">
                <a16:creationId xmlns:a16="http://schemas.microsoft.com/office/drawing/2014/main" id="{097C8679-8286-42A2-8D38-9B9A814B2E16}"/>
              </a:ext>
            </a:extLst>
          </p:cNvPr>
          <p:cNvPicPr>
            <a:picLocks noGrp="1" noChangeAspect="1"/>
          </p:cNvPicPr>
          <p:nvPr>
            <p:ph sz="quarter" idx="20"/>
          </p:nvPr>
        </p:nvPicPr>
        <p:blipFill>
          <a:blip r:embed="rId2"/>
          <a:stretch>
            <a:fillRect/>
          </a:stretch>
        </p:blipFill>
        <p:spPr>
          <a:xfrm>
            <a:off x="5685031" y="1552574"/>
            <a:ext cx="2744254" cy="3680035"/>
          </a:xfrm>
        </p:spPr>
      </p:pic>
      <p:sp>
        <p:nvSpPr>
          <p:cNvPr id="30" name="Text Placeholder 29">
            <a:extLst>
              <a:ext uri="{FF2B5EF4-FFF2-40B4-BE49-F238E27FC236}">
                <a16:creationId xmlns:a16="http://schemas.microsoft.com/office/drawing/2014/main" id="{9685E02B-F696-42D9-AEE2-55501260E578}"/>
              </a:ext>
            </a:extLst>
          </p:cNvPr>
          <p:cNvSpPr>
            <a:spLocks noGrp="1"/>
          </p:cNvSpPr>
          <p:nvPr>
            <p:ph type="body" sz="quarter" idx="23"/>
          </p:nvPr>
        </p:nvSpPr>
        <p:spPr>
          <a:xfrm>
            <a:off x="5685031" y="5355402"/>
            <a:ext cx="2744254" cy="477361"/>
          </a:xfrm>
        </p:spPr>
        <p:txBody>
          <a:bodyPr lIns="0" tIns="0" rIns="0" bIns="0"/>
          <a:lstStyle/>
          <a:p>
            <a:pPr marL="432" indent="0" algn="l">
              <a:spcBef>
                <a:spcPts val="600"/>
              </a:spcBef>
              <a:buNone/>
            </a:pPr>
            <a:r>
              <a:rPr lang="en-IN" sz="1200" b="1" i="0" u="none" strike="noStrike" baseline="0" dirty="0">
                <a:solidFill>
                  <a:schemeClr val="tx1"/>
                </a:solidFill>
              </a:rPr>
              <a:t>Animation</a:t>
            </a:r>
          </a:p>
          <a:p>
            <a:pPr marL="432" indent="0" algn="l">
              <a:spcBef>
                <a:spcPts val="600"/>
              </a:spcBef>
              <a:buNone/>
            </a:pPr>
            <a:r>
              <a:rPr lang="en-IN" sz="1200" b="1" i="0" u="none" strike="noStrike" baseline="0" dirty="0">
                <a:solidFill>
                  <a:schemeClr val="tx1"/>
                </a:solidFill>
              </a:rPr>
              <a:t>Solar System Formation</a:t>
            </a:r>
            <a:endParaRPr lang="en-IN" sz="1200" b="1" dirty="0">
              <a:solidFill>
                <a:schemeClr val="tx1"/>
              </a:solidFill>
            </a:endParaRPr>
          </a:p>
        </p:txBody>
      </p:sp>
      <p:sp>
        <p:nvSpPr>
          <p:cNvPr id="34" name="Text Placeholder 33">
            <a:extLst>
              <a:ext uri="{FF2B5EF4-FFF2-40B4-BE49-F238E27FC236}">
                <a16:creationId xmlns:a16="http://schemas.microsoft.com/office/drawing/2014/main" id="{7EF80D81-F04F-4E4E-AF48-A209CFC833F4}"/>
              </a:ext>
            </a:extLst>
          </p:cNvPr>
          <p:cNvSpPr>
            <a:spLocks noGrp="1"/>
          </p:cNvSpPr>
          <p:nvPr>
            <p:ph type="body" sz="quarter" idx="27"/>
          </p:nvPr>
        </p:nvSpPr>
        <p:spPr>
          <a:xfrm>
            <a:off x="5685032" y="5896269"/>
            <a:ext cx="3140314" cy="421402"/>
          </a:xfrm>
        </p:spPr>
        <p:txBody>
          <a:bodyPr lIns="0" tIns="0" rIns="0" bIns="0"/>
          <a:lstStyle/>
          <a:p>
            <a:pPr marL="432" indent="0" algn="l">
              <a:buNone/>
            </a:pPr>
            <a:r>
              <a:rPr lang="en-IN" sz="1200" b="0" i="0" u="none" strike="noStrike" baseline="0" dirty="0">
                <a:solidFill>
                  <a:schemeClr val="tx1"/>
                </a:solidFill>
                <a:hlinkClick r:id="rId3" tooltip="https://media.pearsoncmg.com/ph/esm/esm_mcknight_physgeo_13/media/"/>
              </a:rPr>
              <a:t>https://media.pearsoncmg.com/ph/esm/esm_mcknight_physgeo_13/media/</a:t>
            </a:r>
            <a:endParaRPr lang="en-IN" sz="1200" dirty="0">
              <a:solidFill>
                <a:schemeClr val="tx1"/>
              </a:solidFill>
            </a:endParaRPr>
          </a:p>
        </p:txBody>
      </p:sp>
    </p:spTree>
    <p:extLst>
      <p:ext uri="{BB962C8B-B14F-4D97-AF65-F5344CB8AC3E}">
        <p14:creationId xmlns:p14="http://schemas.microsoft.com/office/powerpoint/2010/main" val="776057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96DB5-8B3E-4E61-97C4-C8FB9BA2FCAA}"/>
              </a:ext>
            </a:extLst>
          </p:cNvPr>
          <p:cNvSpPr>
            <a:spLocks noGrp="1"/>
          </p:cNvSpPr>
          <p:nvPr>
            <p:ph type="title"/>
          </p:nvPr>
        </p:nvSpPr>
        <p:spPr/>
        <p:txBody>
          <a:bodyPr/>
          <a:lstStyle/>
          <a:p>
            <a:r>
              <a:rPr lang="en-US" altLang="en-US" dirty="0">
                <a:ea typeface="ヒラギノ角ゴ Pro W3" pitchFamily="-84" charset="-128"/>
              </a:rPr>
              <a:t>Earth and the Solar System </a:t>
            </a:r>
            <a:r>
              <a:rPr lang="en-US" altLang="en-US" sz="2000" b="0" dirty="0">
                <a:ea typeface="ヒラギノ角ゴ Pro W3" pitchFamily="-84" charset="-128"/>
              </a:rPr>
              <a:t>(2 of 4)</a:t>
            </a:r>
            <a:endParaRPr lang="en-IN" dirty="0"/>
          </a:p>
        </p:txBody>
      </p:sp>
      <p:sp>
        <p:nvSpPr>
          <p:cNvPr id="18" name="Content Placeholder 17">
            <a:extLst>
              <a:ext uri="{FF2B5EF4-FFF2-40B4-BE49-F238E27FC236}">
                <a16:creationId xmlns:a16="http://schemas.microsoft.com/office/drawing/2014/main" id="{EF40B50C-2F6E-40EC-BBF0-9C156F2031F5}"/>
              </a:ext>
            </a:extLst>
          </p:cNvPr>
          <p:cNvSpPr>
            <a:spLocks noGrp="1"/>
          </p:cNvSpPr>
          <p:nvPr>
            <p:ph sz="quarter" idx="13"/>
          </p:nvPr>
        </p:nvSpPr>
        <p:spPr>
          <a:xfrm>
            <a:off x="457200" y="1556327"/>
            <a:ext cx="8091055" cy="2267528"/>
          </a:xfrm>
        </p:spPr>
        <p:txBody>
          <a:bodyPr/>
          <a:lstStyle/>
          <a:p>
            <a:r>
              <a:rPr lang="en-IN" sz="2000" b="1" dirty="0"/>
              <a:t>The Planets</a:t>
            </a:r>
          </a:p>
          <a:p>
            <a:pPr lvl="1"/>
            <a:r>
              <a:rPr lang="en-IN" sz="2000" dirty="0"/>
              <a:t>eight planets revolve in elliptical orbits around the Sun</a:t>
            </a:r>
          </a:p>
          <a:p>
            <a:pPr lvl="1"/>
            <a:r>
              <a:rPr lang="en-IN" sz="2000" dirty="0"/>
              <a:t>four inner </a:t>
            </a:r>
            <a:r>
              <a:rPr lang="en-IN" sz="2000" b="1" dirty="0"/>
              <a:t>terrestrial planets </a:t>
            </a:r>
            <a:r>
              <a:rPr lang="en-IN" sz="2000" dirty="0"/>
              <a:t>are mostly smaller, denser, composed of mineral matter with small atmospheres</a:t>
            </a:r>
          </a:p>
          <a:p>
            <a:pPr lvl="1"/>
            <a:r>
              <a:rPr lang="en-IN" sz="2000" dirty="0"/>
              <a:t>four outer </a:t>
            </a:r>
            <a:r>
              <a:rPr lang="en-IN" sz="2000" b="1" dirty="0"/>
              <a:t>Jovian planets</a:t>
            </a:r>
            <a:r>
              <a:rPr lang="en-IN" sz="2000" dirty="0"/>
              <a:t> (gas giants) have deep atmospheres and frozen interiors</a:t>
            </a:r>
          </a:p>
        </p:txBody>
      </p:sp>
      <p:pic>
        <p:nvPicPr>
          <p:cNvPr id="21" name="Content Placeholder 20" descr="An illustration of the solar system demonstrating the elliptical orbits of planets around the sun, in which the shape of the orbits appear as elongated circles, or ovals. ">
            <a:extLst>
              <a:ext uri="{FF2B5EF4-FFF2-40B4-BE49-F238E27FC236}">
                <a16:creationId xmlns:a16="http://schemas.microsoft.com/office/drawing/2014/main" id="{88D5B7FD-4392-41F9-9862-24DCF7CEF35D}"/>
              </a:ext>
            </a:extLst>
          </p:cNvPr>
          <p:cNvPicPr>
            <a:picLocks noGrp="1" noChangeAspect="1"/>
          </p:cNvPicPr>
          <p:nvPr>
            <p:ph sz="quarter" idx="14"/>
          </p:nvPr>
        </p:nvPicPr>
        <p:blipFill rotWithShape="1">
          <a:blip r:embed="rId2"/>
          <a:srcRect b="4746"/>
          <a:stretch/>
        </p:blipFill>
        <p:spPr>
          <a:xfrm>
            <a:off x="1399657" y="3901243"/>
            <a:ext cx="6206140" cy="2398398"/>
          </a:xfrm>
        </p:spPr>
      </p:pic>
    </p:spTree>
    <p:extLst>
      <p:ext uri="{BB962C8B-B14F-4D97-AF65-F5344CB8AC3E}">
        <p14:creationId xmlns:p14="http://schemas.microsoft.com/office/powerpoint/2010/main" val="892829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E30D2-6E6C-4A3E-BCCB-95289DDF794F}"/>
              </a:ext>
            </a:extLst>
          </p:cNvPr>
          <p:cNvSpPr>
            <a:spLocks noGrp="1"/>
          </p:cNvSpPr>
          <p:nvPr>
            <p:ph type="title"/>
          </p:nvPr>
        </p:nvSpPr>
        <p:spPr/>
        <p:txBody>
          <a:bodyPr/>
          <a:lstStyle/>
          <a:p>
            <a:r>
              <a:rPr lang="en-US" altLang="en-US" dirty="0">
                <a:ea typeface="ヒラギノ角ゴ Pro W3" pitchFamily="-84" charset="-128"/>
              </a:rPr>
              <a:t>Earth and the Solar System </a:t>
            </a:r>
            <a:r>
              <a:rPr lang="en-US" altLang="en-US" sz="2000" b="0" dirty="0">
                <a:ea typeface="ヒラギノ角ゴ Pro W3" pitchFamily="-84" charset="-128"/>
              </a:rPr>
              <a:t>(3 of 4)</a:t>
            </a:r>
            <a:endParaRPr lang="en-IN" dirty="0"/>
          </a:p>
        </p:txBody>
      </p:sp>
      <p:sp>
        <p:nvSpPr>
          <p:cNvPr id="3" name="Content Placeholder 2">
            <a:extLst>
              <a:ext uri="{FF2B5EF4-FFF2-40B4-BE49-F238E27FC236}">
                <a16:creationId xmlns:a16="http://schemas.microsoft.com/office/drawing/2014/main" id="{BD0068A6-FB8C-4341-AB27-F331DB8A8729}"/>
              </a:ext>
            </a:extLst>
          </p:cNvPr>
          <p:cNvSpPr>
            <a:spLocks noGrp="1"/>
          </p:cNvSpPr>
          <p:nvPr>
            <p:ph sz="quarter" idx="13"/>
          </p:nvPr>
        </p:nvSpPr>
        <p:spPr>
          <a:xfrm>
            <a:off x="457200" y="1556326"/>
            <a:ext cx="4127500" cy="4664365"/>
          </a:xfrm>
        </p:spPr>
        <p:txBody>
          <a:bodyPr/>
          <a:lstStyle/>
          <a:p>
            <a:pPr marL="432" indent="0">
              <a:buNone/>
            </a:pPr>
            <a:r>
              <a:rPr lang="en-US" sz="2200" b="1" dirty="0"/>
              <a:t>The Size and Shape of Earth</a:t>
            </a:r>
          </a:p>
          <a:p>
            <a:r>
              <a:rPr lang="en-US" sz="2200" b="1" dirty="0"/>
              <a:t>The Size of Earth</a:t>
            </a:r>
          </a:p>
          <a:p>
            <a:pPr lvl="1"/>
            <a:r>
              <a:rPr lang="en-US" sz="2200" dirty="0"/>
              <a:t>total relief, or the difference between highest mountain and deepest trench, is minor on the planetary scale</a:t>
            </a:r>
          </a:p>
          <a:p>
            <a:pPr lvl="1"/>
            <a:r>
              <a:rPr lang="en-US" sz="2200" dirty="0"/>
              <a:t>perception of relative sizes distorted by maps and globes</a:t>
            </a:r>
          </a:p>
        </p:txBody>
      </p:sp>
      <p:pic>
        <p:nvPicPr>
          <p:cNvPr id="6" name="Content Placeholder 5" descr="A model of the Earth showing the difference in elevation between the highest and lowest points. For long description in Notes pane, press F6.">
            <a:extLst>
              <a:ext uri="{FF2B5EF4-FFF2-40B4-BE49-F238E27FC236}">
                <a16:creationId xmlns:a16="http://schemas.microsoft.com/office/drawing/2014/main" id="{771FA3D6-2E53-4546-B2DF-73048D0C3E42}"/>
              </a:ext>
            </a:extLst>
          </p:cNvPr>
          <p:cNvPicPr>
            <a:picLocks noGrp="1" noChangeAspect="1"/>
          </p:cNvPicPr>
          <p:nvPr>
            <p:ph sz="quarter" idx="14"/>
          </p:nvPr>
        </p:nvPicPr>
        <p:blipFill rotWithShape="1">
          <a:blip r:embed="rId3"/>
          <a:srcRect b="2487"/>
          <a:stretch/>
        </p:blipFill>
        <p:spPr>
          <a:xfrm>
            <a:off x="5120841" y="1563075"/>
            <a:ext cx="3283214" cy="4598002"/>
          </a:xfrm>
        </p:spPr>
      </p:pic>
    </p:spTree>
    <p:extLst>
      <p:ext uri="{BB962C8B-B14F-4D97-AF65-F5344CB8AC3E}">
        <p14:creationId xmlns:p14="http://schemas.microsoft.com/office/powerpoint/2010/main" val="4196085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64AA9-C91E-45A3-B236-3EE036DB17A5}"/>
              </a:ext>
            </a:extLst>
          </p:cNvPr>
          <p:cNvSpPr>
            <a:spLocks noGrp="1"/>
          </p:cNvSpPr>
          <p:nvPr>
            <p:ph type="title"/>
          </p:nvPr>
        </p:nvSpPr>
        <p:spPr/>
        <p:txBody>
          <a:bodyPr/>
          <a:lstStyle/>
          <a:p>
            <a:r>
              <a:rPr lang="en-US" altLang="en-US" dirty="0">
                <a:ea typeface="ヒラギノ角ゴ Pro W3" pitchFamily="-84" charset="-128"/>
              </a:rPr>
              <a:t>Earth and the Solar System </a:t>
            </a:r>
            <a:r>
              <a:rPr lang="en-US" altLang="en-US" sz="2000" b="0" dirty="0">
                <a:ea typeface="ヒラギノ角ゴ Pro W3" pitchFamily="-84" charset="-128"/>
              </a:rPr>
              <a:t>(4 of 4)</a:t>
            </a:r>
            <a:endParaRPr lang="en-IN" dirty="0"/>
          </a:p>
        </p:txBody>
      </p:sp>
      <p:sp>
        <p:nvSpPr>
          <p:cNvPr id="3" name="Content Placeholder 2">
            <a:extLst>
              <a:ext uri="{FF2B5EF4-FFF2-40B4-BE49-F238E27FC236}">
                <a16:creationId xmlns:a16="http://schemas.microsoft.com/office/drawing/2014/main" id="{C626FDEF-F681-41CE-B8DB-D516E979DFC6}"/>
              </a:ext>
            </a:extLst>
          </p:cNvPr>
          <p:cNvSpPr>
            <a:spLocks noGrp="1"/>
          </p:cNvSpPr>
          <p:nvPr>
            <p:ph sz="quarter" idx="13"/>
          </p:nvPr>
        </p:nvSpPr>
        <p:spPr>
          <a:xfrm>
            <a:off x="457200" y="1556326"/>
            <a:ext cx="3851564" cy="4465205"/>
          </a:xfrm>
        </p:spPr>
        <p:txBody>
          <a:bodyPr/>
          <a:lstStyle/>
          <a:p>
            <a:r>
              <a:rPr lang="en-US" b="1" dirty="0"/>
              <a:t>The Shape of Earth</a:t>
            </a:r>
          </a:p>
          <a:p>
            <a:pPr lvl="1"/>
            <a:r>
              <a:rPr lang="en-US" dirty="0"/>
              <a:t>not quite spherical</a:t>
            </a:r>
          </a:p>
          <a:p>
            <a:pPr lvl="1"/>
            <a:r>
              <a:rPr lang="en-US" dirty="0"/>
              <a:t>as a rotating body, with pliable rocks</a:t>
            </a:r>
          </a:p>
          <a:p>
            <a:pPr lvl="2"/>
            <a:r>
              <a:rPr lang="en-US" dirty="0"/>
              <a:t>bulges at the equator</a:t>
            </a:r>
          </a:p>
          <a:p>
            <a:pPr lvl="2"/>
            <a:r>
              <a:rPr lang="en-US" dirty="0"/>
              <a:t>flattens at the poles</a:t>
            </a:r>
          </a:p>
          <a:p>
            <a:pPr lvl="1"/>
            <a:r>
              <a:rPr lang="en-US" dirty="0"/>
              <a:t>properly called as an </a:t>
            </a:r>
            <a:r>
              <a:rPr lang="en-US" b="1" dirty="0"/>
              <a:t>oblate spheroid</a:t>
            </a:r>
          </a:p>
        </p:txBody>
      </p:sp>
      <p:pic>
        <p:nvPicPr>
          <p:cNvPr id="6" name="Content Placeholder 5" descr="Two sets of models, A and B, showing how the Earth is not shaped as a perfect sphere. For long description in Notes pane, press F6.">
            <a:extLst>
              <a:ext uri="{FF2B5EF4-FFF2-40B4-BE49-F238E27FC236}">
                <a16:creationId xmlns:a16="http://schemas.microsoft.com/office/drawing/2014/main" id="{11746F14-B995-4BAB-A9C5-E520B9FE22CA}"/>
              </a:ext>
            </a:extLst>
          </p:cNvPr>
          <p:cNvPicPr>
            <a:picLocks noGrp="1" noChangeAspect="1"/>
          </p:cNvPicPr>
          <p:nvPr>
            <p:ph sz="quarter" idx="14"/>
          </p:nvPr>
        </p:nvPicPr>
        <p:blipFill rotWithShape="1">
          <a:blip r:embed="rId3"/>
          <a:srcRect b="2095"/>
          <a:stretch/>
        </p:blipFill>
        <p:spPr>
          <a:xfrm>
            <a:off x="4607862" y="1547714"/>
            <a:ext cx="3747825" cy="4570758"/>
          </a:xfrm>
        </p:spPr>
      </p:pic>
    </p:spTree>
    <p:extLst>
      <p:ext uri="{BB962C8B-B14F-4D97-AF65-F5344CB8AC3E}">
        <p14:creationId xmlns:p14="http://schemas.microsoft.com/office/powerpoint/2010/main" val="429613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8D296-3DE5-4135-924A-DC902AB2CFBC}"/>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(1 of 8)</a:t>
            </a:r>
            <a:endParaRPr lang="en-IN" sz="2000" b="0" dirty="0"/>
          </a:p>
        </p:txBody>
      </p:sp>
      <p:sp>
        <p:nvSpPr>
          <p:cNvPr id="3" name="Content Placeholder 2">
            <a:extLst>
              <a:ext uri="{FF2B5EF4-FFF2-40B4-BE49-F238E27FC236}">
                <a16:creationId xmlns:a16="http://schemas.microsoft.com/office/drawing/2014/main" id="{AD8D59BB-B632-4D14-85E9-2BEA30538117}"/>
              </a:ext>
            </a:extLst>
          </p:cNvPr>
          <p:cNvSpPr>
            <a:spLocks noGrp="1"/>
          </p:cNvSpPr>
          <p:nvPr>
            <p:ph sz="quarter" idx="13"/>
          </p:nvPr>
        </p:nvSpPr>
        <p:spPr>
          <a:xfrm>
            <a:off x="457199" y="1549109"/>
            <a:ext cx="4849092" cy="4768563"/>
          </a:xfrm>
        </p:spPr>
        <p:txBody>
          <a:bodyPr/>
          <a:lstStyle/>
          <a:p>
            <a:r>
              <a:rPr lang="en-US" dirty="0"/>
              <a:t>A system of accurate location</a:t>
            </a:r>
          </a:p>
          <a:p>
            <a:pPr lvl="1"/>
            <a:r>
              <a:rPr lang="en-US" dirty="0"/>
              <a:t>a </a:t>
            </a:r>
            <a:r>
              <a:rPr lang="en-US" b="1" dirty="0"/>
              <a:t>graticule </a:t>
            </a:r>
            <a:r>
              <a:rPr lang="en-US" dirty="0"/>
              <a:t>is a grid system of two sets of lines, intersect at right angles</a:t>
            </a:r>
          </a:p>
          <a:p>
            <a:pPr lvl="1"/>
            <a:r>
              <a:rPr lang="en-US" dirty="0"/>
              <a:t>Earth’s rotation axis is an imaginary line passing through </a:t>
            </a:r>
            <a:r>
              <a:rPr lang="en-US" b="1" dirty="0"/>
              <a:t>North Pole </a:t>
            </a:r>
            <a:r>
              <a:rPr lang="en-US" dirty="0"/>
              <a:t>and </a:t>
            </a:r>
            <a:r>
              <a:rPr lang="en-US" b="1" dirty="0"/>
              <a:t>South Pole</a:t>
            </a:r>
          </a:p>
          <a:p>
            <a:pPr lvl="1"/>
            <a:r>
              <a:rPr lang="en-US" b="1" dirty="0"/>
              <a:t>plane of the equator </a:t>
            </a:r>
            <a:r>
              <a:rPr lang="en-US" dirty="0"/>
              <a:t>is an imaginary line through Earth’s midline or </a:t>
            </a:r>
            <a:r>
              <a:rPr lang="en-US" b="1" dirty="0"/>
              <a:t>equator</a:t>
            </a:r>
          </a:p>
        </p:txBody>
      </p:sp>
      <p:pic>
        <p:nvPicPr>
          <p:cNvPr id="8" name="Content Placeholder 7" descr="A map showing an example of a grid system, in which the continent of Africa appears within a five by five, square grid.  For long description in Notes pane, press F6.">
            <a:extLst>
              <a:ext uri="{FF2B5EF4-FFF2-40B4-BE49-F238E27FC236}">
                <a16:creationId xmlns:a16="http://schemas.microsoft.com/office/drawing/2014/main" id="{8A72306A-60BD-411D-9325-84031EEFDBCF}"/>
              </a:ext>
            </a:extLst>
          </p:cNvPr>
          <p:cNvPicPr>
            <a:picLocks noGrp="1" noChangeAspect="1"/>
          </p:cNvPicPr>
          <p:nvPr>
            <p:ph sz="quarter" idx="15"/>
          </p:nvPr>
        </p:nvPicPr>
        <p:blipFill rotWithShape="1">
          <a:blip r:embed="rId3"/>
          <a:srcRect b="1940"/>
          <a:stretch/>
        </p:blipFill>
        <p:spPr>
          <a:xfrm>
            <a:off x="5619130" y="1546451"/>
            <a:ext cx="2483010" cy="2476125"/>
          </a:xfrm>
        </p:spPr>
      </p:pic>
      <p:pic>
        <p:nvPicPr>
          <p:cNvPr id="10" name="Content Placeholder 9" descr="A model of Earth showing its rotation around its axis. The rotation spins in a counter clockwise direction when looking down at the North Pole. An equatorial plane demonstrates how the Earth is slightly tilted on its axis. ">
            <a:extLst>
              <a:ext uri="{FF2B5EF4-FFF2-40B4-BE49-F238E27FC236}">
                <a16:creationId xmlns:a16="http://schemas.microsoft.com/office/drawing/2014/main" id="{A586556C-F506-47EE-AD52-77C87C5DEDA4}"/>
              </a:ext>
            </a:extLst>
          </p:cNvPr>
          <p:cNvPicPr>
            <a:picLocks noGrp="1" noChangeAspect="1"/>
          </p:cNvPicPr>
          <p:nvPr>
            <p:ph sz="quarter" idx="14"/>
          </p:nvPr>
        </p:nvPicPr>
        <p:blipFill rotWithShape="1">
          <a:blip r:embed="rId4"/>
          <a:srcRect b="2705"/>
          <a:stretch/>
        </p:blipFill>
        <p:spPr>
          <a:xfrm>
            <a:off x="5650638" y="4193402"/>
            <a:ext cx="2500817" cy="2125455"/>
          </a:xfrm>
        </p:spPr>
      </p:pic>
    </p:spTree>
    <p:extLst>
      <p:ext uri="{BB962C8B-B14F-4D97-AF65-F5344CB8AC3E}">
        <p14:creationId xmlns:p14="http://schemas.microsoft.com/office/powerpoint/2010/main" val="1403008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9A3D9-5334-4285-A288-D01E6C49F34A}"/>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(2 of 8)</a:t>
            </a:r>
            <a:endParaRPr lang="en-IN" sz="2000" b="0" dirty="0"/>
          </a:p>
        </p:txBody>
      </p:sp>
      <p:sp>
        <p:nvSpPr>
          <p:cNvPr id="3" name="Content Placeholder 2">
            <a:extLst>
              <a:ext uri="{FF2B5EF4-FFF2-40B4-BE49-F238E27FC236}">
                <a16:creationId xmlns:a16="http://schemas.microsoft.com/office/drawing/2014/main" id="{2E265A00-A8ED-4C19-AB45-350C96DE3A30}"/>
              </a:ext>
            </a:extLst>
          </p:cNvPr>
          <p:cNvSpPr>
            <a:spLocks noGrp="1"/>
          </p:cNvSpPr>
          <p:nvPr>
            <p:ph sz="quarter" idx="15"/>
          </p:nvPr>
        </p:nvSpPr>
        <p:spPr/>
        <p:txBody>
          <a:bodyPr/>
          <a:lstStyle/>
          <a:p>
            <a:r>
              <a:rPr lang="en-US" sz="1800" b="1" dirty="0"/>
              <a:t>Great Circles</a:t>
            </a:r>
          </a:p>
          <a:p>
            <a:pPr lvl="1"/>
            <a:r>
              <a:rPr lang="en-US" sz="1800" dirty="0"/>
              <a:t>any plane that passes through center of a sphere</a:t>
            </a:r>
          </a:p>
          <a:p>
            <a:pPr lvl="1"/>
            <a:r>
              <a:rPr lang="en-US" sz="1800" dirty="0"/>
              <a:t>divide into two equal halves or </a:t>
            </a:r>
            <a:r>
              <a:rPr lang="en-US" sz="1800" b="1" dirty="0"/>
              <a:t>hemispheres</a:t>
            </a:r>
          </a:p>
          <a:p>
            <a:pPr lvl="2"/>
            <a:r>
              <a:rPr lang="en-US" sz="1800" dirty="0"/>
              <a:t>the equator is a </a:t>
            </a:r>
            <a:r>
              <a:rPr lang="en-US" sz="1800" b="1" dirty="0"/>
              <a:t>great circle</a:t>
            </a:r>
          </a:p>
          <a:p>
            <a:pPr lvl="1"/>
            <a:r>
              <a:rPr lang="en-US" sz="1800" b="1" dirty="0"/>
              <a:t>great circle route </a:t>
            </a:r>
            <a:r>
              <a:rPr lang="en-US" sz="1800" dirty="0"/>
              <a:t>is a path between two points along the arc of a great circle is always the shortest route</a:t>
            </a:r>
          </a:p>
          <a:p>
            <a:r>
              <a:rPr lang="en-US" sz="1800" b="1" dirty="0"/>
              <a:t>Small circles </a:t>
            </a:r>
            <a:r>
              <a:rPr lang="en-US" sz="1800" dirty="0"/>
              <a:t>do not pass through center</a:t>
            </a:r>
          </a:p>
        </p:txBody>
      </p:sp>
      <p:pic>
        <p:nvPicPr>
          <p:cNvPr id="7" name="Content Placeholder 6" descr="Two sets of models, A and B, showing the the formation of great circles and small circles at the points where planes intersect the Earth’s surface, respectively.  For long description in Notes pane, press F6.">
            <a:extLst>
              <a:ext uri="{FF2B5EF4-FFF2-40B4-BE49-F238E27FC236}">
                <a16:creationId xmlns:a16="http://schemas.microsoft.com/office/drawing/2014/main" id="{07705CA4-DD95-4AF2-BB4E-D00760CE6F47}"/>
              </a:ext>
            </a:extLst>
          </p:cNvPr>
          <p:cNvPicPr>
            <a:picLocks noGrp="1" noChangeAspect="1"/>
          </p:cNvPicPr>
          <p:nvPr>
            <p:ph sz="quarter" idx="13"/>
          </p:nvPr>
        </p:nvPicPr>
        <p:blipFill rotWithShape="1">
          <a:blip r:embed="rId3"/>
          <a:srcRect b="2239"/>
          <a:stretch/>
        </p:blipFill>
        <p:spPr>
          <a:xfrm>
            <a:off x="4471700" y="1553857"/>
            <a:ext cx="4226641" cy="4427135"/>
          </a:xfrm>
        </p:spPr>
      </p:pic>
    </p:spTree>
    <p:extLst>
      <p:ext uri="{BB962C8B-B14F-4D97-AF65-F5344CB8AC3E}">
        <p14:creationId xmlns:p14="http://schemas.microsoft.com/office/powerpoint/2010/main" val="207105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4BF4B7E-A69E-419F-B29E-4D0FA5638808}"/>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(3 of 8)</a:t>
            </a:r>
            <a:endParaRPr lang="en-IN" sz="3200" dirty="0"/>
          </a:p>
        </p:txBody>
      </p:sp>
      <p:sp>
        <p:nvSpPr>
          <p:cNvPr id="7" name="Content Placeholder 6">
            <a:extLst>
              <a:ext uri="{FF2B5EF4-FFF2-40B4-BE49-F238E27FC236}">
                <a16:creationId xmlns:a16="http://schemas.microsoft.com/office/drawing/2014/main" id="{EFC979E0-2538-429C-AB45-736CB918A884}"/>
              </a:ext>
            </a:extLst>
          </p:cNvPr>
          <p:cNvSpPr>
            <a:spLocks noGrp="1"/>
          </p:cNvSpPr>
          <p:nvPr>
            <p:ph sz="quarter" idx="13"/>
          </p:nvPr>
        </p:nvSpPr>
        <p:spPr>
          <a:xfrm>
            <a:off x="457200" y="1552575"/>
            <a:ext cx="4011769" cy="2219326"/>
          </a:xfrm>
        </p:spPr>
        <p:txBody>
          <a:bodyPr/>
          <a:lstStyle/>
          <a:p>
            <a:pPr marL="432" indent="0">
              <a:buNone/>
            </a:pPr>
            <a:r>
              <a:rPr lang="en-US" sz="2000" b="1" dirty="0"/>
              <a:t>Latitude</a:t>
            </a:r>
          </a:p>
          <a:p>
            <a:r>
              <a:rPr lang="en-US" sz="2000" dirty="0"/>
              <a:t>Description of location as an angle north or south of equator</a:t>
            </a:r>
          </a:p>
          <a:p>
            <a:pPr lvl="1" indent="-284400"/>
            <a:r>
              <a:rPr lang="en-US" sz="2000" dirty="0"/>
              <a:t>expressed in </a:t>
            </a:r>
            <a:r>
              <a:rPr lang="en-US" sz="2000" b="1" dirty="0"/>
              <a:t>degrees, minutes, </a:t>
            </a:r>
            <a:r>
              <a:rPr lang="en-US" sz="2000" dirty="0"/>
              <a:t>and </a:t>
            </a:r>
            <a:r>
              <a:rPr lang="en-US" sz="2000" b="1" dirty="0"/>
              <a:t>seconds </a:t>
            </a:r>
            <a:r>
              <a:rPr lang="en-US" sz="2000" dirty="0"/>
              <a:t>or decimal notation</a:t>
            </a:r>
          </a:p>
        </p:txBody>
      </p:sp>
      <p:sp>
        <p:nvSpPr>
          <p:cNvPr id="8" name="Content Placeholder 7">
            <a:extLst>
              <a:ext uri="{FF2B5EF4-FFF2-40B4-BE49-F238E27FC236}">
                <a16:creationId xmlns:a16="http://schemas.microsoft.com/office/drawing/2014/main" id="{44E3339E-7DA1-44F5-983A-80FB0301560B}"/>
              </a:ext>
            </a:extLst>
          </p:cNvPr>
          <p:cNvSpPr>
            <a:spLocks noGrp="1"/>
          </p:cNvSpPr>
          <p:nvPr>
            <p:ph sz="quarter" idx="14"/>
          </p:nvPr>
        </p:nvSpPr>
        <p:spPr>
          <a:xfrm>
            <a:off x="1003301" y="3848819"/>
            <a:ext cx="266700" cy="336551"/>
          </a:xfrm>
        </p:spPr>
        <p:txBody>
          <a:bodyPr lIns="0" tIns="0" rIns="0" bIns="0"/>
          <a:lstStyle/>
          <a:p>
            <a:pPr marL="0" lvl="1" indent="0"/>
            <a:r>
              <a:rPr lang="en-US" sz="2000" dirty="0"/>
              <a:t> </a:t>
            </a:r>
            <a:r>
              <a:rPr lang="en-US" sz="100" dirty="0"/>
              <a:t> </a:t>
            </a:r>
            <a:endParaRPr lang="en-IN" sz="100" dirty="0"/>
          </a:p>
        </p:txBody>
      </p:sp>
      <p:graphicFrame>
        <p:nvGraphicFramePr>
          <p:cNvPr id="21" name="Object 20" descr="0 degree">
            <a:extLst>
              <a:ext uri="{FF2B5EF4-FFF2-40B4-BE49-F238E27FC236}">
                <a16:creationId xmlns:a16="http://schemas.microsoft.com/office/drawing/2014/main" id="{A1DA41C5-D395-4DA9-AB65-85482A0DDC59}"/>
              </a:ext>
            </a:extLst>
          </p:cNvPr>
          <p:cNvGraphicFramePr>
            <a:graphicFrameLocks noChangeAspect="1"/>
          </p:cNvGraphicFramePr>
          <p:nvPr>
            <p:extLst>
              <p:ext uri="{D42A27DB-BD31-4B8C-83A1-F6EECF244321}">
                <p14:modId xmlns:p14="http://schemas.microsoft.com/office/powerpoint/2010/main" val="1272188058"/>
              </p:ext>
            </p:extLst>
          </p:nvPr>
        </p:nvGraphicFramePr>
        <p:xfrm>
          <a:off x="1320121" y="3884895"/>
          <a:ext cx="297505" cy="297505"/>
        </p:xfrm>
        <a:graphic>
          <a:graphicData uri="http://schemas.openxmlformats.org/presentationml/2006/ole">
            <mc:AlternateContent xmlns:mc="http://schemas.openxmlformats.org/markup-compatibility/2006">
              <mc:Choice xmlns:v="urn:schemas-microsoft-com:vml" Requires="v">
                <p:oleObj name="Equation" r:id="rId3" imgW="203040" imgH="203040" progId="Equation.DSMT4">
                  <p:embed/>
                </p:oleObj>
              </mc:Choice>
              <mc:Fallback>
                <p:oleObj name="Equation" r:id="rId3" imgW="203040" imgH="203040" progId="Equation.DSMT4">
                  <p:embed/>
                  <p:pic>
                    <p:nvPicPr>
                      <p:cNvPr id="0" name=""/>
                      <p:cNvPicPr/>
                      <p:nvPr/>
                    </p:nvPicPr>
                    <p:blipFill>
                      <a:blip r:embed="rId4"/>
                      <a:stretch>
                        <a:fillRect/>
                      </a:stretch>
                    </p:blipFill>
                    <p:spPr>
                      <a:xfrm>
                        <a:off x="1320121" y="3884895"/>
                        <a:ext cx="297505" cy="297505"/>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32F8F289-895A-44EB-97C0-8C83A6EDCDF9}"/>
              </a:ext>
            </a:extLst>
          </p:cNvPr>
          <p:cNvSpPr>
            <a:spLocks noGrp="1"/>
          </p:cNvSpPr>
          <p:nvPr>
            <p:ph sz="quarter" idx="15"/>
          </p:nvPr>
        </p:nvSpPr>
        <p:spPr>
          <a:xfrm>
            <a:off x="1670920" y="3854046"/>
            <a:ext cx="1254990" cy="336551"/>
          </a:xfrm>
        </p:spPr>
        <p:txBody>
          <a:bodyPr lIns="0" tIns="0" rIns="0" bIns="0"/>
          <a:lstStyle/>
          <a:p>
            <a:pPr marL="0" lvl="1" indent="0">
              <a:buNone/>
            </a:pPr>
            <a:r>
              <a:rPr lang="en-US" sz="2000" dirty="0">
                <a:solidFill>
                  <a:srgbClr val="000000"/>
                </a:solidFill>
                <a:ea typeface="Calibri"/>
              </a:rPr>
              <a:t>at equator</a:t>
            </a:r>
            <a:endParaRPr lang="en-IN" sz="2000" dirty="0"/>
          </a:p>
        </p:txBody>
      </p:sp>
      <p:sp>
        <p:nvSpPr>
          <p:cNvPr id="10" name="Content Placeholder 9">
            <a:extLst>
              <a:ext uri="{FF2B5EF4-FFF2-40B4-BE49-F238E27FC236}">
                <a16:creationId xmlns:a16="http://schemas.microsoft.com/office/drawing/2014/main" id="{66787318-CF27-4519-95C1-20E89C19B98F}"/>
              </a:ext>
            </a:extLst>
          </p:cNvPr>
          <p:cNvSpPr>
            <a:spLocks noGrp="1"/>
          </p:cNvSpPr>
          <p:nvPr>
            <p:ph sz="quarter" idx="16"/>
          </p:nvPr>
        </p:nvSpPr>
        <p:spPr>
          <a:xfrm>
            <a:off x="1004001" y="4361637"/>
            <a:ext cx="266700" cy="336552"/>
          </a:xfrm>
        </p:spPr>
        <p:txBody>
          <a:bodyPr lIns="0" tIns="0" rIns="0" bIns="0"/>
          <a:lstStyle/>
          <a:p>
            <a:pPr marL="0" lvl="1" indent="0"/>
            <a:r>
              <a:rPr lang="en-US" sz="2000" dirty="0"/>
              <a:t> </a:t>
            </a:r>
            <a:r>
              <a:rPr lang="en-US" sz="100" dirty="0"/>
              <a:t> </a:t>
            </a:r>
            <a:endParaRPr lang="en-IN" sz="100" dirty="0"/>
          </a:p>
        </p:txBody>
      </p:sp>
      <p:graphicFrame>
        <p:nvGraphicFramePr>
          <p:cNvPr id="22" name="Object 21" descr="90 degrees">
            <a:extLst>
              <a:ext uri="{FF2B5EF4-FFF2-40B4-BE49-F238E27FC236}">
                <a16:creationId xmlns:a16="http://schemas.microsoft.com/office/drawing/2014/main" id="{F746FA88-5E83-413A-89E2-708A293CA927}"/>
              </a:ext>
            </a:extLst>
          </p:cNvPr>
          <p:cNvGraphicFramePr>
            <a:graphicFrameLocks noChangeAspect="1"/>
          </p:cNvGraphicFramePr>
          <p:nvPr>
            <p:extLst>
              <p:ext uri="{D42A27DB-BD31-4B8C-83A1-F6EECF244321}">
                <p14:modId xmlns:p14="http://schemas.microsoft.com/office/powerpoint/2010/main" val="1630098182"/>
              </p:ext>
            </p:extLst>
          </p:nvPr>
        </p:nvGraphicFramePr>
        <p:xfrm>
          <a:off x="1321182" y="4393630"/>
          <a:ext cx="446258" cy="297505"/>
        </p:xfrm>
        <a:graphic>
          <a:graphicData uri="http://schemas.openxmlformats.org/presentationml/2006/ole">
            <mc:AlternateContent xmlns:mc="http://schemas.openxmlformats.org/markup-compatibility/2006">
              <mc:Choice xmlns:v="urn:schemas-microsoft-com:vml" Requires="v">
                <p:oleObj name="Equation" r:id="rId5" imgW="304560" imgH="203040" progId="Equation.DSMT4">
                  <p:embed/>
                </p:oleObj>
              </mc:Choice>
              <mc:Fallback>
                <p:oleObj name="Equation" r:id="rId5" imgW="304560" imgH="203040" progId="Equation.DSMT4">
                  <p:embed/>
                  <p:pic>
                    <p:nvPicPr>
                      <p:cNvPr id="0" name=""/>
                      <p:cNvPicPr/>
                      <p:nvPr/>
                    </p:nvPicPr>
                    <p:blipFill>
                      <a:blip r:embed="rId6"/>
                      <a:stretch>
                        <a:fillRect/>
                      </a:stretch>
                    </p:blipFill>
                    <p:spPr>
                      <a:xfrm>
                        <a:off x="1321182" y="4393630"/>
                        <a:ext cx="446258" cy="297505"/>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BC8A4694-20F9-4D19-A8D2-90279BD44A79}"/>
              </a:ext>
            </a:extLst>
          </p:cNvPr>
          <p:cNvSpPr>
            <a:spLocks noGrp="1"/>
          </p:cNvSpPr>
          <p:nvPr>
            <p:ph sz="quarter" idx="17"/>
          </p:nvPr>
        </p:nvSpPr>
        <p:spPr>
          <a:xfrm>
            <a:off x="1843190" y="4374262"/>
            <a:ext cx="2335809" cy="341823"/>
          </a:xfrm>
        </p:spPr>
        <p:txBody>
          <a:bodyPr lIns="0" tIns="0" rIns="0" bIns="0"/>
          <a:lstStyle/>
          <a:p>
            <a:pPr marL="0" lvl="1" indent="0">
              <a:buNone/>
            </a:pPr>
            <a:r>
              <a:rPr lang="en-US" sz="2000" dirty="0"/>
              <a:t>north at North Pole,</a:t>
            </a:r>
            <a:endParaRPr lang="en-IN" sz="2000" dirty="0"/>
          </a:p>
        </p:txBody>
      </p:sp>
      <p:graphicFrame>
        <p:nvGraphicFramePr>
          <p:cNvPr id="23" name="Object 22" descr="90 degrees">
            <a:extLst>
              <a:ext uri="{FF2B5EF4-FFF2-40B4-BE49-F238E27FC236}">
                <a16:creationId xmlns:a16="http://schemas.microsoft.com/office/drawing/2014/main" id="{59072F6E-CCDB-4968-A331-4605A77F685D}"/>
              </a:ext>
            </a:extLst>
          </p:cNvPr>
          <p:cNvGraphicFramePr>
            <a:graphicFrameLocks noChangeAspect="1"/>
          </p:cNvGraphicFramePr>
          <p:nvPr>
            <p:extLst>
              <p:ext uri="{D42A27DB-BD31-4B8C-83A1-F6EECF244321}">
                <p14:modId xmlns:p14="http://schemas.microsoft.com/office/powerpoint/2010/main" val="107479698"/>
              </p:ext>
            </p:extLst>
          </p:nvPr>
        </p:nvGraphicFramePr>
        <p:xfrm>
          <a:off x="4245624" y="4405436"/>
          <a:ext cx="405689" cy="270459"/>
        </p:xfrm>
        <a:graphic>
          <a:graphicData uri="http://schemas.openxmlformats.org/presentationml/2006/ole">
            <mc:AlternateContent xmlns:mc="http://schemas.openxmlformats.org/markup-compatibility/2006">
              <mc:Choice xmlns:v="urn:schemas-microsoft-com:vml" Requires="v">
                <p:oleObj name="Equation" r:id="rId5" imgW="304560" imgH="203040" progId="Equation.DSMT4">
                  <p:embed/>
                </p:oleObj>
              </mc:Choice>
              <mc:Fallback>
                <p:oleObj name="Equation" r:id="rId5" imgW="304560" imgH="203040" progId="Equation.DSMT4">
                  <p:embed/>
                  <p:pic>
                    <p:nvPicPr>
                      <p:cNvPr id="22" name="Object 21">
                        <a:extLst>
                          <a:ext uri="{FF2B5EF4-FFF2-40B4-BE49-F238E27FC236}">
                            <a16:creationId xmlns:a16="http://schemas.microsoft.com/office/drawing/2014/main" id="{F746FA88-5E83-413A-89E2-708A293CA927}"/>
                          </a:ext>
                        </a:extLst>
                      </p:cNvPr>
                      <p:cNvPicPr/>
                      <p:nvPr/>
                    </p:nvPicPr>
                    <p:blipFill>
                      <a:blip r:embed="rId6"/>
                      <a:stretch>
                        <a:fillRect/>
                      </a:stretch>
                    </p:blipFill>
                    <p:spPr>
                      <a:xfrm>
                        <a:off x="4245624" y="4405436"/>
                        <a:ext cx="405689" cy="270459"/>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AB30B281-D295-4C5B-B23E-FD229150117D}"/>
              </a:ext>
            </a:extLst>
          </p:cNvPr>
          <p:cNvSpPr>
            <a:spLocks noGrp="1"/>
          </p:cNvSpPr>
          <p:nvPr>
            <p:ph sz="quarter" idx="20"/>
          </p:nvPr>
        </p:nvSpPr>
        <p:spPr>
          <a:xfrm>
            <a:off x="1321182" y="4759232"/>
            <a:ext cx="2345097" cy="393203"/>
          </a:xfrm>
        </p:spPr>
        <p:txBody>
          <a:bodyPr lIns="0" tIns="0" rIns="0" bIns="0"/>
          <a:lstStyle/>
          <a:p>
            <a:pPr marL="0" lvl="1" indent="0">
              <a:buNone/>
            </a:pPr>
            <a:r>
              <a:rPr lang="en-US" sz="2000" dirty="0">
                <a:ea typeface="Calibri"/>
              </a:rPr>
              <a:t>south at South Pole</a:t>
            </a:r>
            <a:endParaRPr lang="en-IN" sz="2000" dirty="0"/>
          </a:p>
        </p:txBody>
      </p:sp>
      <p:pic>
        <p:nvPicPr>
          <p:cNvPr id="27" name="Content Placeholder 26" descr="A cross sectional model of the Earth showing examples of how latitude measurement is determined. For long description in Notes pane, press F6.">
            <a:extLst>
              <a:ext uri="{FF2B5EF4-FFF2-40B4-BE49-F238E27FC236}">
                <a16:creationId xmlns:a16="http://schemas.microsoft.com/office/drawing/2014/main" id="{211D6E6C-9FBD-4684-AEF6-5EC882DA9719}"/>
              </a:ext>
            </a:extLst>
          </p:cNvPr>
          <p:cNvPicPr>
            <a:picLocks noGrp="1" noChangeAspect="1"/>
          </p:cNvPicPr>
          <p:nvPr>
            <p:ph sz="quarter" idx="18"/>
          </p:nvPr>
        </p:nvPicPr>
        <p:blipFill rotWithShape="1">
          <a:blip r:embed="rId7"/>
          <a:srcRect b="1962"/>
          <a:stretch/>
        </p:blipFill>
        <p:spPr>
          <a:xfrm>
            <a:off x="4931837" y="1540695"/>
            <a:ext cx="3555126" cy="3945705"/>
          </a:xfrm>
        </p:spPr>
      </p:pic>
    </p:spTree>
    <p:extLst>
      <p:ext uri="{BB962C8B-B14F-4D97-AF65-F5344CB8AC3E}">
        <p14:creationId xmlns:p14="http://schemas.microsoft.com/office/powerpoint/2010/main" val="2021502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6E623A66-8AE4-474F-B012-A258702CFA68}"/>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(4 of 8)</a:t>
            </a:r>
            <a:endParaRPr lang="en-IN" sz="3200" dirty="0"/>
          </a:p>
        </p:txBody>
      </p:sp>
      <p:sp>
        <p:nvSpPr>
          <p:cNvPr id="21" name="Content Placeholder 20">
            <a:extLst>
              <a:ext uri="{FF2B5EF4-FFF2-40B4-BE49-F238E27FC236}">
                <a16:creationId xmlns:a16="http://schemas.microsoft.com/office/drawing/2014/main" id="{1343640C-D8E8-4D89-8931-810045EA3DED}"/>
              </a:ext>
            </a:extLst>
          </p:cNvPr>
          <p:cNvSpPr>
            <a:spLocks noGrp="1"/>
          </p:cNvSpPr>
          <p:nvPr>
            <p:ph sz="quarter" idx="13"/>
          </p:nvPr>
        </p:nvSpPr>
        <p:spPr>
          <a:xfrm>
            <a:off x="457200" y="1552574"/>
            <a:ext cx="4011769" cy="764741"/>
          </a:xfrm>
        </p:spPr>
        <p:txBody>
          <a:bodyPr/>
          <a:lstStyle/>
          <a:p>
            <a:r>
              <a:rPr lang="en-US" altLang="en-US" sz="2000" b="1" dirty="0">
                <a:ea typeface="ヒラギノ角ゴ Pro W3" pitchFamily="-84" charset="-128"/>
                <a:cs typeface="ヒラギノ角ゴ Pro W3" pitchFamily="-84" charset="-128"/>
              </a:rPr>
              <a:t>Parallel </a:t>
            </a:r>
            <a:r>
              <a:rPr lang="en-US" altLang="en-US" sz="2000" dirty="0">
                <a:ea typeface="ヒラギノ角ゴ Pro W3" pitchFamily="-84" charset="-128"/>
                <a:cs typeface="ヒラギノ角ゴ Pro W3" pitchFamily="-84" charset="-128"/>
              </a:rPr>
              <a:t>is a line that connects all points of the same </a:t>
            </a:r>
            <a:r>
              <a:rPr lang="en-US" altLang="en-US" sz="2000" b="1" dirty="0">
                <a:ea typeface="ヒラギノ角ゴ Pro W3" pitchFamily="-84" charset="-128"/>
                <a:cs typeface="ヒラギノ角ゴ Pro W3" pitchFamily="-84" charset="-128"/>
              </a:rPr>
              <a:t>latitude</a:t>
            </a:r>
            <a:endParaRPr lang="en-US" altLang="en-US" sz="2000" dirty="0">
              <a:ea typeface="ヒラギノ角ゴ Pro W3" pitchFamily="-84" charset="-128"/>
              <a:cs typeface="ヒラギノ角ゴ Pro W3" pitchFamily="-84" charset="-128"/>
            </a:endParaRPr>
          </a:p>
        </p:txBody>
      </p:sp>
      <p:sp>
        <p:nvSpPr>
          <p:cNvPr id="22" name="Content Placeholder 21">
            <a:extLst>
              <a:ext uri="{FF2B5EF4-FFF2-40B4-BE49-F238E27FC236}">
                <a16:creationId xmlns:a16="http://schemas.microsoft.com/office/drawing/2014/main" id="{AEDB7963-A3AA-4002-B6F0-3538C6D2850F}"/>
              </a:ext>
            </a:extLst>
          </p:cNvPr>
          <p:cNvSpPr>
            <a:spLocks noGrp="1"/>
          </p:cNvSpPr>
          <p:nvPr>
            <p:ph sz="quarter" idx="14"/>
          </p:nvPr>
        </p:nvSpPr>
        <p:spPr>
          <a:xfrm>
            <a:off x="457201" y="2380327"/>
            <a:ext cx="3089564" cy="346364"/>
          </a:xfrm>
        </p:spPr>
        <p:txBody>
          <a:bodyPr tIns="0" bIns="0"/>
          <a:lstStyle/>
          <a:p>
            <a:pPr lvl="1" indent="-284400"/>
            <a:r>
              <a:rPr lang="en-US" altLang="en-US" sz="2000" dirty="0">
                <a:ea typeface="ヒラギノ角ゴ Pro W3" pitchFamily="-84" charset="-128"/>
                <a:cs typeface="Geneva" pitchFamily="34" charset="0"/>
              </a:rPr>
              <a:t>equator parallel, at</a:t>
            </a:r>
            <a:endParaRPr lang="en-IN" sz="2000" dirty="0"/>
          </a:p>
        </p:txBody>
      </p:sp>
      <p:graphicFrame>
        <p:nvGraphicFramePr>
          <p:cNvPr id="37" name="Object 36" descr="0 degree">
            <a:extLst>
              <a:ext uri="{FF2B5EF4-FFF2-40B4-BE49-F238E27FC236}">
                <a16:creationId xmlns:a16="http://schemas.microsoft.com/office/drawing/2014/main" id="{0A1CF7C6-064A-42BB-88FA-0B47EAAB775E}"/>
              </a:ext>
            </a:extLst>
          </p:cNvPr>
          <p:cNvGraphicFramePr>
            <a:graphicFrameLocks noChangeAspect="1"/>
          </p:cNvGraphicFramePr>
          <p:nvPr>
            <p:extLst>
              <p:ext uri="{D42A27DB-BD31-4B8C-83A1-F6EECF244321}">
                <p14:modId xmlns:p14="http://schemas.microsoft.com/office/powerpoint/2010/main" val="939204968"/>
              </p:ext>
            </p:extLst>
          </p:nvPr>
        </p:nvGraphicFramePr>
        <p:xfrm>
          <a:off x="3638410" y="2414392"/>
          <a:ext cx="273164" cy="273164"/>
        </p:xfrm>
        <a:graphic>
          <a:graphicData uri="http://schemas.openxmlformats.org/presentationml/2006/ole">
            <mc:AlternateContent xmlns:mc="http://schemas.openxmlformats.org/markup-compatibility/2006">
              <mc:Choice xmlns:v="urn:schemas-microsoft-com:vml" Requires="v">
                <p:oleObj name="Equation" r:id="rId2" imgW="203040" imgH="203040" progId="Equation.DSMT4">
                  <p:embed/>
                </p:oleObj>
              </mc:Choice>
              <mc:Fallback>
                <p:oleObj name="Equation" r:id="rId2" imgW="203040" imgH="203040" progId="Equation.DSMT4">
                  <p:embed/>
                  <p:pic>
                    <p:nvPicPr>
                      <p:cNvPr id="0" name=""/>
                      <p:cNvPicPr/>
                      <p:nvPr/>
                    </p:nvPicPr>
                    <p:blipFill>
                      <a:blip r:embed="rId3"/>
                      <a:stretch>
                        <a:fillRect/>
                      </a:stretch>
                    </p:blipFill>
                    <p:spPr>
                      <a:xfrm>
                        <a:off x="3638410" y="2414392"/>
                        <a:ext cx="273164" cy="273164"/>
                      </a:xfrm>
                      <a:prstGeom prst="rect">
                        <a:avLst/>
                      </a:prstGeom>
                    </p:spPr>
                  </p:pic>
                </p:oleObj>
              </mc:Fallback>
            </mc:AlternateContent>
          </a:graphicData>
        </a:graphic>
      </p:graphicFrame>
      <p:sp>
        <p:nvSpPr>
          <p:cNvPr id="25" name="Content Placeholder 24">
            <a:extLst>
              <a:ext uri="{FF2B5EF4-FFF2-40B4-BE49-F238E27FC236}">
                <a16:creationId xmlns:a16="http://schemas.microsoft.com/office/drawing/2014/main" id="{F123E83F-380F-4652-95D7-0699B1A11C9E}"/>
              </a:ext>
            </a:extLst>
          </p:cNvPr>
          <p:cNvSpPr>
            <a:spLocks noGrp="1"/>
          </p:cNvSpPr>
          <p:nvPr>
            <p:ph sz="quarter" idx="15"/>
          </p:nvPr>
        </p:nvSpPr>
        <p:spPr>
          <a:xfrm>
            <a:off x="1177634" y="2802689"/>
            <a:ext cx="3352800" cy="346364"/>
          </a:xfrm>
        </p:spPr>
        <p:txBody>
          <a:bodyPr tIns="0" bIns="0"/>
          <a:lstStyle/>
          <a:p>
            <a:pPr marL="0" lvl="1" indent="0">
              <a:buNone/>
            </a:pPr>
            <a:r>
              <a:rPr lang="en-US" sz="2000" dirty="0">
                <a:ea typeface="Calibri"/>
              </a:rPr>
              <a:t>latitude, the only great circle</a:t>
            </a:r>
            <a:endParaRPr lang="en-IN" sz="2000" dirty="0"/>
          </a:p>
        </p:txBody>
      </p:sp>
      <p:sp>
        <p:nvSpPr>
          <p:cNvPr id="26" name="Content Placeholder 25">
            <a:extLst>
              <a:ext uri="{FF2B5EF4-FFF2-40B4-BE49-F238E27FC236}">
                <a16:creationId xmlns:a16="http://schemas.microsoft.com/office/drawing/2014/main" id="{99261BC4-0802-4532-8712-B69F415F2A47}"/>
              </a:ext>
            </a:extLst>
          </p:cNvPr>
          <p:cNvSpPr>
            <a:spLocks noGrp="1"/>
          </p:cNvSpPr>
          <p:nvPr>
            <p:ph sz="quarter" idx="16"/>
          </p:nvPr>
        </p:nvSpPr>
        <p:spPr>
          <a:xfrm>
            <a:off x="457200" y="3206132"/>
            <a:ext cx="4011769" cy="1636191"/>
          </a:xfrm>
        </p:spPr>
        <p:txBody>
          <a:bodyPr tIns="0" bIns="0"/>
          <a:lstStyle/>
          <a:p>
            <a:pPr marL="741600" lvl="1" indent="-284400" eaLnBrk="1" hangingPunct="1"/>
            <a:r>
              <a:rPr lang="en-US" altLang="en-US" sz="2000" dirty="0">
                <a:ea typeface="ヒラギノ角ゴ Pro W3" pitchFamily="-84" charset="-128"/>
                <a:cs typeface="Geneva" pitchFamily="34" charset="0"/>
              </a:rPr>
              <a:t>other parallels are small circles</a:t>
            </a:r>
          </a:p>
          <a:p>
            <a:pPr marL="741600" lvl="1" indent="-284400" eaLnBrk="1" hangingPunct="1"/>
            <a:r>
              <a:rPr lang="en-US" altLang="en-US" sz="2000" dirty="0">
                <a:ea typeface="ヒラギノ角ゴ Pro W3" pitchFamily="-84" charset="-128"/>
                <a:cs typeface="Geneva" pitchFamily="34" charset="0"/>
              </a:rPr>
              <a:t>North Pole and South Pole are not lines, but points, or infinitely small parallels</a:t>
            </a:r>
          </a:p>
        </p:txBody>
      </p:sp>
      <p:pic>
        <p:nvPicPr>
          <p:cNvPr id="39" name="Content Placeholder 38" descr="A model of Earth showing the parallel latitude lines, the indicate the north to south locations. The lines appear in increments of 10 degrees. The equator is as the 0 degree latitude line, while the north and south poles are at the 90 degree parallels. ">
            <a:extLst>
              <a:ext uri="{FF2B5EF4-FFF2-40B4-BE49-F238E27FC236}">
                <a16:creationId xmlns:a16="http://schemas.microsoft.com/office/drawing/2014/main" id="{8432E0C6-C31C-47E2-8C5C-61B866BBE389}"/>
              </a:ext>
            </a:extLst>
          </p:cNvPr>
          <p:cNvPicPr>
            <a:picLocks noGrp="1" noChangeAspect="1"/>
          </p:cNvPicPr>
          <p:nvPr>
            <p:ph sz="quarter" idx="19"/>
          </p:nvPr>
        </p:nvPicPr>
        <p:blipFill rotWithShape="1">
          <a:blip r:embed="rId4"/>
          <a:srcRect b="2589"/>
          <a:stretch/>
        </p:blipFill>
        <p:spPr>
          <a:xfrm>
            <a:off x="4770980" y="1559501"/>
            <a:ext cx="4001581" cy="3414281"/>
          </a:xfrm>
        </p:spPr>
      </p:pic>
    </p:spTree>
    <p:extLst>
      <p:ext uri="{BB962C8B-B14F-4D97-AF65-F5344CB8AC3E}">
        <p14:creationId xmlns:p14="http://schemas.microsoft.com/office/powerpoint/2010/main" val="3637821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B3644-D60B-4ED7-B37E-0C7760F93A0B}"/>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(5 of 8)</a:t>
            </a:r>
            <a:endParaRPr lang="en-IN" sz="3200" dirty="0"/>
          </a:p>
        </p:txBody>
      </p:sp>
      <p:sp>
        <p:nvSpPr>
          <p:cNvPr id="17" name="Content Placeholder 16">
            <a:extLst>
              <a:ext uri="{FF2B5EF4-FFF2-40B4-BE49-F238E27FC236}">
                <a16:creationId xmlns:a16="http://schemas.microsoft.com/office/drawing/2014/main" id="{0E3ED678-E5DD-4ADD-BE9C-B6407C9F8D41}"/>
              </a:ext>
            </a:extLst>
          </p:cNvPr>
          <p:cNvSpPr>
            <a:spLocks noGrp="1"/>
          </p:cNvSpPr>
          <p:nvPr>
            <p:ph sz="quarter" idx="13"/>
          </p:nvPr>
        </p:nvSpPr>
        <p:spPr>
          <a:xfrm>
            <a:off x="457200" y="1556326"/>
            <a:ext cx="4211782" cy="4802909"/>
          </a:xfrm>
        </p:spPr>
        <p:txBody>
          <a:bodyPr/>
          <a:lstStyle/>
          <a:p>
            <a:r>
              <a:rPr lang="en-US" altLang="en-US" sz="2000" dirty="0">
                <a:ea typeface="ヒラギノ角ゴ Pro W3" pitchFamily="-84" charset="-128"/>
                <a:cs typeface="ヒラギノ角ゴ Pro W3" pitchFamily="-84" charset="-128"/>
              </a:rPr>
              <a:t>Seven significant latitudes</a:t>
            </a:r>
          </a:p>
          <a:p>
            <a:pPr marL="741600" lvl="1" eaLnBrk="1" hangingPunct="1"/>
            <a:r>
              <a:rPr lang="en-US" altLang="en-US" sz="2000" dirty="0">
                <a:ea typeface="ヒラギノ角ゴ Pro W3" pitchFamily="-84" charset="-128"/>
                <a:cs typeface="Geneva" pitchFamily="34" charset="0"/>
              </a:rPr>
              <a:t>special locations on Earth where Sun’s rays strike the surface each year</a:t>
            </a:r>
          </a:p>
          <a:p>
            <a:r>
              <a:rPr lang="en-US" altLang="en-US" sz="2000" b="1" dirty="0">
                <a:ea typeface="ヒラギノ角ゴ Pro W3" pitchFamily="-84" charset="-128"/>
                <a:cs typeface="ヒラギノ角ゴ Pro W3" pitchFamily="-84" charset="-128"/>
              </a:rPr>
              <a:t>Descriptive Zones of Latitude</a:t>
            </a:r>
          </a:p>
          <a:p>
            <a:pPr marL="741600" lvl="1" eaLnBrk="1" hangingPunct="1"/>
            <a:r>
              <a:rPr lang="en-US" altLang="en-US" sz="2000" dirty="0">
                <a:ea typeface="ヒラギノ角ゴ Pro W3" pitchFamily="-84" charset="-128"/>
                <a:cs typeface="Geneva" pitchFamily="34" charset="0"/>
              </a:rPr>
              <a:t>bound by seven significant latitudes into bands or zones</a:t>
            </a:r>
          </a:p>
          <a:p>
            <a:pPr marL="741600" lvl="1" eaLnBrk="1" hangingPunct="1"/>
            <a:r>
              <a:rPr lang="en-US" altLang="en-US" sz="2000" b="1" dirty="0">
                <a:ea typeface="ヒラギノ角ゴ Pro W3" pitchFamily="-84" charset="-128"/>
                <a:cs typeface="Geneva" pitchFamily="34" charset="0"/>
              </a:rPr>
              <a:t>Equatorial, tropical, subtropical, low latitude, midlatitude, high latitude, and polar</a:t>
            </a:r>
          </a:p>
          <a:p>
            <a:pPr marL="255600" eaLnBrk="1" hangingPunct="1"/>
            <a:r>
              <a:rPr lang="en-US" altLang="en-US" sz="2000" b="1" dirty="0">
                <a:ea typeface="ヒラギノ角ゴ Pro W3" pitchFamily="-84" charset="-128"/>
                <a:cs typeface="Geneva" pitchFamily="34" charset="0"/>
              </a:rPr>
              <a:t>Nautical Miles</a:t>
            </a:r>
          </a:p>
          <a:p>
            <a:pPr marL="741600" lvl="1" eaLnBrk="1" hangingPunct="1"/>
            <a:r>
              <a:rPr lang="en-US" altLang="en-US" sz="2000" dirty="0">
                <a:ea typeface="ヒラギノ角ゴ Pro W3" pitchFamily="-84" charset="-128"/>
                <a:cs typeface="Geneva" pitchFamily="34" charset="0"/>
              </a:rPr>
              <a:t>Measurement using </a:t>
            </a:r>
            <a:r>
              <a:rPr lang="en-US" altLang="en-US" sz="2000" b="1" dirty="0">
                <a:ea typeface="ヒラギノ角ゴ Pro W3" pitchFamily="-84" charset="-128"/>
                <a:cs typeface="Geneva" pitchFamily="34" charset="0"/>
              </a:rPr>
              <a:t>knots</a:t>
            </a:r>
          </a:p>
        </p:txBody>
      </p:sp>
      <p:pic>
        <p:nvPicPr>
          <p:cNvPr id="20" name="Content Placeholder 19" descr="A model of the Earth showing seven important latitudes. For long description in Notes pane, press F6.">
            <a:extLst>
              <a:ext uri="{FF2B5EF4-FFF2-40B4-BE49-F238E27FC236}">
                <a16:creationId xmlns:a16="http://schemas.microsoft.com/office/drawing/2014/main" id="{5118FFD2-7BD9-4AEB-904E-2265A3329AD1}"/>
              </a:ext>
            </a:extLst>
          </p:cNvPr>
          <p:cNvPicPr>
            <a:picLocks noGrp="1" noChangeAspect="1"/>
          </p:cNvPicPr>
          <p:nvPr>
            <p:ph sz="quarter" idx="14"/>
          </p:nvPr>
        </p:nvPicPr>
        <p:blipFill rotWithShape="1">
          <a:blip r:embed="rId3"/>
          <a:srcRect t="-1" b="1929"/>
          <a:stretch/>
        </p:blipFill>
        <p:spPr>
          <a:xfrm>
            <a:off x="5067078" y="1906730"/>
            <a:ext cx="3619722" cy="4023015"/>
          </a:xfrm>
        </p:spPr>
      </p:pic>
    </p:spTree>
    <p:extLst>
      <p:ext uri="{BB962C8B-B14F-4D97-AF65-F5344CB8AC3E}">
        <p14:creationId xmlns:p14="http://schemas.microsoft.com/office/powerpoint/2010/main" val="84169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6798-4159-4F0A-8DB2-6A9F6BF50798}"/>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(6 of 8)</a:t>
            </a:r>
            <a:endParaRPr lang="en-IN" sz="3200" dirty="0"/>
          </a:p>
        </p:txBody>
      </p:sp>
      <p:sp>
        <p:nvSpPr>
          <p:cNvPr id="3" name="Content Placeholder 2">
            <a:extLst>
              <a:ext uri="{FF2B5EF4-FFF2-40B4-BE49-F238E27FC236}">
                <a16:creationId xmlns:a16="http://schemas.microsoft.com/office/drawing/2014/main" id="{89719AD6-4F84-4EEC-8B48-1BBF70EC8CCE}"/>
              </a:ext>
            </a:extLst>
          </p:cNvPr>
          <p:cNvSpPr>
            <a:spLocks noGrp="1"/>
          </p:cNvSpPr>
          <p:nvPr>
            <p:ph sz="quarter" idx="13"/>
          </p:nvPr>
        </p:nvSpPr>
        <p:spPr>
          <a:xfrm>
            <a:off x="457200" y="1556326"/>
            <a:ext cx="3976255" cy="4631532"/>
          </a:xfrm>
        </p:spPr>
        <p:txBody>
          <a:bodyPr/>
          <a:lstStyle/>
          <a:p>
            <a:pPr marL="432" indent="0">
              <a:buNone/>
            </a:pPr>
            <a:r>
              <a:rPr lang="en-US" b="1" dirty="0"/>
              <a:t>Longitude</a:t>
            </a:r>
          </a:p>
          <a:p>
            <a:r>
              <a:rPr lang="en-US" dirty="0"/>
              <a:t>Angular description of location, east or west</a:t>
            </a:r>
          </a:p>
          <a:p>
            <a:r>
              <a:rPr lang="en-US" b="1" dirty="0"/>
              <a:t>Meridians </a:t>
            </a:r>
            <a:r>
              <a:rPr lang="en-US" dirty="0"/>
              <a:t>are imaginary lines extending from pole to pole</a:t>
            </a:r>
          </a:p>
          <a:p>
            <a:r>
              <a:rPr lang="en-US" dirty="0"/>
              <a:t>Cross parallels at right angles</a:t>
            </a:r>
          </a:p>
          <a:p>
            <a:r>
              <a:rPr lang="en-US" dirty="0"/>
              <a:t>Farthest apart at equator, converge at the poles</a:t>
            </a:r>
          </a:p>
        </p:txBody>
      </p:sp>
      <p:pic>
        <p:nvPicPr>
          <p:cNvPr id="7" name="Content Placeholder 6" descr="A model of the Earth showing a polar view of the meridians radiating from the North Pole. For long description in Notes pane, press F6. ">
            <a:extLst>
              <a:ext uri="{FF2B5EF4-FFF2-40B4-BE49-F238E27FC236}">
                <a16:creationId xmlns:a16="http://schemas.microsoft.com/office/drawing/2014/main" id="{02F83D04-4415-4911-8B55-8ACF33D4B0AD}"/>
              </a:ext>
            </a:extLst>
          </p:cNvPr>
          <p:cNvPicPr>
            <a:picLocks noGrp="1" noChangeAspect="1"/>
          </p:cNvPicPr>
          <p:nvPr>
            <p:ph sz="quarter" idx="14"/>
          </p:nvPr>
        </p:nvPicPr>
        <p:blipFill rotWithShape="1">
          <a:blip r:embed="rId3"/>
          <a:srcRect b="1951"/>
          <a:stretch/>
        </p:blipFill>
        <p:spPr>
          <a:xfrm>
            <a:off x="4688587" y="1982352"/>
            <a:ext cx="4088285" cy="3656448"/>
          </a:xfrm>
        </p:spPr>
      </p:pic>
    </p:spTree>
    <p:extLst>
      <p:ext uri="{BB962C8B-B14F-4D97-AF65-F5344CB8AC3E}">
        <p14:creationId xmlns:p14="http://schemas.microsoft.com/office/powerpoint/2010/main" val="2652229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C29DA6-FCF2-4252-AAB5-F54F63ECA5FF}"/>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(7 of 8)</a:t>
            </a:r>
            <a:endParaRPr lang="en-IN" sz="3200" dirty="0"/>
          </a:p>
        </p:txBody>
      </p:sp>
      <p:sp>
        <p:nvSpPr>
          <p:cNvPr id="6" name="Content Placeholder 5">
            <a:extLst>
              <a:ext uri="{FF2B5EF4-FFF2-40B4-BE49-F238E27FC236}">
                <a16:creationId xmlns:a16="http://schemas.microsoft.com/office/drawing/2014/main" id="{9707D3CF-21F3-4BCF-8041-033CC9884E24}"/>
              </a:ext>
            </a:extLst>
          </p:cNvPr>
          <p:cNvSpPr>
            <a:spLocks noGrp="1"/>
          </p:cNvSpPr>
          <p:nvPr>
            <p:ph sz="quarter" idx="13"/>
          </p:nvPr>
        </p:nvSpPr>
        <p:spPr>
          <a:xfrm>
            <a:off x="457200" y="1552575"/>
            <a:ext cx="4011769" cy="2148568"/>
          </a:xfrm>
        </p:spPr>
        <p:txBody>
          <a:bodyPr/>
          <a:lstStyle/>
          <a:p>
            <a:r>
              <a:rPr lang="en-US" sz="2000" b="1" dirty="0"/>
              <a:t>Establishing the Prime Meridian</a:t>
            </a:r>
          </a:p>
          <a:p>
            <a:pPr lvl="1" indent="-284400"/>
            <a:r>
              <a:rPr lang="en-US" sz="2000" dirty="0"/>
              <a:t>no natural baseline like the equator</a:t>
            </a:r>
          </a:p>
          <a:p>
            <a:pPr lvl="1" indent="-284400"/>
            <a:r>
              <a:rPr lang="en-US" sz="2000" dirty="0"/>
              <a:t>international conference selected </a:t>
            </a:r>
            <a:r>
              <a:rPr lang="en-US" sz="2000" b="1" dirty="0"/>
              <a:t>prime meridian</a:t>
            </a:r>
          </a:p>
        </p:txBody>
      </p:sp>
      <p:sp>
        <p:nvSpPr>
          <p:cNvPr id="7" name="Content Placeholder 6">
            <a:extLst>
              <a:ext uri="{FF2B5EF4-FFF2-40B4-BE49-F238E27FC236}">
                <a16:creationId xmlns:a16="http://schemas.microsoft.com/office/drawing/2014/main" id="{61CCB19D-59BF-46F1-942A-500BC0AC418C}"/>
              </a:ext>
            </a:extLst>
          </p:cNvPr>
          <p:cNvSpPr>
            <a:spLocks noGrp="1"/>
          </p:cNvSpPr>
          <p:nvPr>
            <p:ph sz="quarter" idx="14"/>
          </p:nvPr>
        </p:nvSpPr>
        <p:spPr>
          <a:xfrm>
            <a:off x="457201" y="3769800"/>
            <a:ext cx="950686" cy="381285"/>
          </a:xfrm>
        </p:spPr>
        <p:txBody>
          <a:bodyPr tIns="0" bIns="0"/>
          <a:lstStyle/>
          <a:p>
            <a:pPr lvl="1" indent="-284400"/>
            <a:r>
              <a:rPr lang="en-US" dirty="0"/>
              <a:t> </a:t>
            </a:r>
            <a:r>
              <a:rPr lang="en-US" sz="100" dirty="0"/>
              <a:t> </a:t>
            </a:r>
            <a:endParaRPr lang="en-IN" sz="100" dirty="0"/>
          </a:p>
        </p:txBody>
      </p:sp>
      <p:graphicFrame>
        <p:nvGraphicFramePr>
          <p:cNvPr id="32" name="Object 31" descr="0 degree">
            <a:extLst>
              <a:ext uri="{FF2B5EF4-FFF2-40B4-BE49-F238E27FC236}">
                <a16:creationId xmlns:a16="http://schemas.microsoft.com/office/drawing/2014/main" id="{CB25AF04-296A-4352-9656-07292A5E808A}"/>
              </a:ext>
            </a:extLst>
          </p:cNvPr>
          <p:cNvGraphicFramePr>
            <a:graphicFrameLocks noChangeAspect="1"/>
          </p:cNvGraphicFramePr>
          <p:nvPr>
            <p:extLst>
              <p:ext uri="{D42A27DB-BD31-4B8C-83A1-F6EECF244321}">
                <p14:modId xmlns:p14="http://schemas.microsoft.com/office/powerpoint/2010/main" val="2791290059"/>
              </p:ext>
            </p:extLst>
          </p:nvPr>
        </p:nvGraphicFramePr>
        <p:xfrm>
          <a:off x="1470083" y="3846431"/>
          <a:ext cx="270459" cy="270459"/>
        </p:xfrm>
        <a:graphic>
          <a:graphicData uri="http://schemas.openxmlformats.org/presentationml/2006/ole">
            <mc:AlternateContent xmlns:mc="http://schemas.openxmlformats.org/markup-compatibility/2006">
              <mc:Choice xmlns:v="urn:schemas-microsoft-com:vml" Requires="v">
                <p:oleObj name="Equation" r:id="rId3" imgW="203040" imgH="203040" progId="Equation.DSMT4">
                  <p:embed/>
                </p:oleObj>
              </mc:Choice>
              <mc:Fallback>
                <p:oleObj name="Equation" r:id="rId3" imgW="203040" imgH="203040" progId="Equation.DSMT4">
                  <p:embed/>
                  <p:pic>
                    <p:nvPicPr>
                      <p:cNvPr id="0" name=""/>
                      <p:cNvPicPr/>
                      <p:nvPr/>
                    </p:nvPicPr>
                    <p:blipFill>
                      <a:blip r:embed="rId4"/>
                      <a:stretch>
                        <a:fillRect/>
                      </a:stretch>
                    </p:blipFill>
                    <p:spPr>
                      <a:xfrm>
                        <a:off x="1470083" y="3846431"/>
                        <a:ext cx="270459" cy="270459"/>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3E6F5682-3707-40C7-8BA8-32778F1B8BE1}"/>
              </a:ext>
            </a:extLst>
          </p:cNvPr>
          <p:cNvSpPr>
            <a:spLocks noGrp="1"/>
          </p:cNvSpPr>
          <p:nvPr>
            <p:ph sz="quarter" idx="15"/>
          </p:nvPr>
        </p:nvSpPr>
        <p:spPr>
          <a:xfrm>
            <a:off x="1805599" y="3781087"/>
            <a:ext cx="2910114" cy="370000"/>
          </a:xfrm>
        </p:spPr>
        <p:txBody>
          <a:bodyPr lIns="0" tIns="0" bIns="0"/>
          <a:lstStyle/>
          <a:p>
            <a:pPr marL="0" lvl="1" indent="0">
              <a:buNone/>
            </a:pPr>
            <a:r>
              <a:rPr lang="en-US" altLang="en-US" sz="2000" dirty="0">
                <a:ea typeface="ヒラギノ角ゴ Pro W3" pitchFamily="-84" charset="-128"/>
                <a:cs typeface="ヒラギノ角ゴ Pro W3" pitchFamily="-84" charset="-128"/>
              </a:rPr>
              <a:t>meridian was chosen as</a:t>
            </a:r>
            <a:endParaRPr lang="en-IN" sz="2000" dirty="0"/>
          </a:p>
        </p:txBody>
      </p:sp>
      <p:sp>
        <p:nvSpPr>
          <p:cNvPr id="9" name="Content Placeholder 8">
            <a:extLst>
              <a:ext uri="{FF2B5EF4-FFF2-40B4-BE49-F238E27FC236}">
                <a16:creationId xmlns:a16="http://schemas.microsoft.com/office/drawing/2014/main" id="{0E8EE392-6653-4593-BD44-1FC0877777F5}"/>
              </a:ext>
            </a:extLst>
          </p:cNvPr>
          <p:cNvSpPr>
            <a:spLocks noGrp="1"/>
          </p:cNvSpPr>
          <p:nvPr>
            <p:ph sz="quarter" idx="16"/>
          </p:nvPr>
        </p:nvSpPr>
        <p:spPr>
          <a:xfrm>
            <a:off x="1211227" y="4202876"/>
            <a:ext cx="2503714" cy="370000"/>
          </a:xfrm>
        </p:spPr>
        <p:txBody>
          <a:bodyPr lIns="0" tIns="0" bIns="0"/>
          <a:lstStyle/>
          <a:p>
            <a:pPr marL="0" lvl="1" indent="0">
              <a:buNone/>
            </a:pPr>
            <a:r>
              <a:rPr lang="en-US" altLang="en-US" sz="2000" dirty="0">
                <a:ea typeface="ヒラギノ角ゴ Pro W3" pitchFamily="-84" charset="-128"/>
                <a:cs typeface="ヒラギノ角ゴ Pro W3" pitchFamily="-84" charset="-128"/>
              </a:rPr>
              <a:t>Greenwich, England</a:t>
            </a:r>
            <a:endParaRPr lang="en-IN" sz="2000" dirty="0"/>
          </a:p>
        </p:txBody>
      </p:sp>
      <p:sp>
        <p:nvSpPr>
          <p:cNvPr id="10" name="Content Placeholder 9">
            <a:extLst>
              <a:ext uri="{FF2B5EF4-FFF2-40B4-BE49-F238E27FC236}">
                <a16:creationId xmlns:a16="http://schemas.microsoft.com/office/drawing/2014/main" id="{4A428D9D-646B-499D-A6DE-36CB333179E7}"/>
              </a:ext>
            </a:extLst>
          </p:cNvPr>
          <p:cNvSpPr>
            <a:spLocks noGrp="1"/>
          </p:cNvSpPr>
          <p:nvPr>
            <p:ph sz="quarter" idx="17"/>
          </p:nvPr>
        </p:nvSpPr>
        <p:spPr>
          <a:xfrm>
            <a:off x="457200" y="4624582"/>
            <a:ext cx="3257742" cy="370000"/>
          </a:xfrm>
        </p:spPr>
        <p:txBody>
          <a:bodyPr tIns="0" bIns="0"/>
          <a:lstStyle/>
          <a:p>
            <a:r>
              <a:rPr lang="en-US" altLang="en-US" sz="2000" b="1" dirty="0">
                <a:ea typeface="ヒラギノ角ゴ Pro W3" pitchFamily="-84" charset="-128"/>
              </a:rPr>
              <a:t>Measuring Longitude</a:t>
            </a:r>
          </a:p>
        </p:txBody>
      </p:sp>
      <p:sp>
        <p:nvSpPr>
          <p:cNvPr id="11" name="Content Placeholder 10">
            <a:extLst>
              <a:ext uri="{FF2B5EF4-FFF2-40B4-BE49-F238E27FC236}">
                <a16:creationId xmlns:a16="http://schemas.microsoft.com/office/drawing/2014/main" id="{C7EED792-C976-407B-B2F1-0D0BEB29B358}"/>
              </a:ext>
            </a:extLst>
          </p:cNvPr>
          <p:cNvSpPr>
            <a:spLocks noGrp="1"/>
          </p:cNvSpPr>
          <p:nvPr>
            <p:ph sz="quarter" idx="18"/>
          </p:nvPr>
        </p:nvSpPr>
        <p:spPr>
          <a:xfrm>
            <a:off x="457200" y="5066328"/>
            <a:ext cx="950688" cy="422793"/>
          </a:xfrm>
        </p:spPr>
        <p:txBody>
          <a:bodyPr tIns="0" bIns="0"/>
          <a:lstStyle/>
          <a:p>
            <a:pPr lvl="1"/>
            <a:r>
              <a:rPr lang="en-US" dirty="0"/>
              <a:t> </a:t>
            </a:r>
            <a:r>
              <a:rPr lang="en-US" sz="100" dirty="0"/>
              <a:t> </a:t>
            </a:r>
            <a:endParaRPr lang="en-IN" sz="100" dirty="0"/>
          </a:p>
        </p:txBody>
      </p:sp>
      <p:graphicFrame>
        <p:nvGraphicFramePr>
          <p:cNvPr id="33" name="Object 32" descr="180 degrees">
            <a:extLst>
              <a:ext uri="{FF2B5EF4-FFF2-40B4-BE49-F238E27FC236}">
                <a16:creationId xmlns:a16="http://schemas.microsoft.com/office/drawing/2014/main" id="{08FA6D49-0156-44D2-B928-125C8A9D945F}"/>
              </a:ext>
            </a:extLst>
          </p:cNvPr>
          <p:cNvGraphicFramePr>
            <a:graphicFrameLocks noChangeAspect="1"/>
          </p:cNvGraphicFramePr>
          <p:nvPr>
            <p:extLst>
              <p:ext uri="{D42A27DB-BD31-4B8C-83A1-F6EECF244321}">
                <p14:modId xmlns:p14="http://schemas.microsoft.com/office/powerpoint/2010/main" val="949637663"/>
              </p:ext>
            </p:extLst>
          </p:nvPr>
        </p:nvGraphicFramePr>
        <p:xfrm>
          <a:off x="1506235" y="5156930"/>
          <a:ext cx="481141" cy="248331"/>
        </p:xfrm>
        <a:graphic>
          <a:graphicData uri="http://schemas.openxmlformats.org/presentationml/2006/ole">
            <mc:AlternateContent xmlns:mc="http://schemas.openxmlformats.org/markup-compatibility/2006">
              <mc:Choice xmlns:v="urn:schemas-microsoft-com:vml" Requires="v">
                <p:oleObj name="Equation" r:id="rId5" imgW="393480" imgH="203040" progId="Equation.DSMT4">
                  <p:embed/>
                </p:oleObj>
              </mc:Choice>
              <mc:Fallback>
                <p:oleObj name="Equation" r:id="rId5" imgW="393480" imgH="203040" progId="Equation.DSMT4">
                  <p:embed/>
                  <p:pic>
                    <p:nvPicPr>
                      <p:cNvPr id="0" name=""/>
                      <p:cNvPicPr/>
                      <p:nvPr/>
                    </p:nvPicPr>
                    <p:blipFill>
                      <a:blip r:embed="rId6"/>
                      <a:stretch>
                        <a:fillRect/>
                      </a:stretch>
                    </p:blipFill>
                    <p:spPr>
                      <a:xfrm>
                        <a:off x="1506235" y="5156930"/>
                        <a:ext cx="481141" cy="248331"/>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7DAD21F3-1F3C-4725-8CD9-84CC1A0730C2}"/>
              </a:ext>
            </a:extLst>
          </p:cNvPr>
          <p:cNvSpPr>
            <a:spLocks noGrp="1"/>
          </p:cNvSpPr>
          <p:nvPr>
            <p:ph sz="quarter" idx="19"/>
          </p:nvPr>
        </p:nvSpPr>
        <p:spPr>
          <a:xfrm>
            <a:off x="2084324" y="5107263"/>
            <a:ext cx="2612569" cy="346411"/>
          </a:xfrm>
        </p:spPr>
        <p:txBody>
          <a:bodyPr lIns="0" tIns="0" rIns="0" bIns="0"/>
          <a:lstStyle/>
          <a:p>
            <a:pPr marL="0" lvl="1" indent="0">
              <a:buNone/>
            </a:pPr>
            <a:r>
              <a:rPr lang="en-US" sz="2000" dirty="0">
                <a:ea typeface="Calibri"/>
              </a:rPr>
              <a:t>meridian in the middle</a:t>
            </a:r>
            <a:endParaRPr lang="en-IN" sz="2000" dirty="0"/>
          </a:p>
        </p:txBody>
      </p:sp>
      <p:sp>
        <p:nvSpPr>
          <p:cNvPr id="22" name="Content Placeholder 21">
            <a:extLst>
              <a:ext uri="{FF2B5EF4-FFF2-40B4-BE49-F238E27FC236}">
                <a16:creationId xmlns:a16="http://schemas.microsoft.com/office/drawing/2014/main" id="{C2FA727D-51D2-4A95-93E4-94489F67AA9B}"/>
              </a:ext>
            </a:extLst>
          </p:cNvPr>
          <p:cNvSpPr>
            <a:spLocks noGrp="1"/>
          </p:cNvSpPr>
          <p:nvPr>
            <p:ph sz="quarter" idx="20"/>
          </p:nvPr>
        </p:nvSpPr>
        <p:spPr>
          <a:xfrm>
            <a:off x="468313" y="5529509"/>
            <a:ext cx="2699431" cy="351498"/>
          </a:xfrm>
        </p:spPr>
        <p:txBody>
          <a:bodyPr lIns="0" tIns="0" rIns="0" bIns="0"/>
          <a:lstStyle/>
          <a:p>
            <a:pPr marL="741600" lvl="1" indent="0">
              <a:buNone/>
            </a:pPr>
            <a:r>
              <a:rPr lang="en-US" sz="2000" dirty="0">
                <a:ea typeface="Calibri"/>
              </a:rPr>
              <a:t>of the Pacific</a:t>
            </a:r>
            <a:endParaRPr lang="en-IN" sz="2000" dirty="0"/>
          </a:p>
        </p:txBody>
      </p:sp>
      <p:sp>
        <p:nvSpPr>
          <p:cNvPr id="23" name="Content Placeholder 22">
            <a:extLst>
              <a:ext uri="{FF2B5EF4-FFF2-40B4-BE49-F238E27FC236}">
                <a16:creationId xmlns:a16="http://schemas.microsoft.com/office/drawing/2014/main" id="{E4606546-B558-416A-A5C9-7526F5DFCCD2}"/>
              </a:ext>
            </a:extLst>
          </p:cNvPr>
          <p:cNvSpPr>
            <a:spLocks noGrp="1"/>
          </p:cNvSpPr>
          <p:nvPr>
            <p:ph sz="quarter" idx="21"/>
          </p:nvPr>
        </p:nvSpPr>
        <p:spPr>
          <a:xfrm>
            <a:off x="457200" y="5932692"/>
            <a:ext cx="4114085" cy="346411"/>
          </a:xfrm>
        </p:spPr>
        <p:txBody>
          <a:bodyPr lIns="0" tIns="0" rIns="0" bIns="0"/>
          <a:lstStyle/>
          <a:p>
            <a:pPr lvl="1"/>
            <a:r>
              <a:rPr lang="en-US" altLang="en-US" sz="2000" dirty="0">
                <a:ea typeface="ヒラギノ角ゴ Pro W3" pitchFamily="-84" charset="-128"/>
              </a:rPr>
              <a:t>distance between meridians</a:t>
            </a:r>
          </a:p>
        </p:txBody>
      </p:sp>
      <p:pic>
        <p:nvPicPr>
          <p:cNvPr id="35" name="Content Placeholder 34" descr="A model of the Earth showing the longitudinal lines that indicate east to west locations. These lines appear in increments of 10 degrees and run from pole to pole. Greenwich, England is shown to be located at the 0 degree longitudinal line. ">
            <a:extLst>
              <a:ext uri="{FF2B5EF4-FFF2-40B4-BE49-F238E27FC236}">
                <a16:creationId xmlns:a16="http://schemas.microsoft.com/office/drawing/2014/main" id="{F1DD1900-E763-4E54-B712-4E4756902407}"/>
              </a:ext>
            </a:extLst>
          </p:cNvPr>
          <p:cNvPicPr>
            <a:picLocks noGrp="1" noChangeAspect="1"/>
          </p:cNvPicPr>
          <p:nvPr>
            <p:ph sz="quarter" idx="22"/>
          </p:nvPr>
        </p:nvPicPr>
        <p:blipFill rotWithShape="1">
          <a:blip r:embed="rId7"/>
          <a:srcRect b="2099"/>
          <a:stretch/>
        </p:blipFill>
        <p:spPr>
          <a:xfrm>
            <a:off x="4933140" y="1794297"/>
            <a:ext cx="3753659" cy="3733667"/>
          </a:xfrm>
        </p:spPr>
      </p:pic>
    </p:spTree>
    <p:extLst>
      <p:ext uri="{BB962C8B-B14F-4D97-AF65-F5344CB8AC3E}">
        <p14:creationId xmlns:p14="http://schemas.microsoft.com/office/powerpoint/2010/main" val="3841992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E045-BFD6-48B7-88AD-2D5A10E3F4B5}"/>
              </a:ext>
            </a:extLst>
          </p:cNvPr>
          <p:cNvSpPr>
            <a:spLocks noGrp="1"/>
          </p:cNvSpPr>
          <p:nvPr>
            <p:ph type="title"/>
          </p:nvPr>
        </p:nvSpPr>
        <p:spPr/>
        <p:txBody>
          <a:bodyPr/>
          <a:lstStyle/>
          <a:p>
            <a:r>
              <a:rPr lang="en-US" altLang="en-US" sz="3200" dirty="0">
                <a:ea typeface="ヒラギノ角ゴ Pro W3" pitchFamily="-84" charset="-128"/>
              </a:rPr>
              <a:t>The Geographic Grid―Latitude and Longitude </a:t>
            </a:r>
            <a:r>
              <a:rPr lang="en-US" altLang="en-US" sz="2000" b="0" dirty="0">
                <a:ea typeface="ヒラギノ角ゴ Pro W3" pitchFamily="-84" charset="-128"/>
              </a:rPr>
              <a:t>(8 of 8)</a:t>
            </a:r>
            <a:endParaRPr lang="en-IN" sz="3200" dirty="0"/>
          </a:p>
        </p:txBody>
      </p:sp>
      <p:sp>
        <p:nvSpPr>
          <p:cNvPr id="18" name="Content Placeholder 17">
            <a:extLst>
              <a:ext uri="{FF2B5EF4-FFF2-40B4-BE49-F238E27FC236}">
                <a16:creationId xmlns:a16="http://schemas.microsoft.com/office/drawing/2014/main" id="{A46D8290-3ABD-4C49-A8C5-78424C5085BA}"/>
              </a:ext>
            </a:extLst>
          </p:cNvPr>
          <p:cNvSpPr>
            <a:spLocks noGrp="1"/>
          </p:cNvSpPr>
          <p:nvPr>
            <p:ph sz="quarter" idx="13"/>
          </p:nvPr>
        </p:nvSpPr>
        <p:spPr>
          <a:xfrm>
            <a:off x="457200" y="1556326"/>
            <a:ext cx="3699164" cy="4484255"/>
          </a:xfrm>
        </p:spPr>
        <p:txBody>
          <a:bodyPr/>
          <a:lstStyle/>
          <a:p>
            <a:pPr marL="432" indent="0">
              <a:buNone/>
            </a:pPr>
            <a:r>
              <a:rPr lang="en-US" b="1" dirty="0"/>
              <a:t>Locating Points on the Geographic Grid</a:t>
            </a:r>
          </a:p>
          <a:p>
            <a:r>
              <a:rPr lang="en-US" dirty="0"/>
              <a:t>Precise location</a:t>
            </a:r>
          </a:p>
          <a:p>
            <a:r>
              <a:rPr lang="en-US" dirty="0"/>
              <a:t>Latitude angles referenced first with N or S</a:t>
            </a:r>
          </a:p>
          <a:p>
            <a:r>
              <a:rPr lang="en-US" b="1" dirty="0"/>
              <a:t>Longitude</a:t>
            </a:r>
            <a:r>
              <a:rPr lang="en-US" dirty="0"/>
              <a:t> angles referenced second with E or W</a:t>
            </a:r>
          </a:p>
        </p:txBody>
      </p:sp>
      <p:pic>
        <p:nvPicPr>
          <p:cNvPr id="21" name="Content Placeholder 20" descr="A model of the Earth showing the complete grid system of latitude and longitude lines. For long description in Notes pane, press F6.">
            <a:extLst>
              <a:ext uri="{FF2B5EF4-FFF2-40B4-BE49-F238E27FC236}">
                <a16:creationId xmlns:a16="http://schemas.microsoft.com/office/drawing/2014/main" id="{297AF47F-66D5-405F-9191-A54856C55852}"/>
              </a:ext>
            </a:extLst>
          </p:cNvPr>
          <p:cNvPicPr>
            <a:picLocks noGrp="1" noChangeAspect="1"/>
          </p:cNvPicPr>
          <p:nvPr>
            <p:ph sz="quarter" idx="14"/>
          </p:nvPr>
        </p:nvPicPr>
        <p:blipFill rotWithShape="1">
          <a:blip r:embed="rId3"/>
          <a:srcRect b="3071"/>
          <a:stretch/>
        </p:blipFill>
        <p:spPr>
          <a:xfrm>
            <a:off x="4851311" y="1528271"/>
            <a:ext cx="3680872" cy="4373765"/>
          </a:xfrm>
        </p:spPr>
      </p:pic>
    </p:spTree>
    <p:extLst>
      <p:ext uri="{BB962C8B-B14F-4D97-AF65-F5344CB8AC3E}">
        <p14:creationId xmlns:p14="http://schemas.microsoft.com/office/powerpoint/2010/main" val="3651941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3413-AC06-466F-9F86-938BB51E7841}"/>
              </a:ext>
            </a:extLst>
          </p:cNvPr>
          <p:cNvSpPr>
            <a:spLocks noGrp="1"/>
          </p:cNvSpPr>
          <p:nvPr>
            <p:ph type="title"/>
          </p:nvPr>
        </p:nvSpPr>
        <p:spPr>
          <a:xfrm>
            <a:off x="457200" y="215371"/>
            <a:ext cx="8364071" cy="1097279"/>
          </a:xfrm>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(1 of 10)</a:t>
            </a:r>
            <a:endParaRPr lang="en-IN" sz="3200" dirty="0"/>
          </a:p>
        </p:txBody>
      </p:sp>
      <p:sp>
        <p:nvSpPr>
          <p:cNvPr id="3" name="Content Placeholder 2">
            <a:extLst>
              <a:ext uri="{FF2B5EF4-FFF2-40B4-BE49-F238E27FC236}">
                <a16:creationId xmlns:a16="http://schemas.microsoft.com/office/drawing/2014/main" id="{0E62F14C-0FB3-49AF-85CF-9823B05C9CB3}"/>
              </a:ext>
            </a:extLst>
          </p:cNvPr>
          <p:cNvSpPr>
            <a:spLocks noGrp="1"/>
          </p:cNvSpPr>
          <p:nvPr>
            <p:ph sz="quarter" idx="13"/>
          </p:nvPr>
        </p:nvSpPr>
        <p:spPr>
          <a:xfrm>
            <a:off x="457200" y="1552574"/>
            <a:ext cx="4011769" cy="4681971"/>
          </a:xfrm>
        </p:spPr>
        <p:txBody>
          <a:bodyPr/>
          <a:lstStyle/>
          <a:p>
            <a:pPr marL="432" indent="0">
              <a:buNone/>
            </a:pPr>
            <a:r>
              <a:rPr lang="en-US" sz="2200" b="1" dirty="0"/>
              <a:t>Earth Movements</a:t>
            </a:r>
          </a:p>
          <a:p>
            <a:r>
              <a:rPr lang="en-US" sz="2200" b="1" dirty="0"/>
              <a:t>Earth’s Rotation on Its Axis</a:t>
            </a:r>
          </a:p>
          <a:p>
            <a:pPr lvl="1" indent="-284400"/>
            <a:r>
              <a:rPr lang="en-US" sz="2200" b="1" dirty="0"/>
              <a:t>rotation </a:t>
            </a:r>
            <a:r>
              <a:rPr lang="en-US" sz="2200" dirty="0"/>
              <a:t>from west to east on its axis takes 24 hours</a:t>
            </a:r>
          </a:p>
          <a:p>
            <a:pPr lvl="1" indent="-284400"/>
            <a:r>
              <a:rPr lang="en-US" sz="2200" dirty="0"/>
              <a:t>speed varies by latitude</a:t>
            </a:r>
          </a:p>
          <a:p>
            <a:pPr lvl="1" indent="-284400"/>
            <a:r>
              <a:rPr lang="en-US" sz="2200" dirty="0"/>
              <a:t>relative to the North Pole, from space, rotation is counterclockwise, or eastward</a:t>
            </a:r>
          </a:p>
        </p:txBody>
      </p:sp>
      <p:pic>
        <p:nvPicPr>
          <p:cNvPr id="19" name="Content Placeholder 18" descr="A model of the Earth showing the speed of rotation at different latitudes. For long description in Notes pane, press F6.">
            <a:extLst>
              <a:ext uri="{FF2B5EF4-FFF2-40B4-BE49-F238E27FC236}">
                <a16:creationId xmlns:a16="http://schemas.microsoft.com/office/drawing/2014/main" id="{34A92D2F-FBDB-4E19-A52E-227EB0BDEF73}"/>
              </a:ext>
            </a:extLst>
          </p:cNvPr>
          <p:cNvPicPr>
            <a:picLocks noGrp="1" noChangeAspect="1"/>
          </p:cNvPicPr>
          <p:nvPr>
            <p:ph sz="quarter" idx="22"/>
          </p:nvPr>
        </p:nvPicPr>
        <p:blipFill rotWithShape="1">
          <a:blip r:embed="rId3"/>
          <a:srcRect b="2260"/>
          <a:stretch/>
        </p:blipFill>
        <p:spPr>
          <a:xfrm>
            <a:off x="4675033" y="1552574"/>
            <a:ext cx="3539084" cy="3353484"/>
          </a:xfrm>
        </p:spPr>
      </p:pic>
      <p:sp>
        <p:nvSpPr>
          <p:cNvPr id="12" name="Content Placeholder 11">
            <a:extLst>
              <a:ext uri="{FF2B5EF4-FFF2-40B4-BE49-F238E27FC236}">
                <a16:creationId xmlns:a16="http://schemas.microsoft.com/office/drawing/2014/main" id="{1C1D2614-CE0B-43B8-8303-B112E8C91CCB}"/>
              </a:ext>
            </a:extLst>
          </p:cNvPr>
          <p:cNvSpPr>
            <a:spLocks noGrp="1"/>
          </p:cNvSpPr>
          <p:nvPr>
            <p:ph sz="quarter" idx="21"/>
          </p:nvPr>
        </p:nvSpPr>
        <p:spPr>
          <a:xfrm>
            <a:off x="4675033" y="5021501"/>
            <a:ext cx="1677831" cy="567850"/>
          </a:xfrm>
        </p:spPr>
        <p:txBody>
          <a:bodyPr/>
          <a:lstStyle/>
          <a:p>
            <a:pPr marL="432" indent="0" algn="l">
              <a:spcBef>
                <a:spcPts val="600"/>
              </a:spcBef>
              <a:buNone/>
            </a:pPr>
            <a:r>
              <a:rPr lang="en-IN" sz="1200" b="1" i="0" u="none" strike="noStrike" baseline="0" dirty="0">
                <a:solidFill>
                  <a:schemeClr val="tx1"/>
                </a:solidFill>
              </a:rPr>
              <a:t>Animation</a:t>
            </a:r>
          </a:p>
          <a:p>
            <a:pPr marL="432" indent="0" algn="l">
              <a:spcBef>
                <a:spcPts val="600"/>
              </a:spcBef>
              <a:buNone/>
            </a:pPr>
            <a:r>
              <a:rPr lang="en-IN" sz="1200" b="1" i="0" u="none" strike="noStrike" baseline="0" dirty="0">
                <a:solidFill>
                  <a:schemeClr val="tx1"/>
                </a:solidFill>
              </a:rPr>
              <a:t>Earth-Sun Relations</a:t>
            </a:r>
            <a:endParaRPr lang="en-IN" sz="1200" b="1" dirty="0">
              <a:solidFill>
                <a:schemeClr val="tx1"/>
              </a:solidFill>
            </a:endParaRPr>
          </a:p>
        </p:txBody>
      </p:sp>
      <p:sp>
        <p:nvSpPr>
          <p:cNvPr id="14" name="Text Placeholder 13">
            <a:extLst>
              <a:ext uri="{FF2B5EF4-FFF2-40B4-BE49-F238E27FC236}">
                <a16:creationId xmlns:a16="http://schemas.microsoft.com/office/drawing/2014/main" id="{DD67455E-04ED-4FBF-A0AA-F4F96578BAB3}"/>
              </a:ext>
            </a:extLst>
          </p:cNvPr>
          <p:cNvSpPr>
            <a:spLocks noGrp="1"/>
          </p:cNvSpPr>
          <p:nvPr>
            <p:ph type="body" sz="quarter" idx="23"/>
          </p:nvPr>
        </p:nvSpPr>
        <p:spPr>
          <a:xfrm>
            <a:off x="4675033" y="5647189"/>
            <a:ext cx="3888110" cy="412062"/>
          </a:xfrm>
        </p:spPr>
        <p:txBody>
          <a:bodyPr tIns="0"/>
          <a:lstStyle/>
          <a:p>
            <a:pPr marL="432" indent="0" algn="l">
              <a:buNone/>
            </a:pPr>
            <a:r>
              <a:rPr lang="en-IN" sz="1200" b="0" i="0" u="none" strike="noStrike" baseline="0" dirty="0">
                <a:solidFill>
                  <a:schemeClr val="tx1"/>
                </a:solidFill>
                <a:hlinkClick r:id="rId4" tooltip="https://media.pearsoncmg.com/ph/esm/esm_mcknight_physgeo_13/media/"/>
              </a:rPr>
              <a:t>https://media.pearsoncmg.com/ph/esm/esm_mcknight_physgeo_13/media/</a:t>
            </a:r>
            <a:endParaRPr lang="en-IN" sz="1200" dirty="0">
              <a:solidFill>
                <a:schemeClr val="tx1"/>
              </a:solidFill>
            </a:endParaRPr>
          </a:p>
        </p:txBody>
      </p:sp>
    </p:spTree>
    <p:extLst>
      <p:ext uri="{BB962C8B-B14F-4D97-AF65-F5344CB8AC3E}">
        <p14:creationId xmlns:p14="http://schemas.microsoft.com/office/powerpoint/2010/main" val="10430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F9EF4B43-4926-47FE-A840-C6E47E980624}"/>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(2 of 10)</a:t>
            </a:r>
            <a:endParaRPr lang="en-IN" sz="3200" dirty="0"/>
          </a:p>
        </p:txBody>
      </p:sp>
      <p:sp>
        <p:nvSpPr>
          <p:cNvPr id="20" name="Content Placeholder 19">
            <a:extLst>
              <a:ext uri="{FF2B5EF4-FFF2-40B4-BE49-F238E27FC236}">
                <a16:creationId xmlns:a16="http://schemas.microsoft.com/office/drawing/2014/main" id="{FCBA5C77-0B93-497C-B7BD-5F86F3EDCF7A}"/>
              </a:ext>
            </a:extLst>
          </p:cNvPr>
          <p:cNvSpPr>
            <a:spLocks noGrp="1"/>
          </p:cNvSpPr>
          <p:nvPr>
            <p:ph sz="quarter" idx="13"/>
          </p:nvPr>
        </p:nvSpPr>
        <p:spPr>
          <a:xfrm>
            <a:off x="457200" y="1565752"/>
            <a:ext cx="3438395" cy="864297"/>
          </a:xfrm>
        </p:spPr>
        <p:txBody>
          <a:bodyPr/>
          <a:lstStyle/>
          <a:p>
            <a:r>
              <a:rPr lang="en-US" altLang="en-US" dirty="0">
                <a:ea typeface="ヒラギノ角ゴ Pro W3" pitchFamily="-84" charset="-128"/>
                <a:cs typeface="ヒラギノ角ゴ Pro W3" pitchFamily="-84" charset="-128"/>
              </a:rPr>
              <a:t>Rotation’s</a:t>
            </a:r>
            <a:r>
              <a:rPr lang="en-US" altLang="en-US" b="1" dirty="0">
                <a:ea typeface="ヒラギノ角ゴ Pro W3" pitchFamily="-84" charset="-128"/>
                <a:cs typeface="ヒラギノ角ゴ Pro W3" pitchFamily="-84" charset="-128"/>
              </a:rPr>
              <a:t> </a:t>
            </a:r>
            <a:r>
              <a:rPr lang="en-US" altLang="en-US" dirty="0">
                <a:ea typeface="ヒラギノ角ゴ Pro W3" pitchFamily="-84" charset="-128"/>
                <a:cs typeface="ヒラギノ角ゴ Pro W3" pitchFamily="-84" charset="-128"/>
              </a:rPr>
              <a:t>important effects</a:t>
            </a:r>
          </a:p>
        </p:txBody>
      </p:sp>
      <p:sp>
        <p:nvSpPr>
          <p:cNvPr id="22" name="Content Placeholder 21">
            <a:extLst>
              <a:ext uri="{FF2B5EF4-FFF2-40B4-BE49-F238E27FC236}">
                <a16:creationId xmlns:a16="http://schemas.microsoft.com/office/drawing/2014/main" id="{72CAFD0A-F988-4EB3-8E91-AC7B60C27C86}"/>
              </a:ext>
            </a:extLst>
          </p:cNvPr>
          <p:cNvSpPr>
            <a:spLocks noGrp="1"/>
          </p:cNvSpPr>
          <p:nvPr>
            <p:ph sz="quarter" idx="15"/>
          </p:nvPr>
        </p:nvSpPr>
        <p:spPr>
          <a:xfrm>
            <a:off x="457200" y="2547556"/>
            <a:ext cx="4227534" cy="3339678"/>
          </a:xfrm>
        </p:spPr>
        <p:txBody>
          <a:bodyPr/>
          <a:lstStyle/>
          <a:p>
            <a:pPr marL="741600" lvl="1" indent="-428400" eaLnBrk="1" hangingPunct="1">
              <a:buFont typeface="+mj-lt"/>
              <a:buAutoNum type="arabicPeriod"/>
            </a:pPr>
            <a:r>
              <a:rPr lang="en-US" altLang="en-US" b="1" dirty="0">
                <a:ea typeface="ヒラギノ角ゴ Pro W3" pitchFamily="-84" charset="-128"/>
                <a:cs typeface="Geneva" pitchFamily="34" charset="0"/>
              </a:rPr>
              <a:t>diurnal </a:t>
            </a:r>
            <a:r>
              <a:rPr lang="en-US" altLang="en-US" dirty="0">
                <a:ea typeface="ヒラギノ角ゴ Pro W3" pitchFamily="-84" charset="-128"/>
                <a:cs typeface="Geneva" pitchFamily="34" charset="0"/>
              </a:rPr>
              <a:t>transition from daylight to darkness, human </a:t>
            </a:r>
            <a:r>
              <a:rPr lang="en-US" altLang="en-US" b="1" dirty="0">
                <a:ea typeface="ヒラギノ角ゴ Pro W3" pitchFamily="-84" charset="-128"/>
                <a:cs typeface="Geneva" pitchFamily="34" charset="0"/>
              </a:rPr>
              <a:t>circadian </a:t>
            </a:r>
            <a:r>
              <a:rPr lang="en-US" altLang="en-US" dirty="0">
                <a:ea typeface="ヒラギノ角ゴ Pro W3" pitchFamily="-84" charset="-128"/>
                <a:cs typeface="Geneva" pitchFamily="34" charset="0"/>
              </a:rPr>
              <a:t>cycles</a:t>
            </a:r>
          </a:p>
          <a:p>
            <a:pPr marL="741600" lvl="1" indent="-428400" eaLnBrk="1" hangingPunct="1">
              <a:buFont typeface="+mj-lt"/>
              <a:buAutoNum type="arabicPeriod"/>
            </a:pPr>
            <a:r>
              <a:rPr lang="en-US" altLang="en-US" dirty="0">
                <a:ea typeface="ヒラギノ角ゴ Pro W3" pitchFamily="-84" charset="-128"/>
                <a:cs typeface="Geneva" pitchFamily="34" charset="0"/>
              </a:rPr>
              <a:t>pull of the Moon and the Sun, effect on </a:t>
            </a:r>
            <a:r>
              <a:rPr lang="en-US" altLang="en-US" b="1" dirty="0">
                <a:ea typeface="ヒラギノ角ゴ Pro W3" pitchFamily="-84" charset="-128"/>
                <a:cs typeface="Geneva" pitchFamily="34" charset="0"/>
              </a:rPr>
              <a:t>tides</a:t>
            </a:r>
          </a:p>
          <a:p>
            <a:pPr marL="741600" lvl="1" indent="-428400" eaLnBrk="1" hangingPunct="1">
              <a:buFont typeface="+mj-lt"/>
              <a:buAutoNum type="arabicPeriod"/>
            </a:pPr>
            <a:r>
              <a:rPr lang="en-US" altLang="en-US" dirty="0">
                <a:ea typeface="ヒラギノ角ゴ Pro W3" pitchFamily="-84" charset="-128"/>
                <a:cs typeface="Geneva" pitchFamily="34" charset="0"/>
              </a:rPr>
              <a:t>deflection of wind and ocean currents by the </a:t>
            </a:r>
            <a:r>
              <a:rPr lang="en-US" altLang="en-US" b="1" dirty="0">
                <a:ea typeface="ヒラギノ角ゴ Pro W3" pitchFamily="-84" charset="-128"/>
                <a:cs typeface="Geneva" pitchFamily="34" charset="0"/>
              </a:rPr>
              <a:t>Coriolis effect</a:t>
            </a:r>
          </a:p>
        </p:txBody>
      </p:sp>
      <p:pic>
        <p:nvPicPr>
          <p:cNvPr id="24" name="Content Placeholder 23" descr="A model of the Earth showing the speed of rotation at different latitudes. For long description in Notes pane, press F6.">
            <a:extLst>
              <a:ext uri="{FF2B5EF4-FFF2-40B4-BE49-F238E27FC236}">
                <a16:creationId xmlns:a16="http://schemas.microsoft.com/office/drawing/2014/main" id="{08FC6770-6605-40D2-80D0-E363CB32E63E}"/>
              </a:ext>
            </a:extLst>
          </p:cNvPr>
          <p:cNvPicPr>
            <a:picLocks noGrp="1" noChangeAspect="1"/>
          </p:cNvPicPr>
          <p:nvPr>
            <p:ph sz="quarter" idx="14"/>
          </p:nvPr>
        </p:nvPicPr>
        <p:blipFill rotWithShape="1">
          <a:blip r:embed="rId3"/>
          <a:srcRect b="2796"/>
          <a:stretch/>
        </p:blipFill>
        <p:spPr>
          <a:xfrm>
            <a:off x="5049151" y="1891889"/>
            <a:ext cx="3733451" cy="3518311"/>
          </a:xfrm>
        </p:spPr>
      </p:pic>
    </p:spTree>
    <p:extLst>
      <p:ext uri="{BB962C8B-B14F-4D97-AF65-F5344CB8AC3E}">
        <p14:creationId xmlns:p14="http://schemas.microsoft.com/office/powerpoint/2010/main" val="4043808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CC21E-A8C8-493D-8E4C-D9DE8848CD2D}"/>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(3 of 10)</a:t>
            </a:r>
            <a:endParaRPr lang="en-IN" sz="3200" dirty="0"/>
          </a:p>
        </p:txBody>
      </p:sp>
      <p:sp>
        <p:nvSpPr>
          <p:cNvPr id="3" name="Content Placeholder 2">
            <a:extLst>
              <a:ext uri="{FF2B5EF4-FFF2-40B4-BE49-F238E27FC236}">
                <a16:creationId xmlns:a16="http://schemas.microsoft.com/office/drawing/2014/main" id="{281D456E-8429-4643-8511-3FEEA6EEC69B}"/>
              </a:ext>
            </a:extLst>
          </p:cNvPr>
          <p:cNvSpPr>
            <a:spLocks noGrp="1"/>
          </p:cNvSpPr>
          <p:nvPr>
            <p:ph sz="quarter" idx="15"/>
          </p:nvPr>
        </p:nvSpPr>
        <p:spPr>
          <a:xfrm>
            <a:off x="457200" y="1556327"/>
            <a:ext cx="3635375" cy="4650509"/>
          </a:xfrm>
        </p:spPr>
        <p:txBody>
          <a:bodyPr/>
          <a:lstStyle/>
          <a:p>
            <a:r>
              <a:rPr lang="en-US" sz="1800" b="1" dirty="0"/>
              <a:t>Earth’s Revolution around the Sun</a:t>
            </a:r>
          </a:p>
          <a:p>
            <a:pPr lvl="1"/>
            <a:r>
              <a:rPr lang="en-US" sz="1800" b="1" dirty="0"/>
              <a:t>revolution</a:t>
            </a:r>
            <a:r>
              <a:rPr lang="en-US" sz="1800" dirty="0"/>
              <a:t>, orbit around the Sun is an </a:t>
            </a:r>
            <a:r>
              <a:rPr lang="en-US" sz="1800" b="1" dirty="0"/>
              <a:t>ellipse</a:t>
            </a:r>
          </a:p>
          <a:p>
            <a:pPr lvl="2"/>
            <a:r>
              <a:rPr lang="en-US" sz="1800" b="1" dirty="0"/>
              <a:t>tropical year </a:t>
            </a:r>
            <a:r>
              <a:rPr lang="en-US" sz="1800" dirty="0"/>
              <a:t>takes 365.25 days</a:t>
            </a:r>
          </a:p>
          <a:p>
            <a:pPr lvl="1"/>
            <a:r>
              <a:rPr lang="en-US" sz="1800" dirty="0"/>
              <a:t>Earth−Sun distance is not constant</a:t>
            </a:r>
          </a:p>
          <a:p>
            <a:pPr lvl="2"/>
            <a:r>
              <a:rPr lang="en-US" sz="1800" b="1" dirty="0"/>
              <a:t>perihelion </a:t>
            </a:r>
            <a:r>
              <a:rPr lang="en-US" sz="1800" dirty="0"/>
              <a:t>is closest point to the Sun and </a:t>
            </a:r>
            <a:r>
              <a:rPr lang="en-US" sz="1800" b="1" dirty="0"/>
              <a:t>aphelion </a:t>
            </a:r>
            <a:r>
              <a:rPr lang="en-US" sz="1800" dirty="0"/>
              <a:t>is farthest point to the Sun</a:t>
            </a:r>
          </a:p>
          <a:p>
            <a:pPr lvl="1"/>
            <a:r>
              <a:rPr lang="en-US" sz="1800" dirty="0"/>
              <a:t>Earth–Sun distance does not cause change in seasons</a:t>
            </a:r>
          </a:p>
        </p:txBody>
      </p:sp>
      <p:pic>
        <p:nvPicPr>
          <p:cNvPr id="7" name="Content Placeholder 6" descr="A schematic showing the plane of the ecliptic, in which Earth reaches perihelion on about January third and aphelion on about July fourth. For long description in Notes pane, press F6.">
            <a:extLst>
              <a:ext uri="{FF2B5EF4-FFF2-40B4-BE49-F238E27FC236}">
                <a16:creationId xmlns:a16="http://schemas.microsoft.com/office/drawing/2014/main" id="{D85EF2CA-AD8C-4AED-87A0-DAFB4C3C7E24}"/>
              </a:ext>
            </a:extLst>
          </p:cNvPr>
          <p:cNvPicPr>
            <a:picLocks noGrp="1" noChangeAspect="1"/>
          </p:cNvPicPr>
          <p:nvPr>
            <p:ph sz="quarter" idx="13"/>
          </p:nvPr>
        </p:nvPicPr>
        <p:blipFill rotWithShape="1">
          <a:blip r:embed="rId3"/>
          <a:srcRect t="-1" b="3779"/>
          <a:stretch/>
        </p:blipFill>
        <p:spPr>
          <a:xfrm>
            <a:off x="4318227" y="2747313"/>
            <a:ext cx="4368573" cy="2182828"/>
          </a:xfrm>
        </p:spPr>
      </p:pic>
    </p:spTree>
    <p:extLst>
      <p:ext uri="{BB962C8B-B14F-4D97-AF65-F5344CB8AC3E}">
        <p14:creationId xmlns:p14="http://schemas.microsoft.com/office/powerpoint/2010/main" val="958238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89C224-2732-4670-AB36-FD3745CE1E74}"/>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(4 of 10)</a:t>
            </a:r>
            <a:endParaRPr lang="en-IN" sz="3000" dirty="0"/>
          </a:p>
        </p:txBody>
      </p:sp>
      <p:sp>
        <p:nvSpPr>
          <p:cNvPr id="7" name="Content Placeholder 6">
            <a:extLst>
              <a:ext uri="{FF2B5EF4-FFF2-40B4-BE49-F238E27FC236}">
                <a16:creationId xmlns:a16="http://schemas.microsoft.com/office/drawing/2014/main" id="{D1A643A1-B76D-468B-81C7-F3992AA2FC0A}"/>
              </a:ext>
            </a:extLst>
          </p:cNvPr>
          <p:cNvSpPr>
            <a:spLocks noGrp="1"/>
          </p:cNvSpPr>
          <p:nvPr>
            <p:ph sz="quarter" idx="13"/>
          </p:nvPr>
        </p:nvSpPr>
        <p:spPr>
          <a:xfrm>
            <a:off x="457200" y="1552575"/>
            <a:ext cx="4011769" cy="1105105"/>
          </a:xfrm>
        </p:spPr>
        <p:txBody>
          <a:bodyPr/>
          <a:lstStyle/>
          <a:p>
            <a:r>
              <a:rPr lang="en-US" altLang="en-US" sz="2000" b="1" dirty="0">
                <a:ea typeface="ヒラギノ角ゴ Pro W3" pitchFamily="-84" charset="-128"/>
                <a:cs typeface="ヒラギノ角ゴ Pro W3" pitchFamily="-84" charset="-128"/>
              </a:rPr>
              <a:t>Inclination of Earth’s Axis</a:t>
            </a:r>
            <a:endParaRPr lang="en-US" altLang="en-US" sz="2000" dirty="0">
              <a:ea typeface="ヒラギノ角ゴ Pro W3" pitchFamily="-84" charset="-128"/>
              <a:cs typeface="ヒラギノ角ゴ Pro W3" pitchFamily="-84" charset="-128"/>
            </a:endParaRPr>
          </a:p>
          <a:p>
            <a:pPr marL="741600" lvl="1" indent="-284400" eaLnBrk="1" hangingPunct="1"/>
            <a:r>
              <a:rPr lang="en-US" altLang="en-US" sz="2000" dirty="0">
                <a:ea typeface="ヒラギノ角ゴ Pro W3" pitchFamily="-84" charset="-128"/>
                <a:cs typeface="Geneva" pitchFamily="34" charset="0"/>
              </a:rPr>
              <a:t>based on imaginary </a:t>
            </a:r>
            <a:r>
              <a:rPr lang="en-US" altLang="en-US" sz="2000" b="1" dirty="0">
                <a:ea typeface="ヒラギノ角ゴ Pro W3" pitchFamily="-84" charset="-128"/>
                <a:cs typeface="Geneva" pitchFamily="34" charset="0"/>
              </a:rPr>
              <a:t>plane of the ecliptic</a:t>
            </a:r>
          </a:p>
        </p:txBody>
      </p:sp>
      <p:sp>
        <p:nvSpPr>
          <p:cNvPr id="8" name="Content Placeholder 7">
            <a:extLst>
              <a:ext uri="{FF2B5EF4-FFF2-40B4-BE49-F238E27FC236}">
                <a16:creationId xmlns:a16="http://schemas.microsoft.com/office/drawing/2014/main" id="{ACAFD312-4C04-4E6D-8346-B4D3810F74A9}"/>
              </a:ext>
            </a:extLst>
          </p:cNvPr>
          <p:cNvSpPr>
            <a:spLocks noGrp="1"/>
          </p:cNvSpPr>
          <p:nvPr>
            <p:ph sz="quarter" idx="14"/>
          </p:nvPr>
        </p:nvSpPr>
        <p:spPr>
          <a:xfrm>
            <a:off x="457201" y="2712386"/>
            <a:ext cx="2247899" cy="452541"/>
          </a:xfrm>
        </p:spPr>
        <p:txBody>
          <a:bodyPr/>
          <a:lstStyle/>
          <a:p>
            <a:pPr lvl="1" indent="-284400"/>
            <a:r>
              <a:rPr lang="en-US" altLang="en-US" sz="2000" dirty="0">
                <a:ea typeface="ヒラギノ角ゴ Pro W3" pitchFamily="-84" charset="-128"/>
                <a:cs typeface="Geneva" pitchFamily="34" charset="0"/>
              </a:rPr>
              <a:t>axis is tilted</a:t>
            </a:r>
            <a:endParaRPr lang="en-IN" sz="2000" dirty="0"/>
          </a:p>
        </p:txBody>
      </p:sp>
      <p:graphicFrame>
        <p:nvGraphicFramePr>
          <p:cNvPr id="23" name="Object 22" descr="23.5 degrees">
            <a:extLst>
              <a:ext uri="{FF2B5EF4-FFF2-40B4-BE49-F238E27FC236}">
                <a16:creationId xmlns:a16="http://schemas.microsoft.com/office/drawing/2014/main" id="{677FB911-C939-4F5A-9F36-5E444ABB650D}"/>
              </a:ext>
            </a:extLst>
          </p:cNvPr>
          <p:cNvGraphicFramePr>
            <a:graphicFrameLocks noChangeAspect="1"/>
          </p:cNvGraphicFramePr>
          <p:nvPr>
            <p:extLst>
              <p:ext uri="{D42A27DB-BD31-4B8C-83A1-F6EECF244321}">
                <p14:modId xmlns:p14="http://schemas.microsoft.com/office/powerpoint/2010/main" val="3187456815"/>
              </p:ext>
            </p:extLst>
          </p:nvPr>
        </p:nvGraphicFramePr>
        <p:xfrm>
          <a:off x="2805081" y="2830097"/>
          <a:ext cx="608533" cy="270459"/>
        </p:xfrm>
        <a:graphic>
          <a:graphicData uri="http://schemas.openxmlformats.org/presentationml/2006/ole">
            <mc:AlternateContent xmlns:mc="http://schemas.openxmlformats.org/markup-compatibility/2006">
              <mc:Choice xmlns:v="urn:schemas-microsoft-com:vml" Requires="v">
                <p:oleObj name="Equation" r:id="rId2" imgW="457200" imgH="203040" progId="Equation.DSMT4">
                  <p:embed/>
                </p:oleObj>
              </mc:Choice>
              <mc:Fallback>
                <p:oleObj name="Equation" r:id="rId2" imgW="457200" imgH="203040" progId="Equation.DSMT4">
                  <p:embed/>
                  <p:pic>
                    <p:nvPicPr>
                      <p:cNvPr id="0" name=""/>
                      <p:cNvPicPr/>
                      <p:nvPr/>
                    </p:nvPicPr>
                    <p:blipFill>
                      <a:blip r:embed="rId3"/>
                      <a:stretch>
                        <a:fillRect/>
                      </a:stretch>
                    </p:blipFill>
                    <p:spPr>
                      <a:xfrm>
                        <a:off x="2805081" y="2830097"/>
                        <a:ext cx="608533" cy="270459"/>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17B2AAC9-A0F4-4B6E-960F-59E391DD9831}"/>
              </a:ext>
            </a:extLst>
          </p:cNvPr>
          <p:cNvSpPr>
            <a:spLocks noGrp="1"/>
          </p:cNvSpPr>
          <p:nvPr>
            <p:ph sz="quarter" idx="15"/>
          </p:nvPr>
        </p:nvSpPr>
        <p:spPr>
          <a:xfrm>
            <a:off x="1219200" y="3232159"/>
            <a:ext cx="3297383" cy="677768"/>
          </a:xfrm>
        </p:spPr>
        <p:txBody>
          <a:bodyPr tIns="0"/>
          <a:lstStyle/>
          <a:p>
            <a:pPr marL="0" lvl="1" indent="0">
              <a:buNone/>
            </a:pPr>
            <a:r>
              <a:rPr lang="en-US" altLang="en-US" sz="2000" dirty="0">
                <a:ea typeface="ヒラギノ角ゴ Pro W3" pitchFamily="-84" charset="-128"/>
                <a:cs typeface="Geneva" pitchFamily="34" charset="0"/>
              </a:rPr>
              <a:t>known as </a:t>
            </a:r>
            <a:r>
              <a:rPr lang="en-US" altLang="en-US" sz="2000" b="1" dirty="0">
                <a:ea typeface="ヒラギノ角ゴ Pro W3" pitchFamily="-84" charset="-128"/>
                <a:cs typeface="Geneva" pitchFamily="34" charset="0"/>
              </a:rPr>
              <a:t>inclination of Earth’s axis</a:t>
            </a:r>
            <a:endParaRPr lang="en-IN" sz="2000" dirty="0"/>
          </a:p>
        </p:txBody>
      </p:sp>
      <p:sp>
        <p:nvSpPr>
          <p:cNvPr id="10" name="Content Placeholder 9">
            <a:extLst>
              <a:ext uri="{FF2B5EF4-FFF2-40B4-BE49-F238E27FC236}">
                <a16:creationId xmlns:a16="http://schemas.microsoft.com/office/drawing/2014/main" id="{5C2DE2E0-BCB2-4FDB-81CB-74AEA4505C94}"/>
              </a:ext>
            </a:extLst>
          </p:cNvPr>
          <p:cNvSpPr>
            <a:spLocks noGrp="1"/>
          </p:cNvSpPr>
          <p:nvPr>
            <p:ph sz="quarter" idx="16"/>
          </p:nvPr>
        </p:nvSpPr>
        <p:spPr>
          <a:xfrm>
            <a:off x="518670" y="3985084"/>
            <a:ext cx="4011769" cy="2125400"/>
          </a:xfrm>
        </p:spPr>
        <p:txBody>
          <a:bodyPr/>
          <a:lstStyle/>
          <a:p>
            <a:r>
              <a:rPr lang="en-US" altLang="en-US" sz="2000" b="1" dirty="0">
                <a:ea typeface="ヒラギノ角ゴ Pro W3" pitchFamily="-84" charset="-128"/>
                <a:cs typeface="ヒラギノ角ゴ Pro W3" pitchFamily="-84" charset="-128"/>
              </a:rPr>
              <a:t>Polarity of Earth’s Axis</a:t>
            </a:r>
          </a:p>
          <a:p>
            <a:pPr marL="741600" lvl="1" indent="-284400" eaLnBrk="1" hangingPunct="1"/>
            <a:r>
              <a:rPr lang="en-US" altLang="en-US" sz="2000" dirty="0">
                <a:ea typeface="ヒラギノ角ゴ Pro W3" pitchFamily="-84" charset="-128"/>
                <a:cs typeface="Geneva" pitchFamily="34" charset="0"/>
              </a:rPr>
              <a:t>axis always points toward the same stars</a:t>
            </a:r>
          </a:p>
          <a:p>
            <a:pPr marL="741600" lvl="1" indent="-284400" eaLnBrk="1" hangingPunct="1"/>
            <a:r>
              <a:rPr lang="en-US" altLang="en-US" sz="2000" dirty="0">
                <a:ea typeface="ヒラギノ角ゴ Pro W3" pitchFamily="-84" charset="-128"/>
                <a:cs typeface="Geneva" pitchFamily="34" charset="0"/>
              </a:rPr>
              <a:t>known as </a:t>
            </a:r>
            <a:r>
              <a:rPr lang="en-US" altLang="en-US" sz="2000" b="1" dirty="0">
                <a:ea typeface="ヒラギノ角ゴ Pro W3" pitchFamily="-84" charset="-128"/>
                <a:cs typeface="Geneva" pitchFamily="34" charset="0"/>
              </a:rPr>
              <a:t>polarity of Earth’s axis </a:t>
            </a:r>
            <a:r>
              <a:rPr lang="en-US" altLang="en-US" sz="2000" dirty="0">
                <a:ea typeface="ヒラギノ角ゴ Pro W3" pitchFamily="-84" charset="-128"/>
                <a:cs typeface="Geneva" pitchFamily="34" charset="0"/>
              </a:rPr>
              <a:t>or </a:t>
            </a:r>
            <a:r>
              <a:rPr lang="en-US" altLang="en-US" sz="2000" b="1" dirty="0">
                <a:ea typeface="ヒラギノ角ゴ Pro W3" pitchFamily="-84" charset="-128"/>
                <a:cs typeface="Geneva" pitchFamily="34" charset="0"/>
              </a:rPr>
              <a:t>parallelism</a:t>
            </a:r>
          </a:p>
        </p:txBody>
      </p:sp>
      <p:pic>
        <p:nvPicPr>
          <p:cNvPr id="22" name="Content Placeholder 21" descr="A model of the Earth showing that the Earth’s rotation axis is inclined 23.5 degrees from a line perpendicular to the plane of the ecliptic. The rotation axis is at an angle of 66.5 degrees from the plane of ecliptic. ">
            <a:extLst>
              <a:ext uri="{FF2B5EF4-FFF2-40B4-BE49-F238E27FC236}">
                <a16:creationId xmlns:a16="http://schemas.microsoft.com/office/drawing/2014/main" id="{15FE333E-F647-45DF-B085-9C79CEA1A5EB}"/>
              </a:ext>
            </a:extLst>
          </p:cNvPr>
          <p:cNvPicPr>
            <a:picLocks noGrp="1" noChangeAspect="1"/>
          </p:cNvPicPr>
          <p:nvPr>
            <p:ph sz="quarter" idx="20"/>
          </p:nvPr>
        </p:nvPicPr>
        <p:blipFill rotWithShape="1">
          <a:blip r:embed="rId4"/>
          <a:srcRect b="2928"/>
          <a:stretch/>
        </p:blipFill>
        <p:spPr>
          <a:xfrm>
            <a:off x="5004438" y="1756772"/>
            <a:ext cx="3682361" cy="3584516"/>
          </a:xfrm>
        </p:spPr>
      </p:pic>
    </p:spTree>
    <p:extLst>
      <p:ext uri="{BB962C8B-B14F-4D97-AF65-F5344CB8AC3E}">
        <p14:creationId xmlns:p14="http://schemas.microsoft.com/office/powerpoint/2010/main" val="2748455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D86E5-F028-41B6-A0CA-837D5F987FB7}"/>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(5 of 10)</a:t>
            </a:r>
            <a:endParaRPr lang="en-IN" sz="3000" dirty="0"/>
          </a:p>
        </p:txBody>
      </p:sp>
      <p:sp>
        <p:nvSpPr>
          <p:cNvPr id="3" name="Content Placeholder 2">
            <a:extLst>
              <a:ext uri="{FF2B5EF4-FFF2-40B4-BE49-F238E27FC236}">
                <a16:creationId xmlns:a16="http://schemas.microsoft.com/office/drawing/2014/main" id="{3B9F6AAB-97F3-4593-B548-2C15A170EFE7}"/>
              </a:ext>
            </a:extLst>
          </p:cNvPr>
          <p:cNvSpPr>
            <a:spLocks noGrp="1"/>
          </p:cNvSpPr>
          <p:nvPr>
            <p:ph sz="quarter" idx="15"/>
          </p:nvPr>
        </p:nvSpPr>
        <p:spPr>
          <a:xfrm>
            <a:off x="457199" y="1556327"/>
            <a:ext cx="3906983" cy="4520623"/>
          </a:xfrm>
        </p:spPr>
        <p:txBody>
          <a:bodyPr/>
          <a:lstStyle/>
          <a:p>
            <a:pPr marL="0" indent="0">
              <a:buNone/>
              <a:defRPr/>
            </a:pPr>
            <a:r>
              <a:rPr lang="en-US" b="1" dirty="0"/>
              <a:t>The Annual March of the Seasons</a:t>
            </a:r>
          </a:p>
          <a:p>
            <a:pPr>
              <a:defRPr/>
            </a:pPr>
            <a:r>
              <a:rPr lang="en-US" dirty="0"/>
              <a:t>Resulting from combined effects of rotation, revolution, inclination, and polarity</a:t>
            </a:r>
          </a:p>
          <a:p>
            <a:pPr>
              <a:defRPr/>
            </a:pPr>
            <a:r>
              <a:rPr lang="en-US" dirty="0"/>
              <a:t>Each year’s variation in day length and angle of the Sun at Earth’s surface</a:t>
            </a:r>
          </a:p>
        </p:txBody>
      </p:sp>
      <p:pic>
        <p:nvPicPr>
          <p:cNvPr id="7" name="Content Placeholder 6" descr="A schematic appears with four views, A through D, showing the annual march of the seasons. For long description in Notes pane, press F6.">
            <a:extLst>
              <a:ext uri="{FF2B5EF4-FFF2-40B4-BE49-F238E27FC236}">
                <a16:creationId xmlns:a16="http://schemas.microsoft.com/office/drawing/2014/main" id="{35073F4F-0FCD-490C-851B-307CB81AD0DF}"/>
              </a:ext>
            </a:extLst>
          </p:cNvPr>
          <p:cNvPicPr>
            <a:picLocks noGrp="1" noChangeAspect="1"/>
          </p:cNvPicPr>
          <p:nvPr>
            <p:ph sz="quarter" idx="13"/>
          </p:nvPr>
        </p:nvPicPr>
        <p:blipFill rotWithShape="1">
          <a:blip r:embed="rId3"/>
          <a:srcRect b="2196"/>
          <a:stretch/>
        </p:blipFill>
        <p:spPr>
          <a:xfrm>
            <a:off x="4556102" y="2059077"/>
            <a:ext cx="4252953" cy="3515121"/>
          </a:xfrm>
        </p:spPr>
      </p:pic>
    </p:spTree>
    <p:extLst>
      <p:ext uri="{BB962C8B-B14F-4D97-AF65-F5344CB8AC3E}">
        <p14:creationId xmlns:p14="http://schemas.microsoft.com/office/powerpoint/2010/main" val="2366921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34664-5BAB-448F-AC2D-130FD055FDE3}"/>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(6 of 10)</a:t>
            </a:r>
            <a:endParaRPr lang="en-IN" sz="3000" dirty="0"/>
          </a:p>
        </p:txBody>
      </p:sp>
      <p:sp>
        <p:nvSpPr>
          <p:cNvPr id="3" name="Content Placeholder 2">
            <a:extLst>
              <a:ext uri="{FF2B5EF4-FFF2-40B4-BE49-F238E27FC236}">
                <a16:creationId xmlns:a16="http://schemas.microsoft.com/office/drawing/2014/main" id="{608E8732-C37C-4672-B510-905B73C478DF}"/>
              </a:ext>
            </a:extLst>
          </p:cNvPr>
          <p:cNvSpPr>
            <a:spLocks noGrp="1"/>
          </p:cNvSpPr>
          <p:nvPr>
            <p:ph sz="quarter" idx="15"/>
          </p:nvPr>
        </p:nvSpPr>
        <p:spPr>
          <a:xfrm>
            <a:off x="457200" y="1556328"/>
            <a:ext cx="8229600" cy="1976012"/>
          </a:xfrm>
        </p:spPr>
        <p:txBody>
          <a:bodyPr/>
          <a:lstStyle/>
          <a:p>
            <a:pPr>
              <a:defRPr/>
            </a:pPr>
            <a:r>
              <a:rPr lang="en-US" sz="2000" dirty="0"/>
              <a:t>Seasonal changes vary by latitude</a:t>
            </a:r>
          </a:p>
          <a:p>
            <a:pPr marL="741600" lvl="1">
              <a:defRPr/>
            </a:pPr>
            <a:r>
              <a:rPr lang="en-US" sz="2000" b="1" dirty="0"/>
              <a:t>the declination of the Sun</a:t>
            </a:r>
            <a:r>
              <a:rPr lang="en-US" sz="2000" dirty="0"/>
              <a:t> is the latitude receiving vertical rays of the Sun</a:t>
            </a:r>
          </a:p>
          <a:p>
            <a:pPr marL="741600" lvl="1">
              <a:defRPr/>
            </a:pPr>
            <a:r>
              <a:rPr lang="en-US" sz="2000" b="1" dirty="0"/>
              <a:t>the solar altitude</a:t>
            </a:r>
            <a:r>
              <a:rPr lang="en-US" sz="2000" dirty="0"/>
              <a:t> is Sun’s height over the horizon</a:t>
            </a:r>
          </a:p>
          <a:p>
            <a:pPr marL="741600" lvl="1">
              <a:defRPr/>
            </a:pPr>
            <a:r>
              <a:rPr lang="en-US" sz="2000" dirty="0"/>
              <a:t>the length of day varies in number of daylight hours</a:t>
            </a:r>
          </a:p>
        </p:txBody>
      </p:sp>
      <p:pic>
        <p:nvPicPr>
          <p:cNvPr id="9" name="Content Placeholder 8" descr="A schematic shows the annual march of the seasons. For long description in Notes pane, press F6.">
            <a:extLst>
              <a:ext uri="{FF2B5EF4-FFF2-40B4-BE49-F238E27FC236}">
                <a16:creationId xmlns:a16="http://schemas.microsoft.com/office/drawing/2014/main" id="{8DBE0D21-704D-498F-A340-49A79AAE0677}"/>
              </a:ext>
            </a:extLst>
          </p:cNvPr>
          <p:cNvPicPr>
            <a:picLocks noGrp="1" noChangeAspect="1"/>
          </p:cNvPicPr>
          <p:nvPr>
            <p:ph sz="quarter" idx="14"/>
          </p:nvPr>
        </p:nvPicPr>
        <p:blipFill rotWithShape="1">
          <a:blip r:embed="rId3"/>
          <a:srcRect b="3761"/>
          <a:stretch/>
        </p:blipFill>
        <p:spPr>
          <a:xfrm>
            <a:off x="2134601" y="3944675"/>
            <a:ext cx="5326369" cy="2343344"/>
          </a:xfrm>
        </p:spPr>
      </p:pic>
    </p:spTree>
    <p:extLst>
      <p:ext uri="{BB962C8B-B14F-4D97-AF65-F5344CB8AC3E}">
        <p14:creationId xmlns:p14="http://schemas.microsoft.com/office/powerpoint/2010/main" val="2472703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CDB0-ED93-4C05-B35D-5FA3F743E220}"/>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(7 of 10)</a:t>
            </a:r>
            <a:endParaRPr lang="en-IN" sz="3000" dirty="0"/>
          </a:p>
        </p:txBody>
      </p:sp>
      <p:sp>
        <p:nvSpPr>
          <p:cNvPr id="3" name="Content Placeholder 2">
            <a:extLst>
              <a:ext uri="{FF2B5EF4-FFF2-40B4-BE49-F238E27FC236}">
                <a16:creationId xmlns:a16="http://schemas.microsoft.com/office/drawing/2014/main" id="{2EB3D4DD-3327-49A4-8385-092947D09AEF}"/>
              </a:ext>
            </a:extLst>
          </p:cNvPr>
          <p:cNvSpPr>
            <a:spLocks noGrp="1"/>
          </p:cNvSpPr>
          <p:nvPr>
            <p:ph sz="quarter" idx="15"/>
          </p:nvPr>
        </p:nvSpPr>
        <p:spPr>
          <a:xfrm>
            <a:off x="457200" y="1556327"/>
            <a:ext cx="4114800" cy="4747491"/>
          </a:xfrm>
        </p:spPr>
        <p:txBody>
          <a:bodyPr/>
          <a:lstStyle/>
          <a:p>
            <a:pPr marL="285750" indent="-285750">
              <a:spcBef>
                <a:spcPts val="600"/>
              </a:spcBef>
              <a:defRPr/>
            </a:pPr>
            <a:r>
              <a:rPr lang="en-US" sz="1600" b="1" dirty="0"/>
              <a:t>June solstice</a:t>
            </a:r>
            <a:endParaRPr lang="en-US" sz="1600" dirty="0"/>
          </a:p>
          <a:p>
            <a:pPr marL="741600" lvl="1" indent="-285750">
              <a:defRPr/>
            </a:pPr>
            <a:r>
              <a:rPr lang="en-US" sz="1600" dirty="0"/>
              <a:t>On the </a:t>
            </a:r>
            <a:r>
              <a:rPr lang="en-US" sz="1600" b="1" dirty="0"/>
              <a:t>June solstice</a:t>
            </a:r>
            <a:r>
              <a:rPr lang="en-US" sz="1600" dirty="0"/>
              <a:t>, North Pole oriented toward the Sun</a:t>
            </a:r>
          </a:p>
          <a:p>
            <a:pPr marL="741600" lvl="1" indent="-285750">
              <a:defRPr/>
            </a:pPr>
            <a:r>
              <a:rPr lang="en-US" sz="1600" dirty="0"/>
              <a:t>vertical rays strike at </a:t>
            </a:r>
            <a:r>
              <a:rPr lang="en-US" sz="1600" b="1" dirty="0"/>
              <a:t>Tropic of Cancer</a:t>
            </a:r>
          </a:p>
          <a:p>
            <a:pPr marL="741600" lvl="1" indent="-285750">
              <a:defRPr/>
            </a:pPr>
            <a:r>
              <a:rPr lang="en-US" sz="1600" b="1" dirty="0"/>
              <a:t>circle of illumination </a:t>
            </a:r>
            <a:r>
              <a:rPr lang="en-US" sz="1600" dirty="0"/>
              <a:t>bisects the equator and impacts </a:t>
            </a:r>
            <a:r>
              <a:rPr lang="en-US" sz="1600" b="1" dirty="0"/>
              <a:t>polar circles</a:t>
            </a:r>
          </a:p>
          <a:p>
            <a:pPr marL="741600" lvl="1" indent="-285750">
              <a:defRPr/>
            </a:pPr>
            <a:r>
              <a:rPr lang="en-US" sz="1600" b="1" dirty="0"/>
              <a:t>Antarctic Circle </a:t>
            </a:r>
            <a:r>
              <a:rPr lang="en-US" sz="1600" dirty="0"/>
              <a:t>dark for 24 hours, </a:t>
            </a:r>
            <a:r>
              <a:rPr lang="en-US" sz="1600" b="1" dirty="0"/>
              <a:t>Arctic Circle </a:t>
            </a:r>
            <a:r>
              <a:rPr lang="en-US" sz="1600" dirty="0"/>
              <a:t>in 24 hours of light</a:t>
            </a:r>
          </a:p>
          <a:p>
            <a:pPr>
              <a:spcBef>
                <a:spcPts val="600"/>
              </a:spcBef>
              <a:defRPr/>
            </a:pPr>
            <a:r>
              <a:rPr lang="en-US" sz="1600" b="1" dirty="0"/>
              <a:t>December solstice</a:t>
            </a:r>
            <a:endParaRPr lang="en-US" sz="1600" dirty="0"/>
          </a:p>
          <a:p>
            <a:pPr marL="741600" lvl="1" indent="-285750">
              <a:defRPr/>
            </a:pPr>
            <a:r>
              <a:rPr lang="en-US" sz="1600" dirty="0"/>
              <a:t>On the </a:t>
            </a:r>
            <a:r>
              <a:rPr lang="en-US" sz="1600" b="1" dirty="0"/>
              <a:t>December solstice</a:t>
            </a:r>
            <a:r>
              <a:rPr lang="en-US" sz="1600" dirty="0"/>
              <a:t>, North Pole oriented away from the Sun</a:t>
            </a:r>
          </a:p>
          <a:p>
            <a:pPr marL="741600" lvl="1" indent="-285750">
              <a:defRPr/>
            </a:pPr>
            <a:r>
              <a:rPr lang="en-US" sz="1600" dirty="0"/>
              <a:t>vertical rays at </a:t>
            </a:r>
            <a:r>
              <a:rPr lang="en-US" sz="1600" b="1" dirty="0"/>
              <a:t>Tropic of Capricorn</a:t>
            </a:r>
            <a:endParaRPr lang="en-US" sz="1600" dirty="0"/>
          </a:p>
          <a:p>
            <a:pPr marL="741600" lvl="1" indent="-285750">
              <a:defRPr/>
            </a:pPr>
            <a:r>
              <a:rPr lang="en-US" sz="1600" dirty="0"/>
              <a:t>Arctic Circle in 24 hours of dark, Antarctic Circle in 24 hours of light</a:t>
            </a:r>
          </a:p>
        </p:txBody>
      </p:sp>
      <p:pic>
        <p:nvPicPr>
          <p:cNvPr id="7" name="Content Placeholder 6" descr="A side view of the June solstice. For long description in Notes pane, press F6.">
            <a:extLst>
              <a:ext uri="{FF2B5EF4-FFF2-40B4-BE49-F238E27FC236}">
                <a16:creationId xmlns:a16="http://schemas.microsoft.com/office/drawing/2014/main" id="{77D38531-03DB-48AF-BFEC-8046DE3BB95E}"/>
              </a:ext>
            </a:extLst>
          </p:cNvPr>
          <p:cNvPicPr>
            <a:picLocks noGrp="1" noChangeAspect="1"/>
          </p:cNvPicPr>
          <p:nvPr>
            <p:ph sz="quarter" idx="13"/>
          </p:nvPr>
        </p:nvPicPr>
        <p:blipFill rotWithShape="1">
          <a:blip r:embed="rId3"/>
          <a:srcRect b="2462"/>
          <a:stretch/>
        </p:blipFill>
        <p:spPr>
          <a:xfrm>
            <a:off x="5276540" y="1499316"/>
            <a:ext cx="2395293" cy="2325555"/>
          </a:xfrm>
        </p:spPr>
      </p:pic>
      <p:pic>
        <p:nvPicPr>
          <p:cNvPr id="9" name="Content Placeholder 8" descr="A side view of the December solstice. For long description in Notes pane, press F6.">
            <a:extLst>
              <a:ext uri="{FF2B5EF4-FFF2-40B4-BE49-F238E27FC236}">
                <a16:creationId xmlns:a16="http://schemas.microsoft.com/office/drawing/2014/main" id="{5030C028-B06F-40F5-9A56-576EC15F7070}"/>
              </a:ext>
            </a:extLst>
          </p:cNvPr>
          <p:cNvPicPr>
            <a:picLocks noGrp="1" noChangeAspect="1"/>
          </p:cNvPicPr>
          <p:nvPr>
            <p:ph sz="quarter" idx="14"/>
          </p:nvPr>
        </p:nvPicPr>
        <p:blipFill rotWithShape="1">
          <a:blip r:embed="rId4"/>
          <a:srcRect b="2386"/>
          <a:stretch/>
        </p:blipFill>
        <p:spPr>
          <a:xfrm>
            <a:off x="5311479" y="3991633"/>
            <a:ext cx="2355032" cy="2292478"/>
          </a:xfrm>
        </p:spPr>
      </p:pic>
    </p:spTree>
    <p:extLst>
      <p:ext uri="{BB962C8B-B14F-4D97-AF65-F5344CB8AC3E}">
        <p14:creationId xmlns:p14="http://schemas.microsoft.com/office/powerpoint/2010/main" val="3209805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C7C6C-D79B-4125-859B-A7C22DE34D1A}"/>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(8 of 10)</a:t>
            </a:r>
            <a:endParaRPr lang="en-IN" sz="3000" dirty="0"/>
          </a:p>
        </p:txBody>
      </p:sp>
      <p:sp>
        <p:nvSpPr>
          <p:cNvPr id="3" name="Content Placeholder 2">
            <a:extLst>
              <a:ext uri="{FF2B5EF4-FFF2-40B4-BE49-F238E27FC236}">
                <a16:creationId xmlns:a16="http://schemas.microsoft.com/office/drawing/2014/main" id="{5AF15F5C-391E-4593-AE73-259B3C895A60}"/>
              </a:ext>
            </a:extLst>
          </p:cNvPr>
          <p:cNvSpPr>
            <a:spLocks noGrp="1"/>
          </p:cNvSpPr>
          <p:nvPr>
            <p:ph sz="quarter" idx="15"/>
          </p:nvPr>
        </p:nvSpPr>
        <p:spPr>
          <a:xfrm>
            <a:off x="457200" y="1556327"/>
            <a:ext cx="3914384" cy="4644057"/>
          </a:xfrm>
        </p:spPr>
        <p:txBody>
          <a:bodyPr/>
          <a:lstStyle/>
          <a:p>
            <a:pPr>
              <a:spcBef>
                <a:spcPts val="600"/>
              </a:spcBef>
              <a:defRPr/>
            </a:pPr>
            <a:r>
              <a:rPr lang="en-US" sz="2000" b="1" dirty="0"/>
              <a:t>September Equinox</a:t>
            </a:r>
          </a:p>
          <a:p>
            <a:pPr marL="741600" lvl="1">
              <a:defRPr/>
            </a:pPr>
            <a:r>
              <a:rPr lang="en-US" sz="2000" dirty="0"/>
              <a:t>vertical rays at the </a:t>
            </a:r>
            <a:r>
              <a:rPr lang="en-US" sz="2000" b="1" dirty="0"/>
              <a:t>Equator</a:t>
            </a:r>
            <a:endParaRPr lang="en-US" sz="2000" dirty="0"/>
          </a:p>
          <a:p>
            <a:pPr marL="741600" lvl="1">
              <a:defRPr/>
            </a:pPr>
            <a:r>
              <a:rPr lang="en-US" sz="2000" dirty="0"/>
              <a:t>circle of illumination bisects poles, all parallels</a:t>
            </a:r>
          </a:p>
          <a:p>
            <a:pPr marL="741600" lvl="1">
              <a:defRPr/>
            </a:pPr>
            <a:r>
              <a:rPr lang="en-US" sz="2000" dirty="0"/>
              <a:t>brings 12 hours of light and dark only that day</a:t>
            </a:r>
          </a:p>
          <a:p>
            <a:pPr>
              <a:spcBef>
                <a:spcPts val="600"/>
              </a:spcBef>
              <a:defRPr/>
            </a:pPr>
            <a:r>
              <a:rPr lang="en-US" sz="2000" b="1" dirty="0"/>
              <a:t>March Equinox</a:t>
            </a:r>
            <a:endParaRPr lang="en-US" sz="2000" dirty="0"/>
          </a:p>
          <a:p>
            <a:pPr marL="741600" lvl="1">
              <a:defRPr/>
            </a:pPr>
            <a:r>
              <a:rPr lang="en-US" sz="2000" dirty="0"/>
              <a:t>Earth</a:t>
            </a:r>
            <a:r>
              <a:rPr lang="en-US" sz="2000" dirty="0">
                <a:cs typeface="Times New Roman" panose="02020603050405020304" pitchFamily="18" charset="0"/>
              </a:rPr>
              <a:t>–</a:t>
            </a:r>
            <a:r>
              <a:rPr lang="en-US" sz="2000" dirty="0"/>
              <a:t>Sun relationship at </a:t>
            </a:r>
            <a:r>
              <a:rPr lang="en-US" sz="2000" b="1" dirty="0"/>
              <a:t>March equinox </a:t>
            </a:r>
            <a:r>
              <a:rPr lang="en-US" sz="2000" dirty="0"/>
              <a:t>identical to </a:t>
            </a:r>
            <a:r>
              <a:rPr lang="en-US" sz="2000" b="1" dirty="0"/>
              <a:t>September equinox</a:t>
            </a:r>
            <a:endParaRPr lang="en-US" sz="2000" dirty="0"/>
          </a:p>
          <a:p>
            <a:pPr>
              <a:spcBef>
                <a:spcPts val="600"/>
              </a:spcBef>
              <a:defRPr/>
            </a:pPr>
            <a:r>
              <a:rPr lang="en-US" sz="2000" dirty="0"/>
              <a:t>each equinox starts spring/fall in a hemisphere</a:t>
            </a:r>
          </a:p>
        </p:txBody>
      </p:sp>
      <p:pic>
        <p:nvPicPr>
          <p:cNvPr id="7" name="Content Placeholder 6" descr="A side view of the September equinox shows the vertical rays of the noon Sun strike the equator. The circle of illumination connects the North Pole to the South Pole in a straight line.">
            <a:extLst>
              <a:ext uri="{FF2B5EF4-FFF2-40B4-BE49-F238E27FC236}">
                <a16:creationId xmlns:a16="http://schemas.microsoft.com/office/drawing/2014/main" id="{BDAE97E9-0228-46FC-AFB2-71A069DC2500}"/>
              </a:ext>
            </a:extLst>
          </p:cNvPr>
          <p:cNvPicPr>
            <a:picLocks noGrp="1" noChangeAspect="1"/>
          </p:cNvPicPr>
          <p:nvPr>
            <p:ph sz="quarter" idx="13"/>
          </p:nvPr>
        </p:nvPicPr>
        <p:blipFill rotWithShape="1">
          <a:blip r:embed="rId3"/>
          <a:srcRect b="2481"/>
          <a:stretch/>
        </p:blipFill>
        <p:spPr>
          <a:xfrm>
            <a:off x="4575795" y="1636556"/>
            <a:ext cx="3963036" cy="3919117"/>
          </a:xfrm>
        </p:spPr>
      </p:pic>
    </p:spTree>
    <p:extLst>
      <p:ext uri="{BB962C8B-B14F-4D97-AF65-F5344CB8AC3E}">
        <p14:creationId xmlns:p14="http://schemas.microsoft.com/office/powerpoint/2010/main" val="4094415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08F8F-0AD2-4FC1-A140-6DDC803FA4D4}"/>
              </a:ext>
            </a:extLst>
          </p:cNvPr>
          <p:cNvSpPr>
            <a:spLocks noGrp="1"/>
          </p:cNvSpPr>
          <p:nvPr>
            <p:ph type="title"/>
          </p:nvPr>
        </p:nvSpPr>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(9 of 10)</a:t>
            </a:r>
            <a:endParaRPr lang="en-IN" sz="3000" dirty="0"/>
          </a:p>
        </p:txBody>
      </p:sp>
      <p:sp>
        <p:nvSpPr>
          <p:cNvPr id="3" name="Content Placeholder 2">
            <a:extLst>
              <a:ext uri="{FF2B5EF4-FFF2-40B4-BE49-F238E27FC236}">
                <a16:creationId xmlns:a16="http://schemas.microsoft.com/office/drawing/2014/main" id="{9B6BEE1E-76E2-44A4-A393-00B86F62DC83}"/>
              </a:ext>
            </a:extLst>
          </p:cNvPr>
          <p:cNvSpPr>
            <a:spLocks noGrp="1"/>
          </p:cNvSpPr>
          <p:nvPr>
            <p:ph sz="quarter" idx="15"/>
          </p:nvPr>
        </p:nvSpPr>
        <p:spPr>
          <a:xfrm>
            <a:off x="457200" y="1556327"/>
            <a:ext cx="3635375" cy="4775200"/>
          </a:xfrm>
        </p:spPr>
        <p:txBody>
          <a:bodyPr/>
          <a:lstStyle/>
          <a:p>
            <a:pPr marL="432" indent="0">
              <a:buNone/>
            </a:pPr>
            <a:r>
              <a:rPr lang="en-US" sz="1600" b="1" dirty="0"/>
              <a:t>Seasonal Transitions</a:t>
            </a:r>
          </a:p>
          <a:p>
            <a:r>
              <a:rPr lang="en-US" sz="1600" b="1" dirty="0"/>
              <a:t>Latitude Receiving the Vertical Rays of the Sun</a:t>
            </a:r>
          </a:p>
          <a:p>
            <a:pPr lvl="1"/>
            <a:r>
              <a:rPr lang="en-US" sz="1600" dirty="0"/>
              <a:t>only between the tropics</a:t>
            </a:r>
          </a:p>
          <a:p>
            <a:r>
              <a:rPr lang="en-US" sz="1600" b="1" dirty="0"/>
              <a:t>Day Length</a:t>
            </a:r>
          </a:p>
          <a:p>
            <a:pPr lvl="1"/>
            <a:r>
              <a:rPr lang="en-US" sz="1600" dirty="0"/>
              <a:t>only equator has constant day lengths</a:t>
            </a:r>
          </a:p>
          <a:p>
            <a:pPr lvl="1"/>
            <a:r>
              <a:rPr lang="en-US" sz="1600" dirty="0"/>
              <a:t>variation is least in tropics, greatest at high latitudes</a:t>
            </a:r>
          </a:p>
          <a:p>
            <a:pPr lvl="1"/>
            <a:r>
              <a:rPr lang="en-US" sz="1600" dirty="0"/>
              <a:t>hemisphere patterns are mirror images</a:t>
            </a:r>
          </a:p>
          <a:p>
            <a:r>
              <a:rPr lang="en-US" sz="1600" b="1" dirty="0"/>
              <a:t>Day Length in the Arctic and Antarctic</a:t>
            </a:r>
          </a:p>
          <a:p>
            <a:pPr lvl="1"/>
            <a:r>
              <a:rPr lang="en-US" sz="1600" dirty="0"/>
              <a:t>Equinoxes and 24 hours of daylight or darkness</a:t>
            </a:r>
          </a:p>
        </p:txBody>
      </p:sp>
      <p:pic>
        <p:nvPicPr>
          <p:cNvPr id="7" name="Content Placeholder 6" descr="A graph showing the latitudes that receive vertical rays of the noon Sun throughout the year. For long description in Notes pane, press F6.">
            <a:extLst>
              <a:ext uri="{FF2B5EF4-FFF2-40B4-BE49-F238E27FC236}">
                <a16:creationId xmlns:a16="http://schemas.microsoft.com/office/drawing/2014/main" id="{7C901404-A273-44FB-A962-86DED899C574}"/>
              </a:ext>
            </a:extLst>
          </p:cNvPr>
          <p:cNvPicPr>
            <a:picLocks noGrp="1" noChangeAspect="1"/>
          </p:cNvPicPr>
          <p:nvPr>
            <p:ph sz="quarter" idx="13"/>
          </p:nvPr>
        </p:nvPicPr>
        <p:blipFill rotWithShape="1">
          <a:blip r:embed="rId3"/>
          <a:srcRect b="2892"/>
          <a:stretch/>
        </p:blipFill>
        <p:spPr>
          <a:xfrm>
            <a:off x="4308475" y="2109789"/>
            <a:ext cx="4599775" cy="2932112"/>
          </a:xfrm>
        </p:spPr>
      </p:pic>
    </p:spTree>
    <p:extLst>
      <p:ext uri="{BB962C8B-B14F-4D97-AF65-F5344CB8AC3E}">
        <p14:creationId xmlns:p14="http://schemas.microsoft.com/office/powerpoint/2010/main" val="1826683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EE700-C1E1-4880-9518-D78B50FBC2BC}"/>
              </a:ext>
            </a:extLst>
          </p:cNvPr>
          <p:cNvSpPr>
            <a:spLocks noGrp="1"/>
          </p:cNvSpPr>
          <p:nvPr>
            <p:ph type="title"/>
          </p:nvPr>
        </p:nvSpPr>
        <p:spPr>
          <a:xfrm>
            <a:off x="457199" y="215371"/>
            <a:ext cx="8364071" cy="1097279"/>
          </a:xfrm>
        </p:spPr>
        <p:txBody>
          <a:bodyPr/>
          <a:lstStyle/>
          <a:p>
            <a:r>
              <a:rPr lang="en-US" altLang="en-US" sz="3000" dirty="0">
                <a:ea typeface="ヒラギノ角ゴ Pro W3" pitchFamily="-84" charset="-128"/>
              </a:rPr>
              <a:t>Earth–Sun Relations and the Seasons </a:t>
            </a:r>
            <a:r>
              <a:rPr lang="en-US" altLang="en-US" sz="2000" b="0" dirty="0">
                <a:ea typeface="ヒラギノ角ゴ Pro W3" pitchFamily="-84" charset="-128"/>
              </a:rPr>
              <a:t>(10 of 10)</a:t>
            </a:r>
            <a:endParaRPr lang="en-IN" sz="3000" dirty="0"/>
          </a:p>
        </p:txBody>
      </p:sp>
      <p:sp>
        <p:nvSpPr>
          <p:cNvPr id="3" name="Content Placeholder 2">
            <a:extLst>
              <a:ext uri="{FF2B5EF4-FFF2-40B4-BE49-F238E27FC236}">
                <a16:creationId xmlns:a16="http://schemas.microsoft.com/office/drawing/2014/main" id="{0449C6DC-A789-4260-BC95-A63BA37A581A}"/>
              </a:ext>
            </a:extLst>
          </p:cNvPr>
          <p:cNvSpPr>
            <a:spLocks noGrp="1"/>
          </p:cNvSpPr>
          <p:nvPr>
            <p:ph sz="quarter" idx="15"/>
          </p:nvPr>
        </p:nvSpPr>
        <p:spPr>
          <a:xfrm>
            <a:off x="457200" y="1556327"/>
            <a:ext cx="3635375" cy="4768273"/>
          </a:xfrm>
        </p:spPr>
        <p:txBody>
          <a:bodyPr/>
          <a:lstStyle/>
          <a:p>
            <a:pPr marL="0" indent="0">
              <a:buNone/>
              <a:defRPr/>
            </a:pPr>
            <a:r>
              <a:rPr lang="en-US" sz="2200" b="1" dirty="0"/>
              <a:t>Significance of Seasonal Patterns</a:t>
            </a:r>
          </a:p>
          <a:p>
            <a:pPr>
              <a:defRPr/>
            </a:pPr>
            <a:r>
              <a:rPr lang="en-US" sz="2200" dirty="0"/>
              <a:t>Tropical latitudes are warm due to high Sun angles and consistent day length</a:t>
            </a:r>
          </a:p>
          <a:p>
            <a:pPr>
              <a:defRPr/>
            </a:pPr>
            <a:r>
              <a:rPr lang="en-US" sz="2200" dirty="0"/>
              <a:t>Polar latitudes are consistently cold due to low Sun angles</a:t>
            </a:r>
          </a:p>
          <a:p>
            <a:pPr>
              <a:defRPr/>
            </a:pPr>
            <a:r>
              <a:rPr lang="en-US" sz="2200" dirty="0"/>
              <a:t>Midlatitudes have greatest seasonal variation</a:t>
            </a:r>
          </a:p>
        </p:txBody>
      </p:sp>
      <p:pic>
        <p:nvPicPr>
          <p:cNvPr id="7" name="Content Placeholder 6" descr="A photograph of a typical sundial with a shadow at approximately two p m. For long description in Notes pane, press F6.">
            <a:extLst>
              <a:ext uri="{FF2B5EF4-FFF2-40B4-BE49-F238E27FC236}">
                <a16:creationId xmlns:a16="http://schemas.microsoft.com/office/drawing/2014/main" id="{DB14D5D7-33D8-4E4A-B318-53AAF2561549}"/>
              </a:ext>
            </a:extLst>
          </p:cNvPr>
          <p:cNvPicPr>
            <a:picLocks noGrp="1" noChangeAspect="1"/>
          </p:cNvPicPr>
          <p:nvPr>
            <p:ph sz="quarter" idx="13"/>
          </p:nvPr>
        </p:nvPicPr>
        <p:blipFill rotWithShape="1">
          <a:blip r:embed="rId3"/>
          <a:srcRect b="2659"/>
          <a:stretch/>
        </p:blipFill>
        <p:spPr>
          <a:xfrm>
            <a:off x="4404455" y="1939321"/>
            <a:ext cx="4238753" cy="3233029"/>
          </a:xfrm>
        </p:spPr>
      </p:pic>
    </p:spTree>
    <p:extLst>
      <p:ext uri="{BB962C8B-B14F-4D97-AF65-F5344CB8AC3E}">
        <p14:creationId xmlns:p14="http://schemas.microsoft.com/office/powerpoint/2010/main" val="3284765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0A362-F120-4CCA-BCBD-16CFEEE0A51D}"/>
              </a:ext>
            </a:extLst>
          </p:cNvPr>
          <p:cNvSpPr>
            <a:spLocks noGrp="1"/>
          </p:cNvSpPr>
          <p:nvPr>
            <p:ph type="title"/>
          </p:nvPr>
        </p:nvSpPr>
        <p:spPr/>
        <p:txBody>
          <a:bodyPr/>
          <a:lstStyle/>
          <a:p>
            <a:r>
              <a:rPr lang="en-US" altLang="en-US" dirty="0">
                <a:ea typeface="ヒラギノ角ゴ Pro W3" pitchFamily="-84" charset="-128"/>
              </a:rPr>
              <a:t>Telling Time </a:t>
            </a:r>
            <a:r>
              <a:rPr lang="en-US" altLang="en-US" sz="2000" b="0" dirty="0">
                <a:ea typeface="ヒラギノ角ゴ Pro W3" pitchFamily="-84" charset="-128"/>
              </a:rPr>
              <a:t>(1 of 4)</a:t>
            </a:r>
            <a:endParaRPr lang="en-IN" sz="2000" b="0" dirty="0"/>
          </a:p>
        </p:txBody>
      </p:sp>
      <p:sp>
        <p:nvSpPr>
          <p:cNvPr id="6" name="Content Placeholder 5">
            <a:extLst>
              <a:ext uri="{FF2B5EF4-FFF2-40B4-BE49-F238E27FC236}">
                <a16:creationId xmlns:a16="http://schemas.microsoft.com/office/drawing/2014/main" id="{656148D7-17D4-4A20-B0F5-A5BE29BA0E1A}"/>
              </a:ext>
            </a:extLst>
          </p:cNvPr>
          <p:cNvSpPr>
            <a:spLocks noGrp="1"/>
          </p:cNvSpPr>
          <p:nvPr>
            <p:ph sz="quarter" idx="13"/>
          </p:nvPr>
        </p:nvSpPr>
        <p:spPr>
          <a:xfrm>
            <a:off x="457200" y="1552575"/>
            <a:ext cx="4011769" cy="1453672"/>
          </a:xfrm>
        </p:spPr>
        <p:txBody>
          <a:bodyPr/>
          <a:lstStyle/>
          <a:p>
            <a:r>
              <a:rPr lang="en-US" altLang="en-US" sz="2000" b="1" dirty="0">
                <a:ea typeface="ヒラギノ角ゴ Pro W3" pitchFamily="-84" charset="-128"/>
                <a:cs typeface="ヒラギノ角ゴ Pro W3" pitchFamily="-84" charset="-128"/>
              </a:rPr>
              <a:t>Standard Time</a:t>
            </a:r>
          </a:p>
          <a:p>
            <a:pPr marL="741600" lvl="1" indent="-284400"/>
            <a:r>
              <a:rPr lang="en-US" altLang="en-US" sz="2000" dirty="0">
                <a:ea typeface="ヒラギノ角ゴ Pro W3" pitchFamily="-84" charset="-128"/>
                <a:cs typeface="ヒラギノ角ゴ Pro W3" pitchFamily="-84" charset="-128"/>
              </a:rPr>
              <a:t>24 </a:t>
            </a:r>
            <a:r>
              <a:rPr lang="en-US" altLang="en-US" sz="2000" b="1" dirty="0">
                <a:ea typeface="ヒラギノ角ゴ Pro W3" pitchFamily="-84" charset="-128"/>
                <a:cs typeface="ヒラギノ角ゴ Pro W3" pitchFamily="-84" charset="-128"/>
              </a:rPr>
              <a:t>time zones </a:t>
            </a:r>
            <a:r>
              <a:rPr lang="en-US" altLang="en-US" sz="2000" dirty="0">
                <a:ea typeface="ヒラギノ角ゴ Pro W3" pitchFamily="-84" charset="-128"/>
                <a:cs typeface="ヒラギノ角ゴ Pro W3" pitchFamily="-84" charset="-128"/>
              </a:rPr>
              <a:t>were created around 24 </a:t>
            </a:r>
            <a:r>
              <a:rPr lang="en-US" altLang="en-US" sz="2000" b="1" dirty="0">
                <a:ea typeface="ヒラギノ角ゴ Pro W3" pitchFamily="-84" charset="-128"/>
                <a:cs typeface="ヒラギノ角ゴ Pro W3" pitchFamily="-84" charset="-128"/>
              </a:rPr>
              <a:t>central meridians </a:t>
            </a:r>
            <a:r>
              <a:rPr lang="en-US" altLang="en-US" sz="2000" dirty="0">
                <a:ea typeface="ヒラギノ角ゴ Pro W3" pitchFamily="-84" charset="-128"/>
                <a:cs typeface="ヒラギノ角ゴ Pro W3" pitchFamily="-84" charset="-128"/>
              </a:rPr>
              <a:t>spaced</a:t>
            </a:r>
            <a:endParaRPr lang="en-IN" sz="2000" dirty="0"/>
          </a:p>
        </p:txBody>
      </p:sp>
      <p:graphicFrame>
        <p:nvGraphicFramePr>
          <p:cNvPr id="36" name="Object 35" descr="15 degrees apart">
            <a:extLst>
              <a:ext uri="{FF2B5EF4-FFF2-40B4-BE49-F238E27FC236}">
                <a16:creationId xmlns:a16="http://schemas.microsoft.com/office/drawing/2014/main" id="{F484E8BC-FF60-40EF-A1CC-ABE8CF7A3BC7}"/>
              </a:ext>
            </a:extLst>
          </p:cNvPr>
          <p:cNvGraphicFramePr>
            <a:graphicFrameLocks noChangeAspect="1"/>
          </p:cNvGraphicFramePr>
          <p:nvPr>
            <p:extLst>
              <p:ext uri="{D42A27DB-BD31-4B8C-83A1-F6EECF244321}">
                <p14:modId xmlns:p14="http://schemas.microsoft.com/office/powerpoint/2010/main" val="1657872686"/>
              </p:ext>
            </p:extLst>
          </p:nvPr>
        </p:nvGraphicFramePr>
        <p:xfrm>
          <a:off x="1313619" y="3080459"/>
          <a:ext cx="1075434" cy="328099"/>
        </p:xfrm>
        <a:graphic>
          <a:graphicData uri="http://schemas.openxmlformats.org/presentationml/2006/ole">
            <mc:AlternateContent xmlns:mc="http://schemas.openxmlformats.org/markup-compatibility/2006">
              <mc:Choice xmlns:v="urn:schemas-microsoft-com:vml" Requires="v">
                <p:oleObj name="Equation" r:id="rId3" imgW="749160" imgH="228600" progId="Equation.DSMT4">
                  <p:embed/>
                </p:oleObj>
              </mc:Choice>
              <mc:Fallback>
                <p:oleObj name="Equation" r:id="rId3" imgW="749160" imgH="228600" progId="Equation.DSMT4">
                  <p:embed/>
                  <p:pic>
                    <p:nvPicPr>
                      <p:cNvPr id="0" name=""/>
                      <p:cNvPicPr/>
                      <p:nvPr/>
                    </p:nvPicPr>
                    <p:blipFill>
                      <a:blip r:embed="rId4"/>
                      <a:stretch>
                        <a:fillRect/>
                      </a:stretch>
                    </p:blipFill>
                    <p:spPr>
                      <a:xfrm>
                        <a:off x="1313619" y="3080459"/>
                        <a:ext cx="1075434" cy="328099"/>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882B3E7C-A1FD-496F-BC67-FEEE024F6509}"/>
              </a:ext>
            </a:extLst>
          </p:cNvPr>
          <p:cNvSpPr>
            <a:spLocks noGrp="1"/>
          </p:cNvSpPr>
          <p:nvPr>
            <p:ph sz="quarter" idx="14"/>
          </p:nvPr>
        </p:nvSpPr>
        <p:spPr>
          <a:xfrm>
            <a:off x="457200" y="3472607"/>
            <a:ext cx="4011769" cy="2174164"/>
          </a:xfrm>
        </p:spPr>
        <p:txBody>
          <a:bodyPr tIns="0"/>
          <a:lstStyle/>
          <a:p>
            <a:pPr lvl="1" indent="-284400"/>
            <a:r>
              <a:rPr lang="en-US" altLang="en-US" sz="2000" dirty="0">
                <a:ea typeface="ヒラギノ角ゴ Pro W3" pitchFamily="-84" charset="-128"/>
                <a:cs typeface="ヒラギノ角ゴ Pro W3" pitchFamily="-84" charset="-128"/>
              </a:rPr>
              <a:t>Time zone geographies</a:t>
            </a:r>
          </a:p>
          <a:p>
            <a:pPr lvl="2"/>
            <a:r>
              <a:rPr lang="en-US" altLang="en-US" sz="2000" dirty="0">
                <a:ea typeface="ヒラギノ角ゴ Pro W3" pitchFamily="-84" charset="-128"/>
                <a:cs typeface="ヒラギノ角ゴ Pro W3" pitchFamily="-84" charset="-128"/>
              </a:rPr>
              <a:t>some countries extend across many time zones</a:t>
            </a:r>
          </a:p>
          <a:p>
            <a:pPr lvl="2"/>
            <a:r>
              <a:rPr lang="en-US" altLang="en-US" sz="2000" dirty="0">
                <a:ea typeface="ヒラギノ角ゴ Pro W3" pitchFamily="-84" charset="-128"/>
                <a:cs typeface="ヒラギノ角ゴ Pro W3" pitchFamily="-84" charset="-128"/>
              </a:rPr>
              <a:t>some countries modify standard time</a:t>
            </a:r>
          </a:p>
        </p:txBody>
      </p:sp>
      <p:pic>
        <p:nvPicPr>
          <p:cNvPr id="8" name="Content Placeholder 7" descr="A map of North American time zones. For long description in Notes pane, press F6.">
            <a:extLst>
              <a:ext uri="{FF2B5EF4-FFF2-40B4-BE49-F238E27FC236}">
                <a16:creationId xmlns:a16="http://schemas.microsoft.com/office/drawing/2014/main" id="{B0C5CA1E-4671-482D-9113-0B89F8E4FF1B}"/>
              </a:ext>
            </a:extLst>
          </p:cNvPr>
          <p:cNvPicPr>
            <a:picLocks noGrp="1" noChangeAspect="1"/>
          </p:cNvPicPr>
          <p:nvPr>
            <p:ph sz="quarter" idx="16"/>
          </p:nvPr>
        </p:nvPicPr>
        <p:blipFill rotWithShape="1">
          <a:blip r:embed="rId5"/>
          <a:srcRect b="2597"/>
          <a:stretch/>
        </p:blipFill>
        <p:spPr>
          <a:xfrm>
            <a:off x="5271726" y="1313678"/>
            <a:ext cx="2921722" cy="2410597"/>
          </a:xfrm>
        </p:spPr>
      </p:pic>
      <p:pic>
        <p:nvPicPr>
          <p:cNvPr id="33" name="Content Placeholder 32" descr="A map illustrates clock time versus Sun time. For long description in Notes pane, press F6.">
            <a:extLst>
              <a:ext uri="{FF2B5EF4-FFF2-40B4-BE49-F238E27FC236}">
                <a16:creationId xmlns:a16="http://schemas.microsoft.com/office/drawing/2014/main" id="{4370BAB3-A9C6-4FE3-BE29-BAB2170A5D4F}"/>
              </a:ext>
            </a:extLst>
          </p:cNvPr>
          <p:cNvPicPr>
            <a:picLocks noGrp="1" noChangeAspect="1"/>
          </p:cNvPicPr>
          <p:nvPr>
            <p:ph sz="quarter" idx="15"/>
          </p:nvPr>
        </p:nvPicPr>
        <p:blipFill rotWithShape="1">
          <a:blip r:embed="rId6"/>
          <a:srcRect b="1999"/>
          <a:stretch/>
        </p:blipFill>
        <p:spPr>
          <a:xfrm>
            <a:off x="5572366" y="3875666"/>
            <a:ext cx="2320441" cy="2448645"/>
          </a:xfrm>
        </p:spPr>
      </p:pic>
    </p:spTree>
    <p:extLst>
      <p:ext uri="{BB962C8B-B14F-4D97-AF65-F5344CB8AC3E}">
        <p14:creationId xmlns:p14="http://schemas.microsoft.com/office/powerpoint/2010/main" val="234498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C7A10-EBA9-4300-BA64-F817B035C46E}"/>
              </a:ext>
            </a:extLst>
          </p:cNvPr>
          <p:cNvSpPr>
            <a:spLocks noGrp="1"/>
          </p:cNvSpPr>
          <p:nvPr>
            <p:ph type="title"/>
          </p:nvPr>
        </p:nvSpPr>
        <p:spPr/>
        <p:txBody>
          <a:bodyPr/>
          <a:lstStyle/>
          <a:p>
            <a:r>
              <a:rPr lang="en-US" altLang="en-US" dirty="0">
                <a:ea typeface="ヒラギノ角ゴ Pro W3" pitchFamily="-84" charset="-128"/>
              </a:rPr>
              <a:t>Telling Time </a:t>
            </a:r>
            <a:r>
              <a:rPr lang="en-US" altLang="en-US" sz="2000" b="0" dirty="0">
                <a:ea typeface="ヒラギノ角ゴ Pro W3" pitchFamily="-84" charset="-128"/>
              </a:rPr>
              <a:t>(2 of 4)</a:t>
            </a:r>
            <a:endParaRPr lang="en-IN" dirty="0"/>
          </a:p>
        </p:txBody>
      </p:sp>
      <p:sp>
        <p:nvSpPr>
          <p:cNvPr id="17" name="Content Placeholder 16">
            <a:extLst>
              <a:ext uri="{FF2B5EF4-FFF2-40B4-BE49-F238E27FC236}">
                <a16:creationId xmlns:a16="http://schemas.microsoft.com/office/drawing/2014/main" id="{DEB08A81-75DB-404B-99C8-5A60EC457BE2}"/>
              </a:ext>
            </a:extLst>
          </p:cNvPr>
          <p:cNvSpPr>
            <a:spLocks noGrp="1"/>
          </p:cNvSpPr>
          <p:nvPr>
            <p:ph sz="quarter" idx="13"/>
          </p:nvPr>
        </p:nvSpPr>
        <p:spPr>
          <a:xfrm>
            <a:off x="457200" y="1556327"/>
            <a:ext cx="8229600" cy="1249503"/>
          </a:xfrm>
        </p:spPr>
        <p:txBody>
          <a:bodyPr/>
          <a:lstStyle/>
          <a:p>
            <a:r>
              <a:rPr lang="en-US" altLang="en-US" b="1" dirty="0">
                <a:ea typeface="ヒラギノ角ゴ Pro W3" pitchFamily="-84" charset="-128"/>
                <a:cs typeface="ヒラギノ角ゴ Pro W3" pitchFamily="-84" charset="-128"/>
              </a:rPr>
              <a:t>Greenwich Mean Time (G</a:t>
            </a:r>
            <a:r>
              <a:rPr lang="en-US" altLang="en-US" sz="100" b="1" dirty="0">
                <a:ea typeface="ヒラギノ角ゴ Pro W3" pitchFamily="-84" charset="-128"/>
                <a:cs typeface="ヒラギノ角ゴ Pro W3" pitchFamily="-84" charset="-128"/>
              </a:rPr>
              <a:t> </a:t>
            </a:r>
            <a:r>
              <a:rPr lang="en-US" altLang="en-US" b="1" dirty="0">
                <a:ea typeface="ヒラギノ角ゴ Pro W3" pitchFamily="-84" charset="-128"/>
                <a:cs typeface="ヒラギノ角ゴ Pro W3" pitchFamily="-84" charset="-128"/>
              </a:rPr>
              <a:t>M</a:t>
            </a:r>
            <a:r>
              <a:rPr lang="en-US" altLang="en-US" sz="100" b="1" dirty="0">
                <a:ea typeface="ヒラギノ角ゴ Pro W3" pitchFamily="-84" charset="-128"/>
                <a:cs typeface="ヒラギノ角ゴ Pro W3" pitchFamily="-84" charset="-128"/>
              </a:rPr>
              <a:t> </a:t>
            </a:r>
            <a:r>
              <a:rPr lang="en-US" altLang="en-US" b="1" dirty="0">
                <a:ea typeface="ヒラギノ角ゴ Pro W3" pitchFamily="-84" charset="-128"/>
                <a:cs typeface="ヒラギノ角ゴ Pro W3" pitchFamily="-84" charset="-128"/>
              </a:rPr>
              <a:t>T) </a:t>
            </a:r>
            <a:r>
              <a:rPr lang="en-US" altLang="en-US" dirty="0">
                <a:ea typeface="ヒラギノ角ゴ Pro W3" pitchFamily="-84" charset="-128"/>
                <a:cs typeface="ヒラギノ角ゴ Pro W3" pitchFamily="-84" charset="-128"/>
              </a:rPr>
              <a:t>or </a:t>
            </a:r>
            <a:r>
              <a:rPr lang="en-US" altLang="en-US" b="1" dirty="0">
                <a:ea typeface="ヒラギノ角ゴ Pro W3" pitchFamily="-84" charset="-128"/>
                <a:cs typeface="ヒラギノ角ゴ Pro W3" pitchFamily="-84" charset="-128"/>
              </a:rPr>
              <a:t>Coordinated Universal Time (U</a:t>
            </a:r>
            <a:r>
              <a:rPr lang="en-US" altLang="en-US" sz="100" b="1" dirty="0">
                <a:ea typeface="ヒラギノ角ゴ Pro W3" pitchFamily="-84" charset="-128"/>
                <a:cs typeface="ヒラギノ角ゴ Pro W3" pitchFamily="-84" charset="-128"/>
              </a:rPr>
              <a:t> </a:t>
            </a:r>
            <a:r>
              <a:rPr lang="en-US" altLang="en-US" b="1" dirty="0">
                <a:ea typeface="ヒラギノ角ゴ Pro W3" pitchFamily="-84" charset="-128"/>
                <a:cs typeface="ヒラギノ角ゴ Pro W3" pitchFamily="-84" charset="-128"/>
              </a:rPr>
              <a:t>T</a:t>
            </a:r>
            <a:r>
              <a:rPr lang="en-US" altLang="en-US" sz="100" b="1" dirty="0">
                <a:ea typeface="ヒラギノ角ゴ Pro W3" pitchFamily="-84" charset="-128"/>
                <a:cs typeface="ヒラギノ角ゴ Pro W3" pitchFamily="-84" charset="-128"/>
              </a:rPr>
              <a:t> </a:t>
            </a:r>
            <a:r>
              <a:rPr lang="en-US" altLang="en-US" b="1" dirty="0">
                <a:ea typeface="ヒラギノ角ゴ Pro W3" pitchFamily="-84" charset="-128"/>
                <a:cs typeface="ヒラギノ角ゴ Pro W3" pitchFamily="-84" charset="-128"/>
              </a:rPr>
              <a:t>C)</a:t>
            </a:r>
            <a:r>
              <a:rPr lang="en-US" altLang="en-US" dirty="0">
                <a:ea typeface="ヒラギノ角ゴ Pro W3" pitchFamily="-84" charset="-128"/>
                <a:cs typeface="ヒラギノ角ゴ Pro W3" pitchFamily="-84" charset="-128"/>
              </a:rPr>
              <a:t> use prime meridian as reference for standard time</a:t>
            </a:r>
          </a:p>
        </p:txBody>
      </p:sp>
      <p:pic>
        <p:nvPicPr>
          <p:cNvPr id="20" name="Content Placeholder 19" descr="A world map showing the times zones of the world. When the prime meridian is 12 P M,  everything west of it is in an earlier time zone, while everything east of it is in a later time zone, that equal to 1 hour for every 15 degree meridian.">
            <a:extLst>
              <a:ext uri="{FF2B5EF4-FFF2-40B4-BE49-F238E27FC236}">
                <a16:creationId xmlns:a16="http://schemas.microsoft.com/office/drawing/2014/main" id="{CB3869F5-ECE9-4456-9233-7996F134E886}"/>
              </a:ext>
            </a:extLst>
          </p:cNvPr>
          <p:cNvPicPr>
            <a:picLocks noGrp="1" noChangeAspect="1"/>
          </p:cNvPicPr>
          <p:nvPr>
            <p:ph sz="quarter" idx="14"/>
          </p:nvPr>
        </p:nvPicPr>
        <p:blipFill rotWithShape="1">
          <a:blip r:embed="rId3"/>
          <a:srcRect b="2568"/>
          <a:stretch/>
        </p:blipFill>
        <p:spPr>
          <a:xfrm>
            <a:off x="1869137" y="2945313"/>
            <a:ext cx="5405726" cy="3303086"/>
          </a:xfrm>
        </p:spPr>
      </p:pic>
    </p:spTree>
    <p:extLst>
      <p:ext uri="{BB962C8B-B14F-4D97-AF65-F5344CB8AC3E}">
        <p14:creationId xmlns:p14="http://schemas.microsoft.com/office/powerpoint/2010/main" val="3646004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D62AE-8D7B-406A-97E4-9A13638103F1}"/>
              </a:ext>
            </a:extLst>
          </p:cNvPr>
          <p:cNvSpPr>
            <a:spLocks noGrp="1"/>
          </p:cNvSpPr>
          <p:nvPr>
            <p:ph type="title"/>
          </p:nvPr>
        </p:nvSpPr>
        <p:spPr/>
        <p:txBody>
          <a:bodyPr/>
          <a:lstStyle/>
          <a:p>
            <a:r>
              <a:rPr lang="en-US" altLang="en-US" dirty="0">
                <a:ea typeface="ヒラギノ角ゴ Pro W3" pitchFamily="-84" charset="-128"/>
              </a:rPr>
              <a:t>Telling Time </a:t>
            </a:r>
            <a:r>
              <a:rPr lang="en-US" altLang="en-US" sz="2000" b="0" dirty="0">
                <a:ea typeface="ヒラギノ角ゴ Pro W3" pitchFamily="-84" charset="-128"/>
              </a:rPr>
              <a:t>(3 of 4)</a:t>
            </a:r>
            <a:endParaRPr lang="en-IN" dirty="0"/>
          </a:p>
        </p:txBody>
      </p:sp>
      <p:sp>
        <p:nvSpPr>
          <p:cNvPr id="3" name="Content Placeholder 2">
            <a:extLst>
              <a:ext uri="{FF2B5EF4-FFF2-40B4-BE49-F238E27FC236}">
                <a16:creationId xmlns:a16="http://schemas.microsoft.com/office/drawing/2014/main" id="{00E7FC0E-5F19-4A6C-8E7F-3D3AE034CEE9}"/>
              </a:ext>
            </a:extLst>
          </p:cNvPr>
          <p:cNvSpPr>
            <a:spLocks noGrp="1"/>
          </p:cNvSpPr>
          <p:nvPr>
            <p:ph sz="quarter" idx="13"/>
          </p:nvPr>
        </p:nvSpPr>
        <p:spPr>
          <a:xfrm>
            <a:off x="457200" y="1556327"/>
            <a:ext cx="3449782" cy="4664364"/>
          </a:xfrm>
        </p:spPr>
        <p:txBody>
          <a:bodyPr/>
          <a:lstStyle/>
          <a:p>
            <a:pPr>
              <a:defRPr/>
            </a:pPr>
            <a:r>
              <a:rPr lang="en-US" sz="2000" b="1" dirty="0"/>
              <a:t>International Date Line</a:t>
            </a:r>
          </a:p>
          <a:p>
            <a:pPr lvl="1">
              <a:defRPr/>
            </a:pPr>
            <a:r>
              <a:rPr lang="en-US" sz="2000" dirty="0"/>
              <a:t>opposite arc of prime meridian</a:t>
            </a:r>
          </a:p>
          <a:p>
            <a:pPr lvl="1">
              <a:defRPr/>
            </a:pPr>
            <a:r>
              <a:rPr lang="en-US" sz="2000" dirty="0"/>
              <a:t>runs across the sparsely populated mid-Pacific</a:t>
            </a:r>
          </a:p>
          <a:p>
            <a:pPr lvl="1">
              <a:defRPr/>
            </a:pPr>
            <a:r>
              <a:rPr lang="en-US" sz="2000" dirty="0"/>
              <a:t>upon crossing, new days begin but time does not change</a:t>
            </a:r>
          </a:p>
          <a:p>
            <a:pPr lvl="1">
              <a:defRPr/>
            </a:pPr>
            <a:r>
              <a:rPr lang="en-US" sz="2000" dirty="0"/>
              <a:t>line’s displacement due to scattered locations of some island countries</a:t>
            </a:r>
          </a:p>
        </p:txBody>
      </p:sp>
      <p:pic>
        <p:nvPicPr>
          <p:cNvPr id="8" name="Content Placeholder 7" descr="A model of the Earth showing the international date line, which runs generally along the one hundred eightieth meridian, but it deviates around various island groups, such as Kiribati, Samoa, Fiji, and Tonga. ">
            <a:extLst>
              <a:ext uri="{FF2B5EF4-FFF2-40B4-BE49-F238E27FC236}">
                <a16:creationId xmlns:a16="http://schemas.microsoft.com/office/drawing/2014/main" id="{941AA08D-C4AC-4528-BF82-B0DBA5EEA22C}"/>
              </a:ext>
            </a:extLst>
          </p:cNvPr>
          <p:cNvPicPr>
            <a:picLocks noGrp="1" noChangeAspect="1"/>
          </p:cNvPicPr>
          <p:nvPr>
            <p:ph sz="quarter" idx="14"/>
          </p:nvPr>
        </p:nvPicPr>
        <p:blipFill rotWithShape="1">
          <a:blip r:embed="rId2"/>
          <a:srcRect b="2167"/>
          <a:stretch/>
        </p:blipFill>
        <p:spPr>
          <a:xfrm>
            <a:off x="4418118" y="1556327"/>
            <a:ext cx="3965363" cy="4013200"/>
          </a:xfrm>
        </p:spPr>
      </p:pic>
    </p:spTree>
    <p:extLst>
      <p:ext uri="{BB962C8B-B14F-4D97-AF65-F5344CB8AC3E}">
        <p14:creationId xmlns:p14="http://schemas.microsoft.com/office/powerpoint/2010/main" val="1013316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525B9-DA21-45A0-9BA8-83F69D45280B}"/>
              </a:ext>
            </a:extLst>
          </p:cNvPr>
          <p:cNvSpPr>
            <a:spLocks noGrp="1"/>
          </p:cNvSpPr>
          <p:nvPr>
            <p:ph type="title"/>
          </p:nvPr>
        </p:nvSpPr>
        <p:spPr/>
        <p:txBody>
          <a:bodyPr/>
          <a:lstStyle/>
          <a:p>
            <a:r>
              <a:rPr lang="en-US" altLang="en-US" dirty="0">
                <a:ea typeface="ヒラギノ角ゴ Pro W3" pitchFamily="-84" charset="-128"/>
              </a:rPr>
              <a:t>Telling Time </a:t>
            </a:r>
            <a:r>
              <a:rPr lang="en-US" altLang="en-US" sz="2000" b="0" dirty="0">
                <a:ea typeface="ヒラギノ角ゴ Pro W3" pitchFamily="-84" charset="-128"/>
              </a:rPr>
              <a:t>(4 of 4)</a:t>
            </a:r>
            <a:endParaRPr lang="en-IN" dirty="0"/>
          </a:p>
        </p:txBody>
      </p:sp>
      <p:sp>
        <p:nvSpPr>
          <p:cNvPr id="5" name="Content Placeholder 4">
            <a:extLst>
              <a:ext uri="{FF2B5EF4-FFF2-40B4-BE49-F238E27FC236}">
                <a16:creationId xmlns:a16="http://schemas.microsoft.com/office/drawing/2014/main" id="{18CC1498-D438-4652-9389-7EA42062259E}"/>
              </a:ext>
            </a:extLst>
          </p:cNvPr>
          <p:cNvSpPr>
            <a:spLocks noGrp="1"/>
          </p:cNvSpPr>
          <p:nvPr>
            <p:ph sz="quarter" idx="13"/>
          </p:nvPr>
        </p:nvSpPr>
        <p:spPr/>
        <p:txBody>
          <a:bodyPr/>
          <a:lstStyle/>
          <a:p>
            <a:pPr>
              <a:defRPr/>
            </a:pPr>
            <a:r>
              <a:rPr lang="en-US" b="1" dirty="0"/>
              <a:t>Daylight-Saving Time</a:t>
            </a:r>
          </a:p>
          <a:p>
            <a:pPr lvl="1">
              <a:defRPr/>
            </a:pPr>
            <a:r>
              <a:rPr lang="en-US" dirty="0"/>
              <a:t>move clocks ahead by an hour during the summer months</a:t>
            </a:r>
          </a:p>
          <a:p>
            <a:pPr lvl="1">
              <a:defRPr/>
            </a:pPr>
            <a:r>
              <a:rPr lang="en-US" dirty="0"/>
              <a:t>shifts an hour of daylight to evening hours, initially to reduce the consumption of electricity</a:t>
            </a:r>
          </a:p>
          <a:p>
            <a:pPr lvl="1">
              <a:defRPr/>
            </a:pPr>
            <a:r>
              <a:rPr lang="en-US" dirty="0"/>
              <a:t>“spring forward” and “fall back”</a:t>
            </a:r>
          </a:p>
          <a:p>
            <a:pPr lvl="1">
              <a:defRPr/>
            </a:pPr>
            <a:r>
              <a:rPr lang="en-US" dirty="0"/>
              <a:t>adoption and utility varies geographically</a:t>
            </a:r>
          </a:p>
        </p:txBody>
      </p:sp>
    </p:spTree>
    <p:extLst>
      <p:ext uri="{BB962C8B-B14F-4D97-AF65-F5344CB8AC3E}">
        <p14:creationId xmlns:p14="http://schemas.microsoft.com/office/powerpoint/2010/main" val="4119584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147384</TotalTime>
  <Words>4193</Words>
  <Application>Microsoft Office PowerPoint</Application>
  <PresentationFormat>On-screen Show (4:3)</PresentationFormat>
  <Paragraphs>397</Paragraphs>
  <Slides>39</Slides>
  <Notes>27</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39</vt:i4>
      </vt:variant>
    </vt:vector>
  </HeadingPairs>
  <TitlesOfParts>
    <vt:vector size="50" baseType="lpstr">
      <vt:lpstr>ヒラギノ角ゴ Pro W3</vt:lpstr>
      <vt:lpstr>ＭＳ Ｐゴシック</vt:lpstr>
      <vt:lpstr>Noto Sans Symbols</vt:lpstr>
      <vt:lpstr>Calibri</vt:lpstr>
      <vt:lpstr>Arial</vt:lpstr>
      <vt:lpstr>Times New Roman</vt:lpstr>
      <vt:lpstr>Verdana</vt:lpstr>
      <vt:lpstr>Symbol</vt:lpstr>
      <vt:lpstr>USHE</vt:lpstr>
      <vt:lpstr>USHE_slide options</vt:lpstr>
      <vt:lpstr>Equation</vt:lpstr>
      <vt:lpstr>Physical Geography: A Landscape Appreciation</vt:lpstr>
      <vt:lpstr>Outline: Introduction to Earth (1 of 3)</vt:lpstr>
      <vt:lpstr>Outline: Introduction to Earth (2 of 3)</vt:lpstr>
      <vt:lpstr>Outline: Introduction to Earth (3 of 3)</vt:lpstr>
      <vt:lpstr>Key Questions: Introduction to Earth</vt:lpstr>
      <vt:lpstr>The Study of Geography (1 of 2)</vt:lpstr>
      <vt:lpstr>The Study of Geography (2 of 2)</vt:lpstr>
      <vt:lpstr>Geography and Science (1 of 2)</vt:lpstr>
      <vt:lpstr>Geography and Science (2 of 2)</vt:lpstr>
      <vt:lpstr>Environmental Spheres and Earth Systems (1 of 3)</vt:lpstr>
      <vt:lpstr>Environmental Spheres and Earth Systems (2 of 3) </vt:lpstr>
      <vt:lpstr>Environmental Spheres and Earth Systems (3 of 3) </vt:lpstr>
      <vt:lpstr>Earth and the Solar System (1 of 4)</vt:lpstr>
      <vt:lpstr>Earth and the Solar System (2 of 4)</vt:lpstr>
      <vt:lpstr>Earth and the Solar System (3 of 4)</vt:lpstr>
      <vt:lpstr>Earth and the Solar System (4 of 4)</vt:lpstr>
      <vt:lpstr>The Geographic Grid―Latitude and Longitude (1 of 8)</vt:lpstr>
      <vt:lpstr>The Geographic Grid―Latitude and Longitude (2 of 8)</vt:lpstr>
      <vt:lpstr>The Geographic Grid―Latitude and Longitude (3 of 8)</vt:lpstr>
      <vt:lpstr>The Geographic Grid―Latitude and Longitude (4 of 8)</vt:lpstr>
      <vt:lpstr>The Geographic Grid―Latitude and Longitude (5 of 8)</vt:lpstr>
      <vt:lpstr>The Geographic Grid―Latitude and Longitude (6 of 8)</vt:lpstr>
      <vt:lpstr>The Geographic Grid―Latitude and Longitude (7 of 8)</vt:lpstr>
      <vt:lpstr>The Geographic Grid―Latitude and Longitude (8 of 8)</vt:lpstr>
      <vt:lpstr>Earth–Sun Relations and the Seasons (1 of 10)</vt:lpstr>
      <vt:lpstr>Earth–Sun Relations and the Seasons (2 of 10)</vt:lpstr>
      <vt:lpstr>Earth–Sun Relations and the Seasons (3 of 10)</vt:lpstr>
      <vt:lpstr>Earth–Sun Relations and the Seasons (4 of 10)</vt:lpstr>
      <vt:lpstr>Earth–Sun Relations and the Seasons (5 of 10)</vt:lpstr>
      <vt:lpstr>Earth–Sun Relations and the Seasons (6 of 10)</vt:lpstr>
      <vt:lpstr>Earth–Sun Relations and the Seasons (7 of 10)</vt:lpstr>
      <vt:lpstr>Earth–Sun Relations and the Seasons (8 of 10)</vt:lpstr>
      <vt:lpstr>Earth–Sun Relations and the Seasons (9 of 10)</vt:lpstr>
      <vt:lpstr>Earth–Sun Relations and the Seasons (10 of 10)</vt:lpstr>
      <vt:lpstr>Telling Time (1 of 4)</vt:lpstr>
      <vt:lpstr>Telling Time (2 of 4)</vt:lpstr>
      <vt:lpstr>Telling Time (3 of 4)</vt:lpstr>
      <vt:lpstr>Telling Time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Geography: A Landscape Appreciation, Thirteenth Edition, Chapter 1, Introduction to Earth</dc:title>
  <dc:subject>Science</dc:subject>
  <dc:creator>Hess/Finch</dc:creator>
  <cp:keywords>Physical Geography</cp:keywords>
  <dc:description>Long description alt-text is inserted in the notes pane; This presentation contains the hyperlinks; Alt text for images/math equations within table cells have been placed behind the object intentionally to provide a better screen reader user experience;</dc:description>
  <cp:lastModifiedBy>Matthew Levorson</cp:lastModifiedBy>
  <cp:revision>1075</cp:revision>
  <dcterms:modified xsi:type="dcterms:W3CDTF">2025-08-27T02:28:05Z</dcterms:modified>
</cp:coreProperties>
</file>